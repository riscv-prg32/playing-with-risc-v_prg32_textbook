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a3fddc1a-1532-e69f-c2c2-99bde20f4376}">
          <p14:sldIdLst>
            <p14:sldId id="256"/>
            <p14:sldId id="257"/>
            <p14:sldId id="258"/>
            <p14:sldId id="259"/>
          </p14:sldIdLst>
        </p14:section>
        <p14:section name="Mission 2" id="{8e6062da-6568-dd2f-9f40-47d0ef3e966b}">
          <p14:sldIdLst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Mission 3" id="{03e454ae-c9b2-7bc6-b79d-983864b2bca9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</p14:sldIdLst>
        </p14:section>
        <p14:section name="Make it yours" id="{12ee2a1c-7cce-2318-d834-eedba9bb8574}">
          <p14:sldIdLst>
            <p14:sldId id="283"/>
            <p14:sldId id="284"/>
            <p14:sldId id="285"/>
          </p14:sldIdLst>
        </p14:section>
        <p14:section name="Closing" id="{0596441f-2802-5b71-45f5-e53dca481326}">
          <p14:sldIdLst>
            <p14:sldId id="28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Teaching support for Chapter 13 of the textbook. Practical, step-by-step session: learners work at their machines; keep each step to its time box. Preparation: Pupils need their First Square project (or import first_square.blocks.json). References: moving_square.blocks.json and lemon_catcher.blocks.json. This workshop may be split over two sessions at 'Lemon Catcher'.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State the objectives; return to this slide at the 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Total: 45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Answer: B. Smaller y is higher.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Playing with RISC-V  |  Chapter 13: Move It, Catch It  |  Lab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731520"/>
            <a:ext cx="218724" cy="218724"/>
          </a:xfrm>
          <a:prstGeom prst="rect">
            <a:avLst/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" y="731520"/>
            <a:ext cx="218724" cy="21872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969264"/>
            <a:ext cx="218724" cy="218724"/>
          </a:xfrm>
          <a:prstGeom prst="rect">
            <a:avLst/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24128" y="969264"/>
            <a:ext cx="218724" cy="21872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207008"/>
            <a:ext cx="218724" cy="218724"/>
          </a:xfrm>
          <a:prstGeom prst="rect">
            <a:avLst/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92024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13  |  LABORATORY  |  45 MINUTES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377440"/>
            <a:ext cx="1109441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Missions 2 and 3 Workshop: Build Lemon Catcher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2519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the square, fence it in, then build a catching game step by step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5778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Audience: children aged 7 and over, led by a teacher (read aloud for the youngest)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94360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8FA3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Playing with RISC-V: Assembly, C, and Retro Games on the PRG32 Platform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Today you will learn to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the square with four buttons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522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44693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fence so it stays on screen</a:t>
            </a:r>
            <a:endParaRPr lang="en-US" sz="25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44911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430829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Step to watch a variable</a:t>
            </a:r>
            <a:endParaRPr lang="en-US" sz="25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33011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4414723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Lemon Catcher: draw, move, fall</a:t>
            </a:r>
            <a:endParaRPr lang="en-US" sz="25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1690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539861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catching, missing, and score bars</a:t>
            </a:r>
            <a:endParaRPr lang="en-US" sz="2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 of 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2419706" cy="822960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737360"/>
            <a:ext cx="241970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10'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014066" y="1737360"/>
            <a:ext cx="1926620" cy="82296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014066" y="1737360"/>
            <a:ext cx="19266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8'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986406" y="1737360"/>
            <a:ext cx="2912791" cy="822960"/>
          </a:xfrm>
          <a:prstGeom prst="rect">
            <a:avLst/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986406" y="1737360"/>
            <a:ext cx="2912791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12'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7944917" y="1737360"/>
            <a:ext cx="2419706" cy="82296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944917" y="1737360"/>
            <a:ext cx="241970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10'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10410342" y="1737360"/>
            <a:ext cx="1186993" cy="822960"/>
          </a:xfrm>
          <a:prstGeom prst="rect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410342" y="1737360"/>
            <a:ext cx="118699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5'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48640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the square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2813243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996123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2996123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Fence and Step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5077846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260726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5260726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Lemon Catcher: draw and move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7342449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525329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7525329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 and miss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9607052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789932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9789932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bars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we work today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Driver and navigator, swapping each step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little, then press Play</a:t>
            </a:r>
            <a:endParaRPr lang="en-US" sz="27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it goes wrong, read your numbers aloud</a:t>
            </a:r>
            <a:endParaRPr lang="en-US" sz="27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your neighbour before the teacher</a:t>
            </a:r>
            <a:endParaRPr lang="en-US" sz="2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B9A4E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Mission 2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it move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this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6309360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45920"/>
            <a:ext cx="2555748" cy="566928"/>
          </a:xfrm>
          <a:prstGeom prst="roundRect">
            <a:avLst>
              <a:gd name="adj" fmla="val 16129"/>
            </a:avLst>
          </a:prstGeom>
          <a:solidFill>
            <a:srgbClr val="C7791B"/>
          </a:solidFill>
          <a:ln w="12700">
            <a:solidFill>
              <a:srgbClr val="FFFFFF"/>
            </a:solidFill>
          </a:ln>
        </p:spPr>
        <p:txBody>
          <a:bodyPr wrap="square" lIns="88900" tIns="88900" rIns="88900" bIns="8890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frame update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1234440" y="2286000"/>
            <a:ext cx="3022092" cy="566928"/>
          </a:xfrm>
          <a:prstGeom prst="roundRect">
            <a:avLst>
              <a:gd name="adj" fmla="val 16129"/>
            </a:avLst>
          </a:prstGeom>
          <a:solidFill>
            <a:srgbClr val="B23A48"/>
          </a:solidFill>
          <a:ln w="12700">
            <a:solidFill>
              <a:srgbClr val="FFFFFF"/>
            </a:solidFill>
          </a:ln>
        </p:spPr>
        <p:txBody>
          <a:bodyPr wrap="square" lIns="88900" tIns="88900" rIns="88900" bIns="8890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button LEFT pressed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645920" y="2926080"/>
            <a:ext cx="2905506" cy="566928"/>
          </a:xfrm>
          <a:prstGeom prst="roundRect">
            <a:avLst>
              <a:gd name="adj" fmla="val 16129"/>
            </a:avLst>
          </a:prstGeom>
          <a:solidFill>
            <a:srgbClr val="6B4FA0"/>
          </a:solidFill>
          <a:ln w="12700">
            <a:solidFill>
              <a:srgbClr val="FFFFFF"/>
            </a:solidFill>
          </a:ln>
        </p:spPr>
        <p:txBody>
          <a:bodyPr wrap="square" lIns="88900" tIns="88900" rIns="88900" bIns="8890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player_x by -3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3566160"/>
            <a:ext cx="3138678" cy="566928"/>
          </a:xfrm>
          <a:prstGeom prst="roundRect">
            <a:avLst>
              <a:gd name="adj" fmla="val 16129"/>
            </a:avLst>
          </a:prstGeom>
          <a:solidFill>
            <a:srgbClr val="B23A48"/>
          </a:solidFill>
          <a:ln w="12700">
            <a:solidFill>
              <a:srgbClr val="FFFFFF"/>
            </a:solidFill>
          </a:ln>
        </p:spPr>
        <p:txBody>
          <a:bodyPr wrap="square" lIns="88900" tIns="88900" rIns="88900" bIns="8890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button RIGHT pressed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645920" y="4206240"/>
            <a:ext cx="2788920" cy="566928"/>
          </a:xfrm>
          <a:prstGeom prst="roundRect">
            <a:avLst>
              <a:gd name="adj" fmla="val 16129"/>
            </a:avLst>
          </a:prstGeom>
          <a:solidFill>
            <a:srgbClr val="6B4FA0"/>
          </a:solidFill>
          <a:ln w="12700">
            <a:solidFill>
              <a:srgbClr val="FFFFFF"/>
            </a:solidFill>
          </a:ln>
        </p:spPr>
        <p:txBody>
          <a:bodyPr wrap="square" lIns="88900" tIns="88900" rIns="88900" bIns="8890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player_x by 3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722376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7955280" y="1463040"/>
            <a:ext cx="368777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First Square</a:t>
            </a:r>
            <a:endParaRPr lang="en-US" sz="2700" dirty="0"/>
          </a:p>
        </p:txBody>
      </p:sp>
      <p:sp>
        <p:nvSpPr>
          <p:cNvPr id="11" name="Text 9"/>
          <p:cNvSpPr txBox="1"/>
          <p:nvPr/>
        </p:nvSpPr>
        <p:spPr>
          <a:xfrm>
            <a:off x="722376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7955280" y="2692908"/>
            <a:ext cx="368777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Drag: every frame update</a:t>
            </a:r>
            <a:endParaRPr lang="en-US" sz="2700" dirty="0"/>
          </a:p>
        </p:txBody>
      </p:sp>
      <p:sp>
        <p:nvSpPr>
          <p:cNvPr id="13" name="Text 11"/>
          <p:cNvSpPr txBox="1"/>
          <p:nvPr/>
        </p:nvSpPr>
        <p:spPr>
          <a:xfrm>
            <a:off x="722376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7955280" y="3922776"/>
            <a:ext cx="368777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blocks: Input &amp; Logic</a:t>
            </a:r>
            <a:endParaRPr lang="en-US" sz="2700" dirty="0"/>
          </a:p>
        </p:txBody>
      </p:sp>
      <p:sp>
        <p:nvSpPr>
          <p:cNvPr id="15" name="Text 13"/>
          <p:cNvSpPr txBox="1"/>
          <p:nvPr/>
        </p:nvSpPr>
        <p:spPr>
          <a:xfrm>
            <a:off x="722376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7955280" y="5152644"/>
            <a:ext cx="368777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 the minus sign!</a:t>
            </a:r>
            <a:endParaRPr lang="en-US" sz="2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Left and right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your First Square project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688336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update blocks from the last slide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3913632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and Play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 the arrow keys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1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6 min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92440" y="2788920"/>
            <a:ext cx="3550615" cy="3429000"/>
          </a:xfrm>
          <a:prstGeom prst="roundRect">
            <a:avLst>
              <a:gd name="adj" fmla="val 213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88036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should see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3246120"/>
            <a:ext cx="3093415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yellow square slides left and right.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 and down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an if for UP: it changes player_y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68833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an if for DOWN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3913632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one needs the minus?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 and try all four arrows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2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5 min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92440" y="2788920"/>
            <a:ext cx="3550615" cy="3429000"/>
          </a:xfrm>
          <a:prstGeom prst="roundRect">
            <a:avLst>
              <a:gd name="adj" fmla="val 213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88036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should see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3246120"/>
            <a:ext cx="3093415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square moves in four directions. UP needs -3, because smaller y is higher.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Quick question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Which block moves the square UP?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player_y by 3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210148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93028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033108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player_y by -3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48640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player_x by -3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6210148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93028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033108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player_y to 3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Faster and slower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every 3 to 1. Play.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11505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309676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them to 10. Play.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74878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73049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the speed you like best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3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3 min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092440" y="2788920"/>
            <a:ext cx="3550615" cy="3429000"/>
          </a:xfrm>
          <a:prstGeom prst="roundRect">
            <a:avLst>
              <a:gd name="adj" fmla="val 213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1040" y="288036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should see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3246120"/>
            <a:ext cx="3093415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is slow and smooth. 10 is fast and jumpy. The number is the speed.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 the fence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6309360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234440" y="1645920"/>
            <a:ext cx="4071366" cy="566928"/>
          </a:xfrm>
          <a:prstGeom prst="roundRect">
            <a:avLst>
              <a:gd name="adj" fmla="val 16129"/>
            </a:avLst>
          </a:prstGeom>
          <a:solidFill>
            <a:srgbClr val="6B4FA0"/>
          </a:solidFill>
          <a:ln w="12700">
            <a:solidFill>
              <a:srgbClr val="FFFFFF"/>
            </a:solidFill>
          </a:ln>
        </p:spPr>
        <p:txBody>
          <a:bodyPr wrap="square" lIns="88900" tIns="88900" rIns="88900" bIns="8890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player_x between 0 and 304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1234440" y="2286000"/>
            <a:ext cx="4071366" cy="566928"/>
          </a:xfrm>
          <a:prstGeom prst="roundRect">
            <a:avLst>
              <a:gd name="adj" fmla="val 16129"/>
            </a:avLst>
          </a:prstGeom>
          <a:solidFill>
            <a:srgbClr val="6B4FA0"/>
          </a:solidFill>
          <a:ln w="12700">
            <a:solidFill>
              <a:srgbClr val="FFFFFF"/>
            </a:solidFill>
          </a:ln>
        </p:spPr>
        <p:txBody>
          <a:bodyPr wrap="square" lIns="88900" tIns="88900" rIns="88900" bIns="8890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player_y between 0 and 184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722376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7955280" y="1463040"/>
            <a:ext cx="368777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them at the bottom of update</a:t>
            </a:r>
            <a:endParaRPr lang="en-US" sz="2700" dirty="0"/>
          </a:p>
        </p:txBody>
      </p:sp>
      <p:sp>
        <p:nvSpPr>
          <p:cNvPr id="8" name="Text 6"/>
          <p:cNvSpPr txBox="1"/>
          <p:nvPr/>
        </p:nvSpPr>
        <p:spPr>
          <a:xfrm>
            <a:off x="722376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7955280" y="2692908"/>
            <a:ext cx="368777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the if blocks</a:t>
            </a:r>
            <a:endParaRPr lang="en-US" sz="2700" dirty="0"/>
          </a:p>
        </p:txBody>
      </p:sp>
      <p:sp>
        <p:nvSpPr>
          <p:cNvPr id="10" name="Text 8"/>
          <p:cNvSpPr txBox="1"/>
          <p:nvPr/>
        </p:nvSpPr>
        <p:spPr>
          <a:xfrm>
            <a:off x="722376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7955280" y="3922776"/>
            <a:ext cx="368777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304 = 320 - 16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722376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7955280" y="5152644"/>
            <a:ext cx="368777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184 = 200 - 16</a:t>
            </a:r>
            <a:endParaRPr lang="en-US" sz="2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Fence it in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1487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First: hold RIGHT until the square disappears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11505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309676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the two 'keep' blocks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74878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73049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 again: can it escape?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4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4 min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092440" y="2788920"/>
            <a:ext cx="3550615" cy="3429000"/>
          </a:xfrm>
          <a:prstGeom prst="roundRect">
            <a:avLst>
              <a:gd name="adj" fmla="val 213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1040" y="288036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should see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3246120"/>
            <a:ext cx="3093415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square stops exactly at every edge.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Slow motion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Play to pause the game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68833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the RIGHT arrow on the game pad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3913632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Step five times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player_x in the grey line each time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5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4 min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92440" y="2788920"/>
            <a:ext cx="3550615" cy="3429000"/>
          </a:xfrm>
          <a:prstGeom prst="roundRect">
            <a:avLst>
              <a:gd name="adj" fmla="val 213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88036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should see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3246120"/>
            <a:ext cx="3093415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152, 155, 158, 161, 164... one step of 3 for each frame.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B9A4E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Mission 3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Lemon Catcher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new project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to the home page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68833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New Project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3913632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Title: Lemon Catcher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Create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6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2 min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92440" y="2788920"/>
            <a:ext cx="3550615" cy="3429000"/>
          </a:xfrm>
          <a:prstGeom prst="roundRect">
            <a:avLst>
              <a:gd name="adj" fmla="val 213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88036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should see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3246120"/>
            <a:ext cx="3093415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empty workspace for a brand new game.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Get ready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6309360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45920"/>
            <a:ext cx="2322576" cy="566928"/>
          </a:xfrm>
          <a:prstGeom prst="roundRect">
            <a:avLst>
              <a:gd name="adj" fmla="val 16129"/>
            </a:avLst>
          </a:prstGeom>
          <a:solidFill>
            <a:srgbClr val="C7791B"/>
          </a:solidFill>
          <a:ln w="12700">
            <a:solidFill>
              <a:srgbClr val="FFFFFF"/>
            </a:solidFill>
          </a:ln>
        </p:spPr>
        <p:txBody>
          <a:bodyPr wrap="square" lIns="88900" tIns="88900" rIns="88900" bIns="8890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game starts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1234440" y="2286000"/>
            <a:ext cx="2672334" cy="566928"/>
          </a:xfrm>
          <a:prstGeom prst="roundRect">
            <a:avLst>
              <a:gd name="adj" fmla="val 16129"/>
            </a:avLst>
          </a:prstGeom>
          <a:solidFill>
            <a:srgbClr val="6B4FA0"/>
          </a:solidFill>
          <a:ln w="12700">
            <a:solidFill>
              <a:srgbClr val="FFFFFF"/>
            </a:solidFill>
          </a:ln>
        </p:spPr>
        <p:txBody>
          <a:bodyPr wrap="square" lIns="88900" tIns="88900" rIns="88900" bIns="8890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basket_x to 144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926080"/>
            <a:ext cx="2555748" cy="566928"/>
          </a:xfrm>
          <a:prstGeom prst="roundRect">
            <a:avLst>
              <a:gd name="adj" fmla="val 16129"/>
            </a:avLst>
          </a:prstGeom>
          <a:solidFill>
            <a:srgbClr val="6B4FA0"/>
          </a:solidFill>
          <a:ln w="12700">
            <a:solidFill>
              <a:srgbClr val="FFFFFF"/>
            </a:solidFill>
          </a:ln>
        </p:spPr>
        <p:txBody>
          <a:bodyPr wrap="square" lIns="88900" tIns="88900" rIns="88900" bIns="8890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lemon_x to 150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3566160"/>
            <a:ext cx="2322576" cy="566928"/>
          </a:xfrm>
          <a:prstGeom prst="roundRect">
            <a:avLst>
              <a:gd name="adj" fmla="val 16129"/>
            </a:avLst>
          </a:prstGeom>
          <a:solidFill>
            <a:srgbClr val="6B4FA0"/>
          </a:solidFill>
          <a:ln w="12700">
            <a:solidFill>
              <a:srgbClr val="FFFFFF"/>
            </a:solidFill>
          </a:ln>
        </p:spPr>
        <p:txBody>
          <a:bodyPr wrap="square" lIns="88900" tIns="88900" rIns="88900" bIns="8890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lemon_y to 0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206240"/>
            <a:ext cx="2089404" cy="566928"/>
          </a:xfrm>
          <a:prstGeom prst="roundRect">
            <a:avLst>
              <a:gd name="adj" fmla="val 16129"/>
            </a:avLst>
          </a:prstGeom>
          <a:solidFill>
            <a:srgbClr val="6B4FA0"/>
          </a:solidFill>
          <a:ln w="12700">
            <a:solidFill>
              <a:srgbClr val="FFFFFF"/>
            </a:solidFill>
          </a:ln>
        </p:spPr>
        <p:txBody>
          <a:bodyPr wrap="square" lIns="88900" tIns="88900" rIns="88900" bIns="8890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score to 0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4846320"/>
            <a:ext cx="2205990" cy="566928"/>
          </a:xfrm>
          <a:prstGeom prst="roundRect">
            <a:avLst>
              <a:gd name="adj" fmla="val 16129"/>
            </a:avLst>
          </a:prstGeom>
          <a:solidFill>
            <a:srgbClr val="6B4FA0"/>
          </a:solidFill>
          <a:ln w="12700">
            <a:solidFill>
              <a:srgbClr val="FFFFFF"/>
            </a:solidFill>
          </a:ln>
        </p:spPr>
        <p:txBody>
          <a:bodyPr wrap="square" lIns="88900" tIns="88900" rIns="88900" bIns="8890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misses to 0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722376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7955280" y="1463040"/>
            <a:ext cx="368777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boxes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7223760" y="312115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7955280" y="3102864"/>
            <a:ext cx="3687775" cy="1475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the names carefully</a:t>
            </a:r>
            <a:endParaRPr lang="en-US" sz="2700" dirty="0"/>
          </a:p>
        </p:txBody>
      </p:sp>
      <p:sp>
        <p:nvSpPr>
          <p:cNvPr id="14" name="Text 12"/>
          <p:cNvSpPr txBox="1"/>
          <p:nvPr/>
        </p:nvSpPr>
        <p:spPr>
          <a:xfrm>
            <a:off x="7223760" y="476097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7955280" y="4742688"/>
            <a:ext cx="3687775" cy="1475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_ key for the low line</a:t>
            </a:r>
            <a:endParaRPr lang="en-US" sz="2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Draw everything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6309360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45920"/>
            <a:ext cx="2322576" cy="566928"/>
          </a:xfrm>
          <a:prstGeom prst="roundRect">
            <a:avLst>
              <a:gd name="adj" fmla="val 16129"/>
            </a:avLst>
          </a:prstGeom>
          <a:solidFill>
            <a:srgbClr val="C7791B"/>
          </a:solidFill>
          <a:ln w="12700">
            <a:solidFill>
              <a:srgbClr val="FFFFFF"/>
            </a:solidFill>
          </a:ln>
        </p:spPr>
        <p:txBody>
          <a:bodyPr wrap="square" lIns="88900" tIns="88900" rIns="88900" bIns="8890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frame draw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1234440" y="2286000"/>
            <a:ext cx="2555748" cy="566928"/>
          </a:xfrm>
          <a:prstGeom prst="roundRect">
            <a:avLst>
              <a:gd name="adj" fmla="val 16129"/>
            </a:avLst>
          </a:prstGeom>
          <a:solidFill>
            <a:srgbClr val="0E7C86"/>
          </a:solidFill>
          <a:ln w="12700">
            <a:solidFill>
              <a:srgbClr val="FFFFFF"/>
            </a:solidFill>
          </a:ln>
        </p:spPr>
        <p:txBody>
          <a:bodyPr wrap="square" lIns="88900" tIns="88900" rIns="88900" bIns="8890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screen BLACK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926080"/>
            <a:ext cx="5343525" cy="566928"/>
          </a:xfrm>
          <a:prstGeom prst="roundRect">
            <a:avLst>
              <a:gd name="adj" fmla="val 16129"/>
            </a:avLst>
          </a:prstGeom>
          <a:solidFill>
            <a:srgbClr val="0E7C86"/>
          </a:solidFill>
          <a:ln w="12700">
            <a:solidFill>
              <a:srgbClr val="FFFFFF"/>
            </a:solidFill>
          </a:ln>
        </p:spPr>
        <p:txBody>
          <a:bodyPr wrap="square" lIns="88900" tIns="88900" rIns="88900" bIns="8890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rectangle x lemon_x y lemon_y w 10 h 10 color YELLOW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3566160"/>
            <a:ext cx="5349240" cy="566928"/>
          </a:xfrm>
          <a:prstGeom prst="roundRect">
            <a:avLst>
              <a:gd name="adj" fmla="val 16129"/>
            </a:avLst>
          </a:prstGeom>
          <a:solidFill>
            <a:srgbClr val="0E7C86"/>
          </a:solidFill>
          <a:ln w="12700">
            <a:solidFill>
              <a:srgbClr val="FFFFFF"/>
            </a:solidFill>
          </a:ln>
        </p:spPr>
        <p:txBody>
          <a:bodyPr wrap="square" lIns="88900" tIns="88900" rIns="88900" bIns="8890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rectangle x basket_x y 180 w 32 h 8 color ORANGE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206240"/>
            <a:ext cx="5349240" cy="566928"/>
          </a:xfrm>
          <a:prstGeom prst="roundRect">
            <a:avLst>
              <a:gd name="adj" fmla="val 16129"/>
            </a:avLst>
          </a:prstGeom>
          <a:solidFill>
            <a:srgbClr val="0E7C86"/>
          </a:solidFill>
          <a:ln w="12700">
            <a:solidFill>
              <a:srgbClr val="FFFFFF"/>
            </a:solidFill>
          </a:ln>
        </p:spPr>
        <p:txBody>
          <a:bodyPr wrap="square" lIns="88900" tIns="88900" rIns="88900" bIns="8890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rectangle x 0 y 196 w 320 h 4 color BLUE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22376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7955280" y="1463040"/>
            <a:ext cx="368777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lemon</a:t>
            </a:r>
            <a:endParaRPr lang="en-US" sz="2700" dirty="0"/>
          </a:p>
        </p:txBody>
      </p:sp>
      <p:sp>
        <p:nvSpPr>
          <p:cNvPr id="11" name="Text 9"/>
          <p:cNvSpPr txBox="1"/>
          <p:nvPr/>
        </p:nvSpPr>
        <p:spPr>
          <a:xfrm>
            <a:off x="722376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7955280" y="2692908"/>
            <a:ext cx="368777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basket</a:t>
            </a:r>
            <a:endParaRPr lang="en-US" sz="2700" dirty="0"/>
          </a:p>
        </p:txBody>
      </p:sp>
      <p:sp>
        <p:nvSpPr>
          <p:cNvPr id="13" name="Text 11"/>
          <p:cNvSpPr txBox="1"/>
          <p:nvPr/>
        </p:nvSpPr>
        <p:spPr>
          <a:xfrm>
            <a:off x="722376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7955280" y="3922776"/>
            <a:ext cx="368777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floor</a:t>
            </a:r>
            <a:endParaRPr lang="en-US" sz="2700" dirty="0"/>
          </a:p>
        </p:txBody>
      </p:sp>
      <p:sp>
        <p:nvSpPr>
          <p:cNvPr id="15" name="Text 13"/>
          <p:cNvSpPr txBox="1"/>
          <p:nvPr/>
        </p:nvSpPr>
        <p:spPr>
          <a:xfrm>
            <a:off x="722376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7955280" y="5152644"/>
            <a:ext cx="368777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comes first</a:t>
            </a:r>
            <a:endParaRPr lang="en-US" sz="2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and look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start blocks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11505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309676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draw blocks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74878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73049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and Play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7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6 min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092440" y="2788920"/>
            <a:ext cx="3550615" cy="3429000"/>
          </a:xfrm>
          <a:prstGeom prst="roundRect">
            <a:avLst>
              <a:gd name="adj" fmla="val 213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1040" y="288036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should see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3246120"/>
            <a:ext cx="3093415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yellow lemon at the top, an orange basket, a blue floor. Nothing moves yet, and that is fine.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Does yours look like this?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75488" y="1938528"/>
            <a:ext cx="5998464" cy="3803904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2011680"/>
            <a:ext cx="5852160" cy="36576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291840" y="2011680"/>
            <a:ext cx="182880" cy="182880"/>
          </a:xfrm>
          <a:prstGeom prst="rect">
            <a:avLst/>
          </a:prstGeom>
          <a:solidFill>
            <a:srgbClr val="F8FC00"/>
          </a:solidFill>
          <a:ln w="12700">
            <a:solidFill>
              <a:srgbClr val="F8FC0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547872" y="199339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lemon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182112" y="5303520"/>
            <a:ext cx="585216" cy="146304"/>
          </a:xfrm>
          <a:prstGeom prst="rect">
            <a:avLst/>
          </a:prstGeom>
          <a:solidFill>
            <a:srgbClr val="F8A400"/>
          </a:solidFill>
          <a:ln w="12700">
            <a:solidFill>
              <a:srgbClr val="F8A40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840480" y="528523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basket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5596128"/>
            <a:ext cx="5852160" cy="73152"/>
          </a:xfrm>
          <a:prstGeom prst="rect">
            <a:avLst/>
          </a:prstGeom>
          <a:solidFill>
            <a:srgbClr val="0000F8"/>
          </a:solidFill>
          <a:ln w="12700">
            <a:solidFill>
              <a:srgbClr val="0000F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5779008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320 x 200 game viewport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685800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7589520" y="1463040"/>
            <a:ext cx="405353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Lemon at the very top</a:t>
            </a:r>
            <a:endParaRPr lang="en-US" sz="2700" dirty="0"/>
          </a:p>
        </p:txBody>
      </p:sp>
      <p:sp>
        <p:nvSpPr>
          <p:cNvPr id="13" name="Text 11"/>
          <p:cNvSpPr txBox="1"/>
          <p:nvPr/>
        </p:nvSpPr>
        <p:spPr>
          <a:xfrm>
            <a:off x="6858000" y="312115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7589520" y="3102864"/>
            <a:ext cx="405353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Basket near the bottom</a:t>
            </a:r>
            <a:endParaRPr lang="en-US" sz="2700" dirty="0"/>
          </a:p>
        </p:txBody>
      </p:sp>
      <p:sp>
        <p:nvSpPr>
          <p:cNvPr id="15" name="Text 13"/>
          <p:cNvSpPr txBox="1"/>
          <p:nvPr/>
        </p:nvSpPr>
        <p:spPr>
          <a:xfrm>
            <a:off x="6858000" y="476097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7589520" y="4742688"/>
            <a:ext cx="405353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 floor under it</a:t>
            </a:r>
            <a:endParaRPr lang="en-US" sz="2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Move and fall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6309360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45920"/>
            <a:ext cx="2555748" cy="566928"/>
          </a:xfrm>
          <a:prstGeom prst="roundRect">
            <a:avLst>
              <a:gd name="adj" fmla="val 16129"/>
            </a:avLst>
          </a:prstGeom>
          <a:solidFill>
            <a:srgbClr val="C7791B"/>
          </a:solidFill>
          <a:ln w="12700">
            <a:solidFill>
              <a:srgbClr val="FFFFFF"/>
            </a:solidFill>
          </a:ln>
        </p:spPr>
        <p:txBody>
          <a:bodyPr wrap="square" lIns="88900" tIns="88900" rIns="88900" bIns="8890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frame update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1234440" y="2286000"/>
            <a:ext cx="3022092" cy="566928"/>
          </a:xfrm>
          <a:prstGeom prst="roundRect">
            <a:avLst>
              <a:gd name="adj" fmla="val 16129"/>
            </a:avLst>
          </a:prstGeom>
          <a:solidFill>
            <a:srgbClr val="B23A48"/>
          </a:solidFill>
          <a:ln w="12700">
            <a:solidFill>
              <a:srgbClr val="FFFFFF"/>
            </a:solidFill>
          </a:ln>
        </p:spPr>
        <p:txBody>
          <a:bodyPr wrap="square" lIns="88900" tIns="88900" rIns="88900" bIns="8890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button LEFT pressed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645920" y="2926080"/>
            <a:ext cx="2905506" cy="566928"/>
          </a:xfrm>
          <a:prstGeom prst="roundRect">
            <a:avLst>
              <a:gd name="adj" fmla="val 16129"/>
            </a:avLst>
          </a:prstGeom>
          <a:solidFill>
            <a:srgbClr val="6B4FA0"/>
          </a:solidFill>
          <a:ln w="12700">
            <a:solidFill>
              <a:srgbClr val="FFFFFF"/>
            </a:solidFill>
          </a:ln>
        </p:spPr>
        <p:txBody>
          <a:bodyPr wrap="square" lIns="88900" tIns="88900" rIns="88900" bIns="8890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basket_x by -4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3566160"/>
            <a:ext cx="3138678" cy="566928"/>
          </a:xfrm>
          <a:prstGeom prst="roundRect">
            <a:avLst>
              <a:gd name="adj" fmla="val 16129"/>
            </a:avLst>
          </a:prstGeom>
          <a:solidFill>
            <a:srgbClr val="B23A48"/>
          </a:solidFill>
          <a:ln w="12700">
            <a:solidFill>
              <a:srgbClr val="FFFFFF"/>
            </a:solidFill>
          </a:ln>
        </p:spPr>
        <p:txBody>
          <a:bodyPr wrap="square" lIns="88900" tIns="88900" rIns="88900" bIns="8890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button RIGHT pressed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645920" y="4206240"/>
            <a:ext cx="2788920" cy="566928"/>
          </a:xfrm>
          <a:prstGeom prst="roundRect">
            <a:avLst>
              <a:gd name="adj" fmla="val 16129"/>
            </a:avLst>
          </a:prstGeom>
          <a:solidFill>
            <a:srgbClr val="6B4FA0"/>
          </a:solidFill>
          <a:ln w="12700">
            <a:solidFill>
              <a:srgbClr val="FFFFFF"/>
            </a:solidFill>
          </a:ln>
        </p:spPr>
        <p:txBody>
          <a:bodyPr wrap="square" lIns="88900" tIns="88900" rIns="88900" bIns="8890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basket_x by 4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4846320"/>
            <a:ext cx="4071366" cy="566928"/>
          </a:xfrm>
          <a:prstGeom prst="roundRect">
            <a:avLst>
              <a:gd name="adj" fmla="val 16129"/>
            </a:avLst>
          </a:prstGeom>
          <a:solidFill>
            <a:srgbClr val="6B4FA0"/>
          </a:solidFill>
          <a:ln w="12700">
            <a:solidFill>
              <a:srgbClr val="FFFFFF"/>
            </a:solidFill>
          </a:ln>
        </p:spPr>
        <p:txBody>
          <a:bodyPr wrap="square" lIns="88900" tIns="88900" rIns="88900" bIns="8890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basket_x between 0 and 288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5486400"/>
            <a:ext cx="2672334" cy="566928"/>
          </a:xfrm>
          <a:prstGeom prst="roundRect">
            <a:avLst>
              <a:gd name="adj" fmla="val 16129"/>
            </a:avLst>
          </a:prstGeom>
          <a:solidFill>
            <a:srgbClr val="6B4FA0"/>
          </a:solidFill>
          <a:ln w="12700">
            <a:solidFill>
              <a:srgbClr val="FFFFFF"/>
            </a:solidFill>
          </a:ln>
        </p:spPr>
        <p:txBody>
          <a:bodyPr wrap="square" lIns="88900" tIns="88900" rIns="88900" bIns="8890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lemon_y by 2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722376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7955280" y="1463040"/>
            <a:ext cx="368777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basket moves</a:t>
            </a:r>
            <a:endParaRPr lang="en-US" sz="2700" dirty="0"/>
          </a:p>
        </p:txBody>
      </p:sp>
      <p:sp>
        <p:nvSpPr>
          <p:cNvPr id="13" name="Text 11"/>
          <p:cNvSpPr txBox="1"/>
          <p:nvPr/>
        </p:nvSpPr>
        <p:spPr>
          <a:xfrm>
            <a:off x="7223760" y="312115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7955280" y="3102864"/>
            <a:ext cx="368777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fence: 320 - 32</a:t>
            </a:r>
            <a:endParaRPr lang="en-US" sz="2700" dirty="0"/>
          </a:p>
        </p:txBody>
      </p:sp>
      <p:sp>
        <p:nvSpPr>
          <p:cNvPr id="15" name="Text 13"/>
          <p:cNvSpPr txBox="1"/>
          <p:nvPr/>
        </p:nvSpPr>
        <p:spPr>
          <a:xfrm>
            <a:off x="7223760" y="476097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7955280" y="4742688"/>
            <a:ext cx="3687775" cy="1475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lemon falls by itself</a:t>
            </a:r>
            <a:endParaRPr lang="en-US" sz="2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Make it move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update blocks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68833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and Play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3913632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the basket under the lemon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happens to the lemon?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8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6 min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92440" y="2788920"/>
            <a:ext cx="3550615" cy="3429000"/>
          </a:xfrm>
          <a:prstGeom prst="roundRect">
            <a:avLst>
              <a:gd name="adj" fmla="val 213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88036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should see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3246120"/>
            <a:ext cx="3093415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basket moves. The lemon falls... right through the basket and the floor!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Catch!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6309360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45920"/>
            <a:ext cx="5760720" cy="566928"/>
          </a:xfrm>
          <a:prstGeom prst="roundRect">
            <a:avLst>
              <a:gd name="adj" fmla="val 16129"/>
            </a:avLst>
          </a:prstGeom>
          <a:solidFill>
            <a:srgbClr val="B23A48"/>
          </a:solidFill>
          <a:ln w="12700">
            <a:solidFill>
              <a:srgbClr val="FFFFFF"/>
            </a:solidFill>
          </a:ln>
        </p:spPr>
        <p:txBody>
          <a:bodyPr wrap="square" lIns="88900" tIns="88900" rIns="88900" bIns="8890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rect lemon_x lemon_y 10 10 touches rect basket_x 180 32 8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234440" y="2286000"/>
            <a:ext cx="2439162" cy="566928"/>
          </a:xfrm>
          <a:prstGeom prst="roundRect">
            <a:avLst>
              <a:gd name="adj" fmla="val 16129"/>
            </a:avLst>
          </a:prstGeom>
          <a:solidFill>
            <a:srgbClr val="6B4FA0"/>
          </a:solidFill>
          <a:ln w="12700">
            <a:solidFill>
              <a:srgbClr val="FFFFFF"/>
            </a:solidFill>
          </a:ln>
        </p:spPr>
        <p:txBody>
          <a:bodyPr wrap="square" lIns="88900" tIns="88900" rIns="88900" bIns="8890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score by 1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926080"/>
            <a:ext cx="2322576" cy="566928"/>
          </a:xfrm>
          <a:prstGeom prst="roundRect">
            <a:avLst>
              <a:gd name="adj" fmla="val 16129"/>
            </a:avLst>
          </a:prstGeom>
          <a:solidFill>
            <a:srgbClr val="6B4FA0"/>
          </a:solidFill>
          <a:ln w="12700">
            <a:solidFill>
              <a:srgbClr val="FFFFFF"/>
            </a:solidFill>
          </a:ln>
        </p:spPr>
        <p:txBody>
          <a:bodyPr wrap="square" lIns="88900" tIns="88900" rIns="88900" bIns="8890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lemon_y to 0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3566160"/>
            <a:ext cx="4537710" cy="566928"/>
          </a:xfrm>
          <a:prstGeom prst="roundRect">
            <a:avLst>
              <a:gd name="adj" fmla="val 16129"/>
            </a:avLst>
          </a:prstGeom>
          <a:solidFill>
            <a:srgbClr val="6B4FA0"/>
          </a:solidFill>
          <a:ln w="12700">
            <a:solidFill>
              <a:srgbClr val="FFFFFF"/>
            </a:solidFill>
          </a:ln>
        </p:spPr>
        <p:txBody>
          <a:bodyPr wrap="square" lIns="88900" tIns="88900" rIns="88900" bIns="8890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lemon_x to random from 0 to 310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722376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7955280" y="1463040"/>
            <a:ext cx="368777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at the bottom of update</a:t>
            </a:r>
            <a:endParaRPr lang="en-US" sz="2700" dirty="0"/>
          </a:p>
        </p:txBody>
      </p:sp>
      <p:sp>
        <p:nvSpPr>
          <p:cNvPr id="10" name="Text 8"/>
          <p:cNvSpPr txBox="1"/>
          <p:nvPr/>
        </p:nvSpPr>
        <p:spPr>
          <a:xfrm>
            <a:off x="722376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7955280" y="2692908"/>
            <a:ext cx="368777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Lemon numbers first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722376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7955280" y="3922776"/>
            <a:ext cx="368777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basket numbers</a:t>
            </a:r>
            <a:endParaRPr lang="en-US" sz="2700" dirty="0"/>
          </a:p>
        </p:txBody>
      </p:sp>
      <p:sp>
        <p:nvSpPr>
          <p:cNvPr id="14" name="Text 12"/>
          <p:cNvSpPr txBox="1"/>
          <p:nvPr/>
        </p:nvSpPr>
        <p:spPr>
          <a:xfrm>
            <a:off x="722376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7955280" y="5152644"/>
            <a:ext cx="368777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must match your draw blocks</a:t>
            </a:r>
            <a:endParaRPr lang="en-US" sz="2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Catch a lemon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the 'touches' block and its three blocks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68833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and Play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3913632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 five lemons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Step to watch 'score' go up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9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6 min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92440" y="2788920"/>
            <a:ext cx="3550615" cy="3429000"/>
          </a:xfrm>
          <a:prstGeom prst="roundRect">
            <a:avLst>
              <a:gd name="adj" fmla="val 213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88036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should see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3246120"/>
            <a:ext cx="3093415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lemon touches the basket it jumps back to the top, in a new place, and score grows by 1.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Miss a lemon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1487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second 'touches' block: lemon and floor (0, 196, 320, 4)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11505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3096768"/>
            <a:ext cx="6446520" cy="1487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Inside: change misses by 1, set lemon_y to 0, random lemon_x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74878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73049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 and miss one on purpose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10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5 min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092440" y="2788920"/>
            <a:ext cx="3550615" cy="3429000"/>
          </a:xfrm>
          <a:prstGeom prst="roundRect">
            <a:avLst>
              <a:gd name="adj" fmla="val 213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1040" y="288036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should see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3246120"/>
            <a:ext cx="3093415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missed lemon also goes back to the top, and misses grows by 1.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Score bars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6309360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45920"/>
            <a:ext cx="5703570" cy="566928"/>
          </a:xfrm>
          <a:prstGeom prst="roundRect">
            <a:avLst>
              <a:gd name="adj" fmla="val 16129"/>
            </a:avLst>
          </a:prstGeom>
          <a:solidFill>
            <a:srgbClr val="0E7C86"/>
          </a:solidFill>
          <a:ln w="12700">
            <a:solidFill>
              <a:srgbClr val="FFFFFF"/>
            </a:solidFill>
          </a:ln>
        </p:spPr>
        <p:txBody>
          <a:bodyPr wrap="square" lIns="88900" tIns="88900" rIns="88900" bIns="8890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text LEMONS at x 8 y 4 fg GREEN bg BLACK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286000"/>
            <a:ext cx="5703570" cy="566928"/>
          </a:xfrm>
          <a:prstGeom prst="roundRect">
            <a:avLst>
              <a:gd name="adj" fmla="val 16129"/>
            </a:avLst>
          </a:prstGeom>
          <a:solidFill>
            <a:srgbClr val="0E7C86"/>
          </a:solidFill>
          <a:ln w="12700">
            <a:solidFill>
              <a:srgbClr val="FFFFFF"/>
            </a:solidFill>
          </a:ln>
        </p:spPr>
        <p:txBody>
          <a:bodyPr wrap="square" lIns="88900" tIns="88900" rIns="88900" bIns="8890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rectangle x 64 y 4 w score * 3 h 8 color GREEN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926080"/>
            <a:ext cx="5586984" cy="566928"/>
          </a:xfrm>
          <a:prstGeom prst="roundRect">
            <a:avLst>
              <a:gd name="adj" fmla="val 16129"/>
            </a:avLst>
          </a:prstGeom>
          <a:solidFill>
            <a:srgbClr val="0E7C86"/>
          </a:solidFill>
          <a:ln w="12700">
            <a:solidFill>
              <a:srgbClr val="FFFFFF"/>
            </a:solidFill>
          </a:ln>
        </p:spPr>
        <p:txBody>
          <a:bodyPr wrap="square" lIns="88900" tIns="88900" rIns="88900" bIns="8890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text MISSED at x 8 y 16 fg RED bg BLACK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566160"/>
            <a:ext cx="5703570" cy="566928"/>
          </a:xfrm>
          <a:prstGeom prst="roundRect">
            <a:avLst>
              <a:gd name="adj" fmla="val 16129"/>
            </a:avLst>
          </a:prstGeom>
          <a:solidFill>
            <a:srgbClr val="0E7C86"/>
          </a:solidFill>
          <a:ln w="12700">
            <a:solidFill>
              <a:srgbClr val="FFFFFF"/>
            </a:solidFill>
          </a:ln>
        </p:spPr>
        <p:txBody>
          <a:bodyPr wrap="square" lIns="88900" tIns="88900" rIns="88900" bIns="8890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rectangle x 64 y 16 w misses * 3 h 8 color RED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22376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7955280" y="1463040"/>
            <a:ext cx="368777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to draw, after clear</a:t>
            </a:r>
            <a:endParaRPr lang="en-US" sz="2700" dirty="0"/>
          </a:p>
        </p:txBody>
      </p:sp>
      <p:sp>
        <p:nvSpPr>
          <p:cNvPr id="10" name="Text 8"/>
          <p:cNvSpPr txBox="1"/>
          <p:nvPr/>
        </p:nvSpPr>
        <p:spPr>
          <a:xfrm>
            <a:off x="722376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7955280" y="2692908"/>
            <a:ext cx="368777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means times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722376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7955280" y="3922776"/>
            <a:ext cx="368777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lemons: 15 wide</a:t>
            </a:r>
            <a:endParaRPr lang="en-US" sz="2700" dirty="0"/>
          </a:p>
        </p:txBody>
      </p:sp>
      <p:sp>
        <p:nvSpPr>
          <p:cNvPr id="14" name="Text 12"/>
          <p:cNvSpPr txBox="1"/>
          <p:nvPr/>
        </p:nvSpPr>
        <p:spPr>
          <a:xfrm>
            <a:off x="722376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7955280" y="5152644"/>
            <a:ext cx="368777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bar grows!</a:t>
            </a:r>
            <a:endParaRPr lang="en-US" sz="2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Race the bars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the four blocks to draw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11505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309676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and Play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74878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73049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green beat red?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11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4 min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092440" y="2788920"/>
            <a:ext cx="3550615" cy="3429000"/>
          </a:xfrm>
          <a:prstGeom prst="roundRect">
            <a:avLst>
              <a:gd name="adj" fmla="val 213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1040" y="288036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should see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3246120"/>
            <a:ext cx="3093415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green bar grows with every catch, a red bar with every miss.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Lemon Catcher, for real</a:t>
            </a:r>
            <a:endParaRPr lang="en-US" sz="3000" dirty="0"/>
          </a:p>
        </p:txBody>
      </p:sp>
      <p:pic>
        <p:nvPicPr>
          <p:cNvPr id="3" name="Image 0" descr="The reference project, built from its generated C and run for 260 fram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04008" y="1463040"/>
            <a:ext cx="6583680" cy="41148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571500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reference project, built from its generated C and run for 260 frames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B9A4E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Make it yours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game, your rules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Choose your changes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the lemon fall faster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688336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the basket smaller (change draw AND touches!)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3913632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second fruit with its own boxes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'bad' fruit: change score by -1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12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8 min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92440" y="2788920"/>
            <a:ext cx="3550615" cy="3429000"/>
          </a:xfrm>
          <a:prstGeom prst="roundRect">
            <a:avLst>
              <a:gd name="adj" fmla="val 213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88036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should see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3246120"/>
            <a:ext cx="3093415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pair has a different game. Be ready to say what you changed.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did it!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Four-way movement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522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44693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fence</a:t>
            </a:r>
            <a:endParaRPr lang="en-US" sz="25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44911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430829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 motion with Step</a:t>
            </a:r>
            <a:endParaRPr lang="en-US" sz="25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33011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4414723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falling lemon</a:t>
            </a:r>
            <a:endParaRPr lang="en-US" sz="25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1690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539861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Catching, missing, and a score</a:t>
            </a:r>
            <a:endParaRPr lang="en-US" sz="2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time, and for grown-ups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time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time: sound, your own pictures, and a real cartridge</a:t>
            </a:r>
            <a:endParaRPr lang="en-US" sz="2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 your game with someone at home (ask your teacher how)</a:t>
            </a:r>
            <a:endParaRPr lang="en-US" sz="2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 a name for your game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6278728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grown-ups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8768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Textbook, Part IV (pupil chapters) and Chapter 15 (teacher's guide)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 Construction Kit: github.com/riscv-prg32/PRG32-Construction-Kit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projects: examples/blocks_first_steps/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Unplugged activities (Bell et al.)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Missions 2 and 3 Workshop: Build Lemon Catcher - lab</dc:title>
  <dc:subject>Chapter 13</dc:subject>
  <dc:creator>Playing with RISC-V (PRG32 textbook)</dc:creator>
  <cp:lastModifiedBy>Playing with RISC-V (PRG32 textbook)</cp:lastModifiedBy>
  <cp:revision>1</cp:revision>
  <dcterms:created xsi:type="dcterms:W3CDTF">2026-10-05T15:59:15Z</dcterms:created>
  <dcterms:modified xsi:type="dcterms:W3CDTF">2026-10-05T15:59:15Z</dcterms:modified>
</cp:coreProperties>
</file>