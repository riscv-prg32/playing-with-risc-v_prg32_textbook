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c53079ac-5b5d-cca7-b0ab-9ae1a4fbef4e}">
          <p14:sldIdLst>
            <p14:sldId id="256"/>
            <p14:sldId id="257"/>
            <p14:sldId id="258"/>
            <p14:sldId id="259"/>
          </p14:sldIdLst>
        </p14:section>
        <p14:section name="Refactor" id="{d5796564-84b4-b9d8-7297-3597455dd3e6}">
          <p14:sldIdLst>
            <p14:sldId id="260"/>
            <p14:sldId id="261"/>
            <p14:sldId id="262"/>
            <p14:sldId id="263"/>
          </p14:sldIdLst>
        </p14:section>
        <p14:section name="Fixed point" id="{01f51377-a5c7-dfd7-32e8-e835804dfcf6}">
          <p14:sldIdLst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Lives and edges" id="{6107f705-4094-0238-b6dc-e417d9c129cd}">
          <p14:sldIdLst>
            <p14:sldId id="270"/>
            <p14:sldId id="271"/>
            <p14:sldId id="272"/>
            <p14:sldId id="273"/>
          </p14:sldIdLst>
        </p14:section>
        <p14:section name="Score" id="{3f73ee1e-d719-8b19-6e0a-3cccf5ee9537}">
          <p14:sldIdLst>
            <p14:sldId id="274"/>
            <p14:sldId id="275"/>
            <p14:sldId id="276"/>
          </p14:sldIdLst>
        </p14:section>
        <p14:section name="Ship" id="{5d3062fb-d8a6-6a74-d95e-95ec9e381650}">
          <p14:sldIdLst>
            <p14:sldId id="277"/>
            <p14:sldId id="278"/>
            <p14:sldId id="279"/>
            <p14:sldId id="280"/>
            <p14:sldId id="281"/>
          </p14:sldIdLst>
        </p14:section>
        <p14:section name="Closing" id="{e3785262-f4d4-0a06-0c01-dd169a881c9f}">
          <p14:sldIdLst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Teaching support for Chapter 11 of the textbook. Practical, step-by-step session: learners work at their machines; keep each step to its time box. Preparation: Step files: labs/11-c-capstone/step1..4 (prefix refine_c). Step 1 behaves exactly like the end of C Lab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State the objectives; return to this slide at the 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Total: 45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labs/11-c-capstone/step1_refactor.c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Screenshot: this step, built and run: labs/11-c-capstone/expected/step1_refactor.png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B. On a function, static limits linkage.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 = 256: eight fractional bits. Positions and velocities share the scale, so adding them needs no conversion.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labs/11-c-capstone/step2_fixed_point.c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Screenshot: this step, built and run: labs/11-c-capstone/expected/step2_fixed_point.png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B. 2.75 * 256 = 704.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labs/11-c-capstone/step3_lives.c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labs/11-c-capstone/step3_lives.c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Screenshot: this step, built and run: labs/11-c-capstone/expected/step3_lives.png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labs/11-c-capstone/step4_score_submit.c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Real sizes from the build logs.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Playing with RISC-V  |  Chapter 11: C Capstone  |  Lab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731520"/>
            <a:ext cx="218724" cy="218724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" y="731520"/>
            <a:ext cx="218724" cy="21872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969264"/>
            <a:ext cx="218724" cy="218724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24128" y="969264"/>
            <a:ext cx="218724" cy="21872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207008"/>
            <a:ext cx="218724" cy="218724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92024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11  |  LABORATORY  |  45 MINUTES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377440"/>
            <a:ext cx="1109441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 Lab 3: Refactor, Refine, Ship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2519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verified steps: named constants and a helper, fixed-point motion, lives and edges, a submitted score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5778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Audience: computer programming students (C track)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94360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8FA3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Playing with RISC-V: Assembly, C, and Retro Games on the PRG32 Platform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Refactor without changing behaviour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012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282952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Q8 fixed point for position and velocity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12115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10286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 integer-division traps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 button edges; manage lives and game over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76097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474268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a score exactly once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580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556260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 and document a cartridge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 of 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2173163" cy="822960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737360"/>
            <a:ext cx="217316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9'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767523" y="1737360"/>
            <a:ext cx="2912791" cy="82296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767523" y="1737360"/>
            <a:ext cx="2912791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12'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726034" y="1737360"/>
            <a:ext cx="2666248" cy="822960"/>
          </a:xfrm>
          <a:prstGeom prst="rect">
            <a:avLst/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726034" y="1737360"/>
            <a:ext cx="26662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11'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8438002" y="1737360"/>
            <a:ext cx="1433535" cy="82296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438002" y="1737360"/>
            <a:ext cx="1433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6'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9917257" y="1737360"/>
            <a:ext cx="1680078" cy="822960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917257" y="1737360"/>
            <a:ext cx="16800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7'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48640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Refactor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2813243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996123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2996123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point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5077846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260726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5260726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Lives and edges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7342449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525329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7525329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9607052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789932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9789932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every step works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step is a complete file in labs/: read what is new, then run it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522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446934"/>
            <a:ext cx="10362895" cy="8193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textbook folder: labs/run.sh STEP_FILE PREFIX builds and starts it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4911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430829"/>
            <a:ext cx="10362895" cy="8193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PRG32_HOME to your PRG32 checkout; set PRG32_URL to run on a board or PRG32-QT, otherwise QEMU starts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33011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4414723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screenshot on each slide is that exact file, built and executed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1690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539861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each step: change one thing, predict, run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6FCF9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Refactor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1: same behaviour, better code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1: names and a helper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08660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6294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int clamp(int value, int low, int high) {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(value &lt; low)  { return low; }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(value &gt; high) { return high; }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value;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7863840" y="1417320"/>
            <a:ext cx="3824935" cy="2424875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pic>
        <p:nvPicPr>
          <p:cNvPr id="6" name="Image 0" descr="clamp replaces four ifs. Constants replace 64, 188, 8; limits become visible computation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09560" y="1463040"/>
            <a:ext cx="3733495" cy="233343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909560" y="3887915"/>
            <a:ext cx="37334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Screenshot: this step, built and run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7909560" y="4207955"/>
            <a:ext cx="3733495" cy="2009965"/>
          </a:xfrm>
          <a:prstGeom prst="roundRect">
            <a:avLst>
              <a:gd name="adj" fmla="val 3639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092440" y="4317683"/>
            <a:ext cx="3367735" cy="17905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clamp replaces four ifs. Constants replace 64, 188, 8; limits become visible computations.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 step 1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234440" y="1463040"/>
            <a:ext cx="6537960" cy="470154"/>
          </a:xfrm>
          <a:prstGeom prst="roundRect">
            <a:avLst>
              <a:gd name="adj" fmla="val 15559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417320" y="1572768"/>
            <a:ext cx="6172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labs/run.sh 11-c-capstone/step1_refactor.c refine_c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268833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Play: it must behave exactly like C Lab 1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PADDLE_W to 32</a:t>
            </a:r>
            <a:endParaRPr lang="en-US" sz="21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picture, limit and collision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092440" y="1463040"/>
            <a:ext cx="3550615" cy="731520"/>
          </a:xfrm>
          <a:prstGeom prst="roundRect">
            <a:avLst>
              <a:gd name="adj" fmla="val 1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1040" y="1463040"/>
            <a:ext cx="3093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1  |  about 5 min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8092440" y="2377440"/>
            <a:ext cx="3550615" cy="3840480"/>
          </a:xfrm>
          <a:prstGeom prst="roundRect">
            <a:avLst>
              <a:gd name="adj" fmla="val 2060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46888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400" dirty="0"/>
          </a:p>
        </p:txBody>
      </p:sp>
      <p:pic>
        <p:nvPicPr>
          <p:cNvPr id="16" name="Image 0" descr="Identical behaviour; with 32 the paddle, its right limit and its hitbox all follow from one edit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0" y="2834640"/>
            <a:ext cx="3093415" cy="1933385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8321040" y="4859465"/>
            <a:ext cx="3093415" cy="12487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Identical behaviour; with 32 the paddle, its right limit and its hitbox all follow from one edit.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 your understanding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is clamp declared static?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keep its value between calls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210148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93028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033108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keep the name private to this file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it faster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6210148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93028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033108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Helpers must be static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6FCF9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Fixed point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2: speeds between whole pixels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Q8 at a glance</a:t>
            </a:r>
            <a:endParaRPr lang="en-US" sz="3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3698138"/>
                <a:gridCol w="3698138"/>
                <a:gridCol w="369813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 value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Stored integer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256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 * Q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384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* Q / 2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 / 4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 to pixels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 / 256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divide by Q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2: the ball in Q8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08660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6294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ball_xq += ball_dxq;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ball_yq += ball_dyq;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(ball_xq &lt; 0 || ball_xq &gt; (PRG32_GAME_W - BALL_SIZE) * Q) { ball_dxq =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-ball_dxq; }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(ball_yq &lt; 0) { ball_dyq = -ball_dyq; }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(ball_yq &gt; PRG32_GAME_H * Q) { refine_c_init(); }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(ball_dyq &gt; 0 &amp;&amp;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prg32_sprite_hitbox(ball_xq / Q, ball_yq / Q, BALL_SIZE, BALL_SIZE,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paddle_x, PADDLE_Y, PADDLE_W, PADDLE_H)) {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score += 1;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ball_dyq = -(ball_dyq * 21 / 20); </a:t>
            </a:r>
            <a:pPr indent="0" marL="0">
              <a:buNone/>
            </a:pPr>
            <a:r>
              <a:rPr lang="en-US" sz="10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up, and 5% faster */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(ball_dyq &lt; -4 * Q) { ball_dyq = -4 * Q; }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7863840" y="1417320"/>
            <a:ext cx="3824935" cy="2424875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pic>
        <p:nvPicPr>
          <p:cNvPr id="6" name="Image 0" descr="Limits are compared in Q units; only the hitbox and draw divide by Q. Each hit multiplies the speed by 21/20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09560" y="1463040"/>
            <a:ext cx="3733495" cy="233343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909560" y="3887915"/>
            <a:ext cx="37334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Screenshot: this step, built and run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7909560" y="4207955"/>
            <a:ext cx="3733495" cy="2009965"/>
          </a:xfrm>
          <a:prstGeom prst="roundRect">
            <a:avLst>
              <a:gd name="adj" fmla="val 3639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092440" y="4317683"/>
            <a:ext cx="3367735" cy="17905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Limits are compared in Q units; only the hitbox and draw divide by Q. Each hit multiplies the speed by 21/20.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 step 2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234440" y="1463040"/>
            <a:ext cx="6537960" cy="470154"/>
          </a:xfrm>
          <a:prstGeom prst="roundRect">
            <a:avLst>
              <a:gd name="adj" fmla="val 15559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417320" y="1572768"/>
            <a:ext cx="6172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labs/run.sh 11-c-capstone/step2_fixed_point.c refine_c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268833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one crossing: 312 pixels at 1.5 per frame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ball_dxq = Q / 4 in init: what do you see?</a:t>
            </a:r>
            <a:endParaRPr lang="en-US" sz="21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'* 21 / 20' to '* (21 / 20)'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092440" y="1463040"/>
            <a:ext cx="3550615" cy="731520"/>
          </a:xfrm>
          <a:prstGeom prst="roundRect">
            <a:avLst>
              <a:gd name="adj" fmla="val 1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1040" y="1463040"/>
            <a:ext cx="3093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2  |  about 7 min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8092440" y="2377440"/>
            <a:ext cx="3550615" cy="3840480"/>
          </a:xfrm>
          <a:prstGeom prst="roundRect">
            <a:avLst>
              <a:gd name="adj" fmla="val 2060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46888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400" dirty="0"/>
          </a:p>
        </p:txBody>
      </p:sp>
      <p:pic>
        <p:nvPicPr>
          <p:cNvPr id="16" name="Image 0" descr="208 frames, about 7 seconds. At 0.25 the ball moves one pixel every fourth frame. (21 / 20) is integer division: 1, so the speed-up vanishe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0" y="2834640"/>
            <a:ext cx="3093415" cy="1933385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8321040" y="4859465"/>
            <a:ext cx="3093415" cy="12487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208 frames, about 7 seconds. At 0.25 the ball moves one pixel every fourth frame. (21 / 20) is integer division: 1, so the speed-up vanishes.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Integer traps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6492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/ 20 is 1; 3 / 2 is 1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6492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first, divide last: x * 21 / 20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6492240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* 21 must fit in 32 bits before the division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6492240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add a Q8 value to a plain pixel count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8229600" y="1463040"/>
            <a:ext cx="3413455" cy="4754880"/>
          </a:xfrm>
          <a:prstGeom prst="roundRect">
            <a:avLst>
              <a:gd name="adj" fmla="val 2143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412480" y="2286000"/>
            <a:ext cx="30449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* Q / 2</a:t>
            </a:r>
            <a:endParaRPr lang="en-US" sz="5900" dirty="0"/>
          </a:p>
        </p:txBody>
      </p:sp>
      <p:sp>
        <p:nvSpPr>
          <p:cNvPr id="13" name="Text 11"/>
          <p:cNvSpPr txBox="1"/>
          <p:nvPr/>
        </p:nvSpPr>
        <p:spPr>
          <a:xfrm>
            <a:off x="8503920" y="4297680"/>
            <a:ext cx="28620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384, not 256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 your understanding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Q8, what is stored for 2.75?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275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210148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93028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033108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704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2.75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6210148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93028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033108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6FCF9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Lives and edges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3: edges, and game over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08660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6294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uint32_t pressed = input &amp; ~previous_input; </a:t>
            </a:r>
            <a:pPr indent="0" marL="0">
              <a:buNone/>
            </a:pPr>
            <a:r>
              <a:rPr lang="en-US" sz="11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edges, not levels */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previous_input = input;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(game_over)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(pressed &amp; PRG32_BTN_A)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refine_c_init();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863840" y="1417320"/>
            <a:ext cx="3824935" cy="2424875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pic>
        <p:nvPicPr>
          <p:cNvPr id="6" name="Image 0" descr="pressed has a bit set only in the frame a button goes down. While game_over, update does nothing but wait for that edg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09560" y="1463040"/>
            <a:ext cx="3733495" cy="233343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909560" y="3887915"/>
            <a:ext cx="37334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Screenshot: this step, built and run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7909560" y="4207955"/>
            <a:ext cx="3733495" cy="2009965"/>
          </a:xfrm>
          <a:prstGeom prst="roundRect">
            <a:avLst>
              <a:gd name="adj" fmla="val 3639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092440" y="4317683"/>
            <a:ext cx="3367735" cy="17905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pressed has a bit set only in the frame a button goes down. While game_over, update does nothing but wait for that edge.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3: losing a life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(ball_yq &gt; PRG32_GAME_H * Q) { </a:t>
            </a:r>
            <a:pPr indent="0" marL="0">
              <a:buNone/>
            </a:pPr>
            <a:r>
              <a:rPr lang="en-US" sz="17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missed */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prg32_audio_note(0, 0, 48, 255, 150);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lives -= 1;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serve();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(lives == 0) {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game_over = 1;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(ball_dyq &gt; 0 &amp;&amp;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low note on a miss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0" y="2702052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28666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2839212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serve() restarts the ball only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29600" y="3941064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10565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078224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zero lives: game_over = 1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8229600" y="5180076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94192" y="534466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5317236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once: the ball is re-served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 step 3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234440" y="1463040"/>
            <a:ext cx="6537960" cy="470154"/>
          </a:xfrm>
          <a:prstGeom prst="roundRect">
            <a:avLst>
              <a:gd name="adj" fmla="val 15559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417320" y="1572768"/>
            <a:ext cx="6172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labs/run.sh 11-c-capstone/step3_lives.c refine_c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268833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Lose three balls without moving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 A once to restart</a:t>
            </a:r>
            <a:endParaRPr lang="en-US" sz="21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5138928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'pressed &amp; PRG32_BTN_A' to 'input &amp; PRG32_BTN_A' and hold A through a game over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092440" y="1463040"/>
            <a:ext cx="3550615" cy="731520"/>
          </a:xfrm>
          <a:prstGeom prst="roundRect">
            <a:avLst>
              <a:gd name="adj" fmla="val 1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1040" y="1463040"/>
            <a:ext cx="3093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3  |  about 7 min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8092440" y="2377440"/>
            <a:ext cx="3550615" cy="3840480"/>
          </a:xfrm>
          <a:prstGeom prst="roundRect">
            <a:avLst>
              <a:gd name="adj" fmla="val 2060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46888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400" dirty="0"/>
          </a:p>
        </p:txBody>
      </p:sp>
      <p:pic>
        <p:nvPicPr>
          <p:cNvPr id="16" name="Image 0" descr="Three squares count the lives; then GAME OVER (screenshot: no input for 700 frames). With the level instead of the edge, holding A restarts instantly and you never see the messag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0" y="2834640"/>
            <a:ext cx="3093415" cy="1933385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8321040" y="4859465"/>
            <a:ext cx="3093415" cy="12487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squares count the lives; then GAME OVER (screenshot: no input for 700 frames). With the level instead of the edge, holding A restarts instantly and you never see the message.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6FCF9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Score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4: submit once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08660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6294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(lives == 0)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game_over = 1;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prg32_score_submit_current_player("refine-pong", (uint32_t)score);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863840" y="1417320"/>
            <a:ext cx="3824935" cy="2424875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pic>
        <p:nvPicPr>
          <p:cNvPr id="6" name="Image 0" descr="The call sits where game_over becomes 1: a place that executes exactly once per gam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09560" y="1463040"/>
            <a:ext cx="3733495" cy="233343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909560" y="3887915"/>
            <a:ext cx="37334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Screenshot: this step, built and run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7909560" y="4207955"/>
            <a:ext cx="3733495" cy="2009965"/>
          </a:xfrm>
          <a:prstGeom prst="roundRect">
            <a:avLst>
              <a:gd name="adj" fmla="val 3639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092440" y="4317683"/>
            <a:ext cx="3367735" cy="17905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call sits where game_over becomes 1: a place that executes exactly once per game.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 step 4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234440" y="1463040"/>
            <a:ext cx="6537960" cy="702564"/>
          </a:xfrm>
          <a:prstGeom prst="roundRect">
            <a:avLst>
              <a:gd name="adj" fmla="val 10412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417320" y="1572768"/>
            <a:ext cx="6172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labs/run.sh 11-c-capstone/step4_score_submit.c refine_c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268833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 a game to the end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scoreboard in the device's setup menu</a:t>
            </a:r>
            <a:endParaRPr lang="en-US" sz="21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5138928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would the call be WRONG, and what would you see?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4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5 min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8092440" y="2788920"/>
            <a:ext cx="3550615" cy="3429000"/>
          </a:xfrm>
          <a:prstGeom prst="roundRect">
            <a:avLst>
              <a:gd name="adj" fmla="val 213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0" y="288036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321040" y="3246120"/>
            <a:ext cx="3093415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entry for refine-pong under the configured player name. Inside 'if (game_over)' at the top of update it would be submitted 30 times a second.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6FCF9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Ship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file and a note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and inspect by hand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234440" y="1463040"/>
            <a:ext cx="6537960" cy="470154"/>
          </a:xfrm>
          <a:prstGeom prst="roundRect">
            <a:avLst>
              <a:gd name="adj" fmla="val 15559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417320" y="1572768"/>
            <a:ext cx="6172200" cy="1304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$PRG32_HOME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11505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234440" y="3096768"/>
            <a:ext cx="6537960" cy="1399794"/>
          </a:xfrm>
          <a:prstGeom prst="roundRect">
            <a:avLst>
              <a:gd name="adj" fmla="val 5226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417320" y="3206496"/>
            <a:ext cx="6172200" cy="1304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../Playing-with-RISC-V_PRG32_textbook/labs/11-c-capstone/step4_score_submit.c --portable --entry-prefix refine_c --name refine-pong --out work/refine-pong.prg32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74878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234440" y="4730496"/>
            <a:ext cx="6537960" cy="702564"/>
          </a:xfrm>
          <a:prstGeom prst="roundRect">
            <a:avLst>
              <a:gd name="adj" fmla="val 10412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417320" y="4840224"/>
            <a:ext cx="6172200" cy="1304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summary work/refine-pong.prg32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5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5 min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8092440" y="2788920"/>
            <a:ext cx="3550615" cy="3429000"/>
          </a:xfrm>
          <a:prstGeom prst="roundRect">
            <a:avLst>
              <a:gd name="adj" fmla="val 213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0" y="288036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321040" y="3246120"/>
            <a:ext cx="3093415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code=3280 mem=3316: 36 bytes of variables that start at zero (.bss). About 5% of the 64 KiB budget.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cartridge grew</a:t>
            </a:r>
            <a:endParaRPr lang="en-US" sz="30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2773604"/>
                <a:gridCol w="2773604"/>
                <a:gridCol w="2773604"/>
                <a:gridCol w="277360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Step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was added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refactor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2908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2932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fixed point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2968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2992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+60: Q8 arithmetic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lives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3248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3284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+280: edges, game over, text, notes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score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3280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3316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+32: one call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Write the design note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sentence: what the game is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68833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table: each state variable and what changes it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helpers you have and why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thing you would do next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6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5 min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92440" y="2788920"/>
            <a:ext cx="3550615" cy="3429000"/>
          </a:xfrm>
          <a:prstGeom prst="roundRect">
            <a:avLst>
              <a:gd name="adj" fmla="val 213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88036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3246120"/>
            <a:ext cx="3093415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Half a page from which a classmate can understand the source in five minutes.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can now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Refactor safely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522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44693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and accelerate with fixed point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4911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430829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edges for one-shot actions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33011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4414723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 a once-only action correctly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1690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539861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 cartridge's size budget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steps and reading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the next session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Chapter 16: what the compiler did with this C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Chapter 17 if you intend to publish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 in the design note with the cartridge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6278728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and sources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Textbook, Chapter 11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labs/11-c-capstone/ and labs/masters/refine_c.master.c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 docs/cartridge_store/score_api.md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 Lab 3: Refactor, Refine, Ship - lab</dc:title>
  <dc:subject>Chapter 11</dc:subject>
  <dc:creator>Playing with RISC-V (PRG32 textbook)</dc:creator>
  <cp:lastModifiedBy>Playing with RISC-V (PRG32 textbook)</cp:lastModifiedBy>
  <cp:revision>1</cp:revision>
  <dcterms:created xsi:type="dcterms:W3CDTF">2026-10-05T15:40:34Z</dcterms:created>
  <dcterms:modified xsi:type="dcterms:W3CDTF">2026-10-05T15:40:34Z</dcterms:modified>
</cp:coreProperties>
</file>