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1000617-42d5-92ab-943c-0ea4d36c83e7}">
          <p14:sldIdLst>
            <p14:sldId id="256"/>
            <p14:sldId id="257"/>
            <p14:sldId id="258"/>
            <p14:sldId id="259"/>
          </p14:sldIdLst>
        </p14:section>
        <p14:section name="Play" id="{27943291-9163-c5de-f9c8-bb6c0cc518b6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Observe" id="{cdfd0de3-a7bc-9fce-0cba-22f3f6d6d7d0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Explore" id="{96d267f5-defc-0ce9-cd0c-c3287e5fe7dd}">
          <p14:sldIdLst>
            <p14:sldId id="272"/>
            <p14:sldId id="273"/>
            <p14:sldId id="274"/>
            <p14:sldId id="275"/>
          </p14:sldIdLst>
        </p14:section>
        <p14:section name="Read" id="{b441bc87-d1ef-c3c1-6cec-ac2e982b1904}">
          <p14:sldIdLst>
            <p14:sldId id="276"/>
            <p14:sldId id="277"/>
            <p14:sldId id="278"/>
            <p14:sldId id="279"/>
            <p14:sldId id="280"/>
          </p14:sldIdLst>
        </p14:section>
        <p14:section name="Reflect" id="{0665d0c0-9a06-a2b2-c076-ae74318afddc}">
          <p14:sldIdLst>
            <p14:sldId id="281"/>
            <p14:sldId id="282"/>
            <p14:sldId id="283"/>
            <p14:sldId id="284"/>
          </p14:sldIdLst>
        </p14:section>
        <p14:section name="Closing" id="{0b39faab-98cf-eb40-4d20-de0c6472dd74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Teaching support for Chapter 1 of the textbook. Practical, step-by-step session: learners work at their machines; keep each step to its time box. Preparation: PRG32-QT installed on lab machines, or a projector running it; network access to the public Cartridge Store and to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objectives; return to this slide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Total: 45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The colophon is a JSON block in the cartridge's metadata trailer: credits, licence, controls.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explain registers yet; the aim is to see that a game is a sequence of small steps.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C. The debugger steps single RV32IMAC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examples/asm_first_contact/hello_world_asm.S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should recognise shapes, not understand every line.
Source: examples/asm_graphics_game/hello_world_graphics.S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  |  Chapter 1: Why a Game, Why RISC-V  |  Lab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731520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969264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969264"/>
            <a:ext cx="218724" cy="21872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07008"/>
            <a:ext cx="218724" cy="218724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920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 |  LABORATORY  |  45 MINUTES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10944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 Lab: Meet the Platform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cartridge, find the frame loop, read your first RISC-V listing; no toolchain required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577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first-year computer architecture and programming students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9436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8F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Playing with RISC-V: Assembly, C, and Retro Games on the PRG32 Platform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published cartridge and describe what it does frame by frame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init, update, and draw in a real source file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PRG32 repository and its documentation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 short RISC-V listing and predict its effect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one question you want this course to answer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the session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014066" y="1737360"/>
            <a:ext cx="2419706" cy="82296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14066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79491" y="1737360"/>
            <a:ext cx="2419706" cy="82296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79491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944917" y="1737360"/>
            <a:ext cx="2419706" cy="82296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44917" y="1737360"/>
            <a:ext cx="24197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solidFill>
            <a:srgbClr val="2F7D4F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410342" y="1737360"/>
            <a:ext cx="118699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Play: a cartridge from the Store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813243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96123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996123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Observe: the frame loop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77846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60726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B4FA0"/>
          </a:solidFill>
          <a:ln>
            <a:solidFill>
              <a:srgbClr val="6B4FA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60726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Explore: the repository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42449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329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25329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first RISC-V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07052" y="3017520"/>
            <a:ext cx="2036003" cy="3200400"/>
          </a:xfrm>
          <a:prstGeom prst="roundRect">
            <a:avLst>
              <a:gd name="adj" fmla="val 359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789932" y="3200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789932" y="3749040"/>
            <a:ext cx="167024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lab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pairs: one drives, one reads the slide; swap every step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has a time box and an expected result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result differs, stop and find out why before moving on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answers in your lab notebook: you will reuse them in Chapter 2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cartridge from the public Store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PRG32-QT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PRG32-QT on your machine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Setup screen and the Cartridge Store entry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Settings and read the three performance profiles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 screen of the application, with a Store browser. Settings shows Accurate, Optimal, and Unlimited.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Cartridge Store inside PRG32-QT</a:t>
            </a:r>
            <a:endParaRPr lang="en-US" sz="3000" dirty="0"/>
          </a:p>
        </p:txBody>
      </p:sp>
      <p:pic>
        <p:nvPicPr>
          <p:cNvPr id="3" name="Image 0" descr="Browsing the public catalogue; downloads are architecture-aw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8032" y="1463040"/>
            <a:ext cx="5955632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 the public catalogue; downloads are architecture-aware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and run a game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catalogue and pick an arcade game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its page: read the summary, authors, and version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it and choose Run Cartridge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for two minutes with the arrow keys, Z, and X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colophon (credits and controls) appears first, then the game runs in a 320 by 200 viewport.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on a keyboard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5547208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PRG32 control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Keyboard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Joystick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Arrow keys or W A S D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or J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or K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Select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or Space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the game started you saw a credits screen. What is it called?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manifest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colophon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header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splash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frame loop in what you just played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one frame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again, slowly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every object that moves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one, write what changes it: a button, time, or a collision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never changes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 with three columns: object, what changes it, when. This is the game's state and its update rules.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your notes onto the contract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2E4A62"/>
          </a:solidFill>
          <a:ln w="12700">
            <a:solidFill>
              <a:srgbClr val="2E4A6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58368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set up once?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52496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6544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46272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input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3546272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buttons matter?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0400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4448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34176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434176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'what changes it' column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828303" y="2633472"/>
            <a:ext cx="310896" cy="310896"/>
          </a:xfrm>
          <a:prstGeom prst="rightArrow">
            <a:avLst/>
          </a:prstGeom>
          <a:solidFill>
            <a:srgbClr val="C9D2D8"/>
          </a:solidFill>
          <a:ln w="12700">
            <a:solidFill>
              <a:srgbClr val="C9D2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12351" y="1920240"/>
            <a:ext cx="2430704" cy="1737360"/>
          </a:xfrm>
          <a:prstGeom prst="roundRect">
            <a:avLst>
              <a:gd name="adj" fmla="val 4211"/>
            </a:avLst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2079" y="210312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322079" y="2834640"/>
            <a:ext cx="22112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'object' column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251960"/>
            <a:ext cx="104543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of your table is a line of update; every object is a call in draw.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the machine down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Settings, enable 'Run cartridges in RISC-V debug mode'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cartridge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speed to 0.1x and watch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Pause, then Step a few times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debugger panel appears beside the game. In slow motion you can see individual frames; Step executes one instruction.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are looking at</a:t>
            </a:r>
            <a:endParaRPr lang="en-US" sz="3000" dirty="0"/>
          </a:p>
        </p:txBody>
      </p:sp>
      <p:pic>
        <p:nvPicPr>
          <p:cNvPr id="3" name="Image 0" descr="Game, live assembly, registers, and memory in PRG32-Q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16807" y="1463040"/>
            <a:ext cx="5958081" cy="41148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Game, live assembly, registers, and memory in PRG32-QT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your understanding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Paused in the debugger, what does one press of Step execute?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10148" y="288036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93028" y="343814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033108" y="297180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 of update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RISC-V instruction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210148" y="4663440"/>
            <a:ext cx="5432908" cy="1554480"/>
          </a:xfrm>
          <a:prstGeom prst="roundRect">
            <a:avLst>
              <a:gd name="adj" fmla="val 4706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3028" y="52212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E4A62"/>
          </a:solidFill>
          <a:ln>
            <a:solidFill>
              <a:srgbClr val="2E4A6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033108" y="4754880"/>
            <a:ext cx="44270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is part of the course material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your way around PRG32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github.com/riscv-prg32/PRG32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first screen of the README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docs/usage/getting_started.md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examples/games and count the games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say what PRG32 is in one sentence and where the examples live. Each game has ascii, graphics, and c versions.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are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4568289"/>
                <a:gridCol w="65261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components/prg32/include/prg32.h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public interface: every call a game can make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examples/games/&lt;name&gt;/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game in ASCII assembly, graphics assembly, and C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docs/learn/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Tutorials and labs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docs/software/cartridges.md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cartridge format and workflow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1B25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cartridges/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Store-ready examples with metadata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same game twice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examples/games/pong/graphics/game.S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examples/games/pong/c/game.c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each, find the three entry points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prefix each file uses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pong_graphics_init/update/draw in the assembly file; pong_c_init/update/draw in the C file. Same shape, two languages.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RISC-V listing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smallest program that runs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hello_init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hello_update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hello_draw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hello_init: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                 </a:t>
            </a:r>
            <a:pPr indent="0" marL="0">
              <a:buNone/>
            </a:pPr>
            <a:r>
              <a:rPr lang="en-US" sz="17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return to the framework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hello_update: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hello_draw: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.global exports a name so the runtime can find it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labels: the three entry points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returns to the framework: this game does nothing, correctly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before you know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listing on the previous slide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you expect on screen when this cartridge runs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what you think 'ret' means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your neighbour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blank game: the runtime calls three functions that return at once. Prediction first, explanation in Chapter 5.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step further: drawing something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blank_init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blank_update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blank_draw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blank_init: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blank_update: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blank_draw: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RGB565 black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       </a:t>
            </a:r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fill the 320x200 viewport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0" y="1463040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62763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600200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 loads a number into a register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0" y="3115056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32796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3252216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transfers control to a framework function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0" y="4767072"/>
            <a:ext cx="3413455" cy="1450848"/>
          </a:xfrm>
          <a:prstGeom prst="roundRect">
            <a:avLst>
              <a:gd name="adj" fmla="val 5042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93166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904232"/>
            <a:ext cx="2544775" cy="1176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travel in registers a0, a1, a2...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Annotate the listing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five lines of the graphics listing into your notebook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0662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688336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 each, write a guess at what it does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31920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913632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each guess: sure, unsure, no idea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5721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5138928"/>
            <a:ext cx="6446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page: you will correct it after Chapter 5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annotated listing with honest confidence marks. Unsure is the expected answer today.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6FCF9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8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3464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3891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want to be able to explain?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in pairs, then in plenary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surprised you about how little code a game needs?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119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69290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you see the three functions?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4106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922776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slow motion show that normal speed hid?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709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515264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an open instruction set matter to your career?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63040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sentence: what is PRG32?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15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096768"/>
            <a:ext cx="6446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sentence: why RISC-V?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8784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730496"/>
            <a:ext cx="6446520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question you want answered by the end of term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8092440" y="1463040"/>
            <a:ext cx="3550615" cy="1143000"/>
          </a:xfrm>
          <a:prstGeom prst="roundRect">
            <a:avLst>
              <a:gd name="adj" fmla="val 6400"/>
            </a:avLst>
          </a:prstGeom>
          <a:solidFill>
            <a:srgbClr val="1B2530"/>
          </a:solidFill>
          <a:ln w="12700">
            <a:solidFill>
              <a:srgbClr val="1B253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6002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084832"/>
            <a:ext cx="3093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 min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92440" y="2788920"/>
            <a:ext cx="3550615" cy="3429000"/>
          </a:xfrm>
          <a:prstGeom prst="roundRect">
            <a:avLst>
              <a:gd name="adj" fmla="val 2133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2880360"/>
            <a:ext cx="3093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246120"/>
            <a:ext cx="309341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sentences handed in. The questions seed the first minutes of the next lecture.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now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8132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Store cartridge in PRG32-QT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46522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446934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game as state plus update rules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49117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3430829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init, update, and draw in assembly and in C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33011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4414723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the repository and its docs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16906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5398618"/>
            <a:ext cx="1036289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li, call, and ret in a listing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84048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and reading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next session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toolchain at home (Chapter 3) or book a lab slot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Chapter 2 before the next lecture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annotated listing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278728" y="1463040"/>
            <a:ext cx="5364328" cy="4754880"/>
          </a:xfrm>
          <a:prstGeom prst="roundRect">
            <a:avLst>
              <a:gd name="adj" fmla="val 153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53048" y="1691640"/>
            <a:ext cx="4815688" cy="548640"/>
          </a:xfrm>
          <a:prstGeom prst="roundRect">
            <a:avLst>
              <a:gd name="adj" fmla="val 13333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sources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98768" y="2468880"/>
            <a:ext cx="472424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Textbook, Chapters 1 and 4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README: github.com/riscv-prg32/PRG32-QT</a:t>
            </a:r>
            <a:endParaRPr lang="en-US" sz="21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2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 docs/usage/getting_started.md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Orientation Lab: Meet the Platform - lab</dc:title>
  <dc:subject>Chapter 1</dc:subject>
  <dc:creator>Playing with RISC-V (PRG32 textbook)</dc:creator>
  <cp:lastModifiedBy>Playing with RISC-V (PRG32 textbook)</cp:lastModifiedBy>
  <cp:revision>1</cp:revision>
  <dcterms:created xsi:type="dcterms:W3CDTF">2026-10-05T15:40:33Z</dcterms:created>
  <dcterms:modified xsi:type="dcterms:W3CDTF">2026-10-05T15:40:33Z</dcterms:modified>
</cp:coreProperties>
</file>