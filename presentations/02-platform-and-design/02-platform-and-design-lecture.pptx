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46b050d-9f7a-7150-e477-26ca89bbdd8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The screen" id="{a4da3f85-04bb-ef71-4df7-7bd0c3bdbd3d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Input" id="{c1ba39ac-0494-a2a6-8921-868dd7815abe}">
          <p14:sldIdLst>
            <p14:sldId id="271"/>
            <p14:sldId id="272"/>
            <p14:sldId id="273"/>
            <p14:sldId id="274"/>
          </p14:sldIdLst>
        </p14:section>
        <p14:section name="Sound and cartridges" id="{cbb71661-affd-31df-bf17-ba9d6f360754}">
          <p14:sldIdLst>
            <p14:sldId id="275"/>
            <p14:sldId id="276"/>
            <p14:sldId id="277"/>
            <p14:sldId id="278"/>
            <p14:sldId id="279"/>
          </p14:sldIdLst>
        </p14:section>
        <p14:section name="Design principles" id="{c74bb759-175c-94db-b920-4325c32878ae}">
          <p14:sldIdLst>
            <p14:sldId id="280"/>
            <p14:sldId id="281"/>
            <p14:sldId id="282"/>
            <p14:sldId id="283"/>
          </p14:sldIdLst>
        </p14:section>
        <p14:section name="Closing" id="{7d0a12da-c06b-683d-349f-ef8ddb7bf4b7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2 of the textbook. Front lecture: about 45 minutes including the questions.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Mixing them produces bugs such as collisions detected only when an object happens to be drawn.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Collisions change state, so they belong to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20-pixel bands above and below the viewport are status bands owned by the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0xF800 red, 0x07E0 green, 0x001F blue, 0xFFE0 yellow, 0xFFFF white (65535 in decimal).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Player two uses the same layout shifted into bits 8 to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bitmask mirrors how hardware presents buttons: as bits in a register.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0x01 | 0x10 = 0x11.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flash a build-qemu image to a real board: it targets a display that does not exist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2: Design Principles and the Framework  |  Lecture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 |  LECTURE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Design Principles and the PRG32 Framework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loop, the three-function contract, the screen, input, sound, and cartridges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first-year computer architecture and programming students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game as a loop over frames that reads, updates, and draws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282952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three-function contract and why update and draw are separate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211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10286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coordinate system and RGB565 colours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button in the input bitmask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6097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474268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portable cartridge is and how it reaches the machine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58088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56260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three design rules for first games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20980" y="1737360"/>
            <a:ext cx="1433535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2098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000236" y="1737360"/>
            <a:ext cx="1926620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00236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72576" y="1737360"/>
            <a:ext cx="1433535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72576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451832" y="1737360"/>
            <a:ext cx="940450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51832" y="1737360"/>
            <a:ext cx="94045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438002" y="1737360"/>
            <a:ext cx="1926620" cy="82296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38002" y="1737360"/>
            <a:ext cx="19266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8'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1388974" cy="3200400"/>
          </a:xfrm>
          <a:prstGeom prst="roundRect">
            <a:avLst>
              <a:gd name="adj" fmla="val 526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749040"/>
            <a:ext cx="10232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game is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66214" y="3017520"/>
            <a:ext cx="1388974" cy="3200400"/>
          </a:xfrm>
          <a:prstGeom prst="roundRect">
            <a:avLst>
              <a:gd name="adj" fmla="val 526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49094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349094" y="3749040"/>
            <a:ext cx="10232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783787" y="3017520"/>
            <a:ext cx="1388974" cy="3200400"/>
          </a:xfrm>
          <a:prstGeom prst="roundRect">
            <a:avLst>
              <a:gd name="adj" fmla="val 526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66667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966667" y="3749040"/>
            <a:ext cx="10232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and colour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01361" y="3017520"/>
            <a:ext cx="1388974" cy="3200400"/>
          </a:xfrm>
          <a:prstGeom prst="roundRect">
            <a:avLst>
              <a:gd name="adj" fmla="val 526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584241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584241" y="3749040"/>
            <a:ext cx="10232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018934" y="3017520"/>
            <a:ext cx="1388974" cy="3200400"/>
          </a:xfrm>
          <a:prstGeom prst="roundRect">
            <a:avLst>
              <a:gd name="adj" fmla="val 526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201814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201814" y="3749040"/>
            <a:ext cx="10232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8636508" y="3017520"/>
            <a:ext cx="1388974" cy="3200400"/>
          </a:xfrm>
          <a:prstGeom prst="roundRect">
            <a:avLst>
              <a:gd name="adj" fmla="val 526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819388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23A48"/>
          </a:solidFill>
          <a:ln>
            <a:solidFill>
              <a:srgbClr val="B23A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819388" y="3749040"/>
            <a:ext cx="10232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Cartridges and targets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254082" y="3017520"/>
            <a:ext cx="1388974" cy="3200400"/>
          </a:xfrm>
          <a:prstGeom prst="roundRect">
            <a:avLst>
              <a:gd name="adj" fmla="val 526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696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436962" y="3749040"/>
            <a:ext cx="102321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40080"/>
            <a:ext cx="168250" cy="16825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822960"/>
            <a:ext cx="168250" cy="16825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game is a loop that never ends until you tell it to.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turn of the loop is a frame: read, update, draw.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frame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at start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buttons,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state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the set of variables that describe the game right now: positions, velocities, scores. Every rule of the game turns this frame's state into the next frame's.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and draw are kept apart on purpose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change state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draw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Movement, collisions, score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without a screen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read state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not change game logic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then paint every object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skipped without breaking rules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universal shape of a PRG32 game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&lt;prefix&gt;_init     runs once when the cartridge is selected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&lt;prefix&gt;_update   runs once per frame; changes game state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&lt;prefix&gt;_draw     runs once per frame; renders the state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pong_graphics_init / _update / _draw     (assembly)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pong_c_init        / _update / _draw     (C)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prefix names the game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941064"/>
            <a:ext cx="3413455" cy="2276856"/>
          </a:xfrm>
          <a:prstGeom prst="roundRect">
            <a:avLst>
              <a:gd name="adj" fmla="val 321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410565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4078224"/>
            <a:ext cx="2544775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does not care which language produced the symbols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a collision test belong?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init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update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draw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update and draw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screen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Coordinates, the viewport, and colour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coordinate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1938528"/>
            <a:ext cx="5998464" cy="3803904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011680"/>
            <a:ext cx="5852160" cy="3657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8F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(0,0)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28416" y="3694176"/>
            <a:ext cx="292608" cy="292608"/>
          </a:xfrm>
          <a:prstGeom prst="rect">
            <a:avLst/>
          </a:prstGeom>
          <a:solidFill>
            <a:srgbClr val="F8FC00"/>
          </a:solidFill>
          <a:ln w="12700">
            <a:solidFill>
              <a:srgbClr val="F8FC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94176" y="3675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(152,92)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(319,199)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7790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x 200 game viewport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1463040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at the top-left corner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692908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grows to the right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922776"/>
            <a:ext cx="405353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grows downward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5152644"/>
            <a:ext cx="405353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display is 320 by 240; games draw in a centred 320 by 200 viewport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downward y axis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y is lower on the display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up means subtracting from 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adds to y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moves the wrong way, check the sign of your y change first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↓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early confusion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RGB565: a pixel in two bytes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bits red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levels, in the top bits of the 16-bit word.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bits green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levels: the eye is most sensitive to green.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bits blue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levels, in the low bits.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colours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73604"/>
                <a:gridCol w="2773604"/>
                <a:gridCol w="2773604"/>
                <a:gridCol w="27736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RGB565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RGB565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PRG32_COLOR_BLACK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0x0000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PRG32_COLOR_YELLOW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0xffe0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PRG32_COLOR_WHITE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0xffff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PRG32_COLOR_CYAN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0x07ff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PRG32_COLOR_RED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0xf800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PRG32_COLOR_MAGENTA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0xf81f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PRG32_COLOR_GREEN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0x07e0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PRG32_COLOR_BLUE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0x001f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name a colour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pass an RGB565 value to a drawing call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Indexed: set one of 256 palette entries, then draw with the index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board the framebuffer stores one byte per pixel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6492240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 by 200 indices fit in 64,000 bytes of microcontroller RAM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229600" y="1463040"/>
            <a:ext cx="3413455" cy="4754880"/>
          </a:xfrm>
          <a:prstGeom prst="roundRect">
            <a:avLst>
              <a:gd name="adj" fmla="val 2143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2286000"/>
            <a:ext cx="30449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256</a:t>
            </a:r>
            <a:endParaRPr lang="en-US" sz="60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4297680"/>
            <a:ext cx="2862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entries; one byte per pixel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drawing calls you will use most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973359"/>
                <a:gridCol w="61210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prg32_gfx_clear(color)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 the viewport with one colour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prg32_gfx_pixel(x,y,color)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one pixel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prg32_gfx_rect(x,y,w,h,color)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rectangle: the workhorse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prg32_gfx_text8(x,y,s,fg,bg)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string in 8 by 8 characters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prg32_sprite_hitbox(...)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Non-zero if two rectangles overlap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the buttons in one integer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input bitmask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698138"/>
                <a:gridCol w="3698138"/>
                <a:gridCol w="36981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PRG32_BTN_LEFT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PRG32_BTN_RIGHT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PRG32_BTN_UP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PRG32_BTN_DOWN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0x08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PRG32_BTN_A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PRG32_BTN_B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0x20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PRG32_BTN_START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select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with AND, never with equality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PRG32_BTN_LEFT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whenever the left bit is set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buttons may be held too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you want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== PRG32_BTN_LEFT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if left is the only button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 A is also held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 beginner bug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and A are held. What does prg32_input_read return?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0x01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0x10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0x11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0x05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and cartridges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you can hear; games you can ship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Sound: a note when something happens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prg32_audio_note(channel, instrument, note, volume, ms)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 is a MIDI number: 60 is middle C, 69 is A at 440 Hz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mixer channels; the call returns at once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prg32_buzzer_tone is legacy: silent on the current reference board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sound on events, never every frame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source to running game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game.S or game.c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functions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474915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58963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68691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RISC-V toolchain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968691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link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85238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69286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9014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.prg32 cartridge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79014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code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95561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79609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89337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runtime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337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loads, validates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405884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89932" y="1920240"/>
            <a:ext cx="1853123" cy="1737360"/>
          </a:xfrm>
          <a:prstGeom prst="roundRect">
            <a:avLst>
              <a:gd name="adj" fmla="val 4211"/>
            </a:avLst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899660" y="210312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/ update / draw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899660" y="2834640"/>
            <a:ext cx="16336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game runs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firmware is flashed once. Cartridges are then uploaded over Wi-Fi, staged into QEMU, or opened in PRG32-QT.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properties of a cartridge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the runtime through a numbered ABI table (version 1.6, 139 entries), not fixed addresses. Survives firmware updates.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6818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15458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slots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persistent slots, cart0 to cart3. One runs at a time; A+B at boot opens setup.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56397" y="16916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05037" y="1645920"/>
            <a:ext cx="2509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Budgeted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423160"/>
            <a:ext cx="296661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KiB of executable memory by default; 32 and 128 KiB profiles exist. The build tool checks the limit.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reference targets, concretely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board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ESP32-C6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directory build-esp32c6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ILI9341 display, joystick, I2S audio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Cartridges arrive over Wi-Fi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emulator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emulator profile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directory build-qemu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RGB screen, keyboard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Cartridges are staged into flash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5CC7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separate students who succeed from students who struggle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 for first games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986229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returns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init, update, draw so each returns at once. Build. Confirm it runs.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036466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3938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21528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66818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at a time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variable; draw it; move it; a boundary; a collision. Verify each by eye.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871765" y="3831336"/>
            <a:ext cx="283464" cy="292608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9237" y="1920240"/>
            <a:ext cx="3423818" cy="4114800"/>
          </a:xfrm>
          <a:prstGeom prst="roundRect">
            <a:avLst>
              <a:gd name="adj" fmla="val 2137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56826" y="164592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3317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comes last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02117" y="3291840"/>
            <a:ext cx="305805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beep at the wrong time is a symptom. Get the visual logic solid first.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map of the example games</a:t>
            </a:r>
            <a:endParaRPr lang="en-US" sz="3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63063"/>
                <a:gridCol w="7831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teaches first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pong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State, input, boundaries, one collision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breakout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 of objects, removal on hit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space_invaders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moving objects, waves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tetris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fixed grid, line clears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platformer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 flags, gravity, camera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raycaster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Fixed-point arithmetic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Checkpoint: answer without looking back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three functions every PRG32 game provides?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which direction does y grow?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test whether one button is pressed?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portable cartridge?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QEMU and board builds use separate directories?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3: install the toolchain and build the firmware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laptop with 5 GB free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 the three-function contract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2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docs/software/framework_manual.md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docs/software/cartridges.md and abi.md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docs/usage/profiles.md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Design Principles and the PRG32 Framework - lecture</dc:title>
  <dc:subject>Chapter 2</dc:subject>
  <dc:creator>Playing with RISC-V (PRG32 textbook)</dc:creator>
  <cp:lastModifiedBy>Playing with RISC-V (PRG32 textbook)</cp:lastModifiedBy>
  <cp:revision>1</cp:revision>
  <dcterms:created xsi:type="dcterms:W3CDTF">2026-10-05T08:18:06Z</dcterms:created>
  <dcterms:modified xsi:type="dcterms:W3CDTF">2026-10-05T08:18:06Z</dcterms:modified>
</cp:coreProperties>
</file>