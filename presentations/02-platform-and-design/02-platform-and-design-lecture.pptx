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11efe52-a365-d9af-04dc-19c8679c54f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he screen" id="{988e376d-9bb8-b0ca-920b-ed815d24e3e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Input" id="{ec8c206b-fa76-609e-de31-ede18bebdcad}">
          <p14:sldIdLst>
            <p14:sldId id="273"/>
            <p14:sldId id="274"/>
            <p14:sldId id="275"/>
            <p14:sldId id="276"/>
          </p14:sldIdLst>
        </p14:section>
        <p14:section name="Sound and cartridges" id="{43efc0f9-31a2-021e-274c-e21362839319}">
          <p14:sldIdLst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Design principles" id="{dc845aae-bdd2-690f-cb44-ffd485c7b160}">
          <p14:sldIdLst>
            <p14:sldId id="284"/>
            <p14:sldId id="285"/>
            <p14:sldId id="286"/>
            <p14:sldId id="287"/>
          </p14:sldIdLst>
        </p14:section>
        <p14:section name="Closing" id="{b04fe397-5a71-064a-ce07-2edb07ddcea8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2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Mixing them produces bugs such as collisions detected only when an object happens to be drawn.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Collisions change state, so they belong to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20-pixel bands above and below the viewport are status bands owned by the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0xF800 red, 0x07E0 green, 0x001F blue, 0xFFE0 yellow, 0xFFFF white (65535 in decimal).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former RGB565 framebuffer needed 128,000 bytes; the indexed design saves 63,488. Source: PRG32 docs/hardware/memory.md.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Player two uses the same layout shifted into bits 8 to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bitmask mirrors how hardware presents buttons: as bits in a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0x01 | 0x10 = 0x11.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 of the code emitted by prg32/cartridge/build_cartridge.py.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flash a build-qemu image to a real board: it targets a display that does not exist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2: Design Principles and the Framework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 Design Principles and the PRG32 Framework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 loop, the three-function contract, the screen, input, sound, and cartridges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game as a loop over frames that reads, updates, and draws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three-function contract and why update and draw are separate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coordinate system and RGB565 colours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button in the input bitmask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portable cartridge is and how it reaches the machine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three design rules for first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433535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0023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0023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72576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2576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451832" y="1737360"/>
            <a:ext cx="94045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1832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game is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166214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4909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49094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783787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6666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966667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and colour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01361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84241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584241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018934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0181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01814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636508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938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819388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and targets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254082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43696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36962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is a loop that never ends until you tell it to.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of the loop is a frame: read, update, draw.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at start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time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set of variables that describe the game right now: positions, velocities, scores. Every rule of the game turns this frame's state into the next frame's.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draw are kept apart on purpose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change state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not draw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Movement, collisions, score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 without a screen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read state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not change game logic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then paint every object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be skipped without breaking rules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universal shape of a PRG32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&lt;prefix&gt;_init     runs once when the cartridge is selected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&lt;prefix&gt;_update   runs once per frame; changes game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&lt;prefix&gt;_draw     runs once per frame; renders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pong_graphics_init / _update / _draw     (assembly)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pong_c_init        / _update / _draw     (C)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names the game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does not care which language produced the symbols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a collision test belong?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init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update and draw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Coordinates, the viewport, and colour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coordinate system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94176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(152,92)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(319,199)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at the top-left corner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grows to the right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922776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grows downward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is 320 by 240; games draw in a centred 320 by 200 viewport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downward y axis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y is lower on the display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up means subtracting from 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adds to 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moves the wrong way, check the sign of your y change first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↓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early confusion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RGB565: a pixel in two bytes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 red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levels, in the top bits of the 16-bit word.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bits green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levels: the eye is most sensitive to green.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 blue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levels, in the low bits.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colours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RGB565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RGB565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PRG32_COLOR_BLACK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0x0000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PRG32_COLOR_YELLOW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0xffe0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PRG32_COLOR_WHITE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0xffff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PRG32_COLOR_CYAN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0x07ff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PRG32_COLOR_RED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0xf800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PRG32_COLOR_MAGENTA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0xf81f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PRG32_COLOR_GREEN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0x07e0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PRG32_COLOR_BLUE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name a colour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pass an RGB565 value to a drawing 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Indexed: set one of 256 palette entries, then draw with the index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board the framebuffer stores one byte per pixel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by 200 indices fit in 64,000 bytes of microcontroller RAM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entries; one byte per pixel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RGB565, bit by bit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3527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15..11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527012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35270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3527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075652" y="1764792"/>
            <a:ext cx="40403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10..5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075652" y="2148840"/>
            <a:ext cx="4040391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075652" y="3291840"/>
            <a:ext cx="404039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75652" y="3977640"/>
            <a:ext cx="4040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16043" y="1764792"/>
            <a:ext cx="3527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4..0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116043" y="2148840"/>
            <a:ext cx="3527012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116043" y="3291840"/>
            <a:ext cx="35270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16043" y="3977640"/>
            <a:ext cx="3527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= full red + full green = 1111 1111 1110 0000 = 0xFFE0. To build a colour: (r &lt;&lt; 11) | (g &lt;&lt; 5) | b, with r and b in 0..31 and g in 0..63.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pixels live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 framebuffer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64,000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palette index per viewport pixel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Palette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RGB565 entries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 strip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5,120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rows converted and sent at a time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drawing calls you will use most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973359"/>
                <a:gridCol w="61210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prg32_gfx_clear(color)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 the viewport with one colour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prg32_gfx_pixel(x,y,color)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one pixel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prg32_gfx_rect(x,y,w,h,color)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rectangle: the workhorse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prg32_gfx_text8(x,y,s,fg,bg)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string in 8 by 8 characters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prg32_sprite_hitbox(...)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Non-zero if two rectangles overlap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buttons in one integer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input bitmask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PRG32_BTN_LEFT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PRG32_BTN_RIGHT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PRG32_BTN_UP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PRG32_BTN_DOWN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PRG32_BTN_B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PRG32_BTN_START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with AND, never with equality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PRG32_BTN_LEFT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whenever the left bit is set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buttons may be held too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you want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== PRG32_BTN_LEFT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only if left is the only button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when A is also held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beginner bug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A are held. What does prg32_input_read return?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0x11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0x05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and cartridges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you can hear; games you can ship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Sound: a note when something happens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prg32_audio_note(channel, instrument, note, volume, ms)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is a MIDI number: 60 is middle C, 69 is A at 440 Hz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mixer channels; the call returns at once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prg32_buzzer_tone is legacy: silent on the current reference 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sound on events, never every frame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source to running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game.S or game.c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three functions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toolchain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and link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 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code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runtime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loads, validates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/ update / draw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runs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firmware is flashed once. Cartridges are then uploaded over Wi-Fi, staged into QEMU, or opened in PRG32-QT.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properties of a cartridge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runtime through a numbered ABI table (version 1.6, 139 entries), not fixed addresses. Survives firmware updates.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slots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persistent slots, cart0 to cart3. One runs at a time; A+B at boot opens setup.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Budgeted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 of executable memory by default; 32 and 128 KiB profiles exist. The build tool checks the limit.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cartridge header, byte by byte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866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374904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magic "PRG2"</a:t>
            </a:r>
            <a:endParaRPr lang="en-US" sz="1066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866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signature</a:t>
            </a:r>
            <a:endParaRPr lang="en-US" sz="1066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01952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866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01952"/>
            <a:ext cx="3291840" cy="374904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abi_major, abi_minor</a:t>
            </a:r>
            <a:endParaRPr lang="en-US" sz="1066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01952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866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01952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uint16</a:t>
            </a:r>
            <a:endParaRPr lang="en-US" sz="1066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340864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866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340864"/>
            <a:ext cx="3291840" cy="374904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header_size, flags</a:t>
            </a:r>
            <a:endParaRPr lang="en-US" sz="1066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340864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866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340864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100; bit 2 = ABI table</a:t>
            </a:r>
            <a:endParaRPr lang="en-US" sz="1066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79776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866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779776"/>
            <a:ext cx="3291840" cy="374904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load_addr</a:t>
            </a:r>
            <a:endParaRPr lang="en-US" sz="1066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779776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866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779776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0x40800000</a:t>
            </a:r>
            <a:endParaRPr lang="en-US" sz="1066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18688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866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218688"/>
            <a:ext cx="3291840" cy="374904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code_size, mem_size</a:t>
            </a:r>
            <a:endParaRPr lang="en-US" sz="1066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218688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bytes</a:t>
            </a:r>
            <a:endParaRPr lang="en-US" sz="866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218688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to copy; bytes to reserve</a:t>
            </a:r>
            <a:endParaRPr lang="en-US" sz="1066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657600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866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657600"/>
            <a:ext cx="3291840" cy="374904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init, update, draw offsets</a:t>
            </a:r>
            <a:endParaRPr lang="en-US" sz="1066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657600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bytes</a:t>
            </a:r>
            <a:endParaRPr lang="en-US" sz="866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657600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uint32 entry points</a:t>
            </a:r>
            <a:endParaRPr lang="en-US" sz="1066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096512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866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096512"/>
            <a:ext cx="3291840" cy="374904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payload_crc32</a:t>
            </a:r>
            <a:endParaRPr lang="en-US" sz="1066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096512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866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096512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of the code</a:t>
            </a:r>
            <a:endParaRPr lang="en-US" sz="1066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535424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866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535424"/>
            <a:ext cx="3291840" cy="374904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066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535424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bytes</a:t>
            </a:r>
            <a:endParaRPr lang="en-US" sz="866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535424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the menu</a:t>
            </a:r>
            <a:endParaRPr lang="en-US" sz="1066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974336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866" dirty="0"/>
          </a:p>
        </p:txBody>
      </p:sp>
      <p:sp>
        <p:nvSpPr>
          <p:cNvPr id="36" name="Text 34"/>
          <p:cNvSpPr txBox="1"/>
          <p:nvPr/>
        </p:nvSpPr>
        <p:spPr>
          <a:xfrm>
            <a:off x="1508760" y="4974336"/>
            <a:ext cx="3291840" cy="374904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abi_hash, features, isa, relocs, import_model</a:t>
            </a:r>
            <a:endParaRPr lang="en-US" sz="1066" dirty="0"/>
          </a:p>
        </p:txBody>
      </p:sp>
      <p:sp>
        <p:nvSpPr>
          <p:cNvPr id="37" name="Text 35"/>
          <p:cNvSpPr txBox="1"/>
          <p:nvPr/>
        </p:nvSpPr>
        <p:spPr>
          <a:xfrm>
            <a:off x="4937760" y="4974336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6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bytes</a:t>
            </a:r>
            <a:endParaRPr lang="en-US" sz="866" dirty="0"/>
          </a:p>
        </p:txBody>
      </p:sp>
      <p:sp>
        <p:nvSpPr>
          <p:cNvPr id="38" name="Text 36"/>
          <p:cNvSpPr txBox="1"/>
          <p:nvPr/>
        </p:nvSpPr>
        <p:spPr>
          <a:xfrm>
            <a:off x="6126480" y="4974336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6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version-2 fields: compatibility</a:t>
            </a:r>
            <a:endParaRPr lang="en-US" sz="1066" dirty="0"/>
          </a:p>
        </p:txBody>
      </p:sp>
      <p:sp>
        <p:nvSpPr>
          <p:cNvPr id="39" name="Shape 37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bytes in all. The host checks magic, CRC, ABI major, hash and features before a single instruction runs.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portable cartridge reaches the runtime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prg32_gfx_rect:                # one stub per runtime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       # where the table pointer was saved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t0, 0(t0)             # t0 = address of the ABI table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OFFSET(t0)        # OFFSET = 20 + index * 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t1                    # jump; a0..a7 untouched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prg32_entry_update:            # what the host really calls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   # the host passes the table in a0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pong_update           # your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generates 139 such stubs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firmware address is baked 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an empty cartridge is 2604 bytes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reference targets, concretely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directory build-esp32c6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ILI9341 display, joystick, I2S audio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arrive over Wi-Fi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emulator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 emulator profile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directory build-qemu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RGB screen, keyboard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are staged into flash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that separate students who succeed from students who struggle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 for first games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returns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init, update, draw so each returns at once. Build. Confirm it runs.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at a time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variable; draw it; move it; a boundary; a collision. Verify each by eye.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comes last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beep at the wrong time is a symptom. Get the visual logic solid first.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map of the example games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63063"/>
                <a:gridCol w="7831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teaches first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pong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State, input, boundaries, one collision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breakout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Arrays of objects, removal on hit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space_invaders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moving objects, waves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tetris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fixed grid, line clears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platformer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flags, gravity, camera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raycaster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Fixed-point arithmetic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Checkpoint: answer without looking back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three functions every PRG32 game provides?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which direction does y grow?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test whether one button is pressed?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portable cartridge?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must QEMU and board builds use separate directories?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3: install the toolchain and build the firmware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laptop with 5 GB free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 the three-function contract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2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docs/software/framework_manual.md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docs/usage/profiles.md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 Design Principles and the PRG32 Framework - lecture</dc:title>
  <dc:subject>Chapter 2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