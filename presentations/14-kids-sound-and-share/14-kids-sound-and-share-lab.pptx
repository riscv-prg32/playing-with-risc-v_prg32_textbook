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9ecaa782-a36a-f5bd-6123-67425f9113f5}">
          <p14:sldIdLst>
            <p14:sldId id="256"/>
            <p14:sldId id="257"/>
            <p14:sldId id="258"/>
            <p14:sldId id="259"/>
          </p14:sldIdLst>
        </p14:section>
        <p14:section name="Mission 4" id="{d1c9abec-cbde-5452-9cf1-6c7e7d96a17c}">
          <p14:sldIdLst>
            <p14:sldId id="260"/>
            <p14:sldId id="261"/>
            <p14:sldId id="262"/>
            <p14:sldId id="263"/>
            <p14:sldId id="264"/>
          </p14:sldIdLst>
        </p14:section>
        <p14:section name="The Music Pad" id="{fc306685-78a3-f758-6dea-89dc4a209130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Sprite Lab" id="{9c03b1b4-333e-f9f8-3f33-2865527c07f3}">
          <p14:sldIdLst>
            <p14:sldId id="274"/>
            <p14:sldId id="275"/>
            <p14:sldId id="276"/>
          </p14:sldIdLst>
        </p14:section>
        <p14:section name="Peek at the C" id="{be210be6-edb6-c4f2-afc0-354aa1310082}">
          <p14:sldIdLst>
            <p14:sldId id="277"/>
            <p14:sldId id="278"/>
            <p14:sldId id="279"/>
          </p14:sldIdLst>
        </p14:section>
        <p14:section name="Mission 5" id="{a21d6c43-7392-d39b-ddaa-3c9ca8ce89f9}">
          <p14:sldIdLst>
            <p14:sldId id="280"/>
            <p14:sldId id="281"/>
            <p14:sldId id="282"/>
            <p14:sldId id="283"/>
            <p14:sldId id="284"/>
            <p14:sldId id="285"/>
          </p14:sldIdLst>
        </p14:section>
        <p14:section name="Closing" id="{a7f74db1-1b33-82e8-6125-7392428e131e}">
          <p14:sldIdLst>
            <p14:sldId id="2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14 of the textbook. Practical, step-by-step session: learners work at their machines; keep each step to its time box. Preparation: Headphones or low speaker volume. Decide beforehand whether Compile Cartridge will produce real cartridges (toolchain) and whether you will publish to a school Store. Reference: music_pad.blocks.json.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+= means add 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14: Sound, Pictures, Sharing  |  Lab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14  |  LABORATORY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Missions 4 and 5 Workshop: Sound It, Draw It, Share It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beeps, build the Music Pad, paint a sprite, peek at the C, and make a cartridge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children aged 7 and over, led by a teacher (read aloud for the youngest)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 you will learn to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happy beep and a sad beep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Music Pad</a:t>
            </a:r>
            <a:endParaRPr lang="en-US" sz="2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and save a sprite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one of your blocks in the C</a:t>
            </a:r>
            <a:endParaRPr lang="en-US" sz="2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cartridge and share it with your teacher</a:t>
            </a: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of 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926620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520980" y="1737360"/>
            <a:ext cx="2912791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20980" y="1737360"/>
            <a:ext cx="291279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79491" y="1737360"/>
            <a:ext cx="2173163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79491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698374" y="1737360"/>
            <a:ext cx="1186993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698374" y="1737360"/>
            <a:ext cx="118699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931087" y="1737360"/>
            <a:ext cx="2666248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931087" y="1737360"/>
            <a:ext cx="26662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Beeps in Lemon Catcher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813243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6123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996123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 Pad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077846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6072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60726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Sprite Lab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42449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2532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525329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Peek at the C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607052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9932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789932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 and showcase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work today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 on, but quiet!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and navigator, swapping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Build, Play, listen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often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Mission 4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a happy beep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5760720" cy="566928"/>
          </a:xfrm>
          <a:prstGeom prst="roundRect">
            <a:avLst>
              <a:gd name="adj" fmla="val 16129"/>
            </a:avLst>
          </a:prstGeom>
          <a:solidFill>
            <a:srgbClr val="B23A48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rect lemon_x lemon_y 10 10 touches rect basket_x 180 32 8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2286000"/>
            <a:ext cx="2439162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score by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926080"/>
            <a:ext cx="3255264" cy="566928"/>
          </a:xfrm>
          <a:prstGeom prst="roundRect">
            <a:avLst>
              <a:gd name="adj" fmla="val 16129"/>
            </a:avLst>
          </a:prstGeom>
          <a:solidFill>
            <a:srgbClr val="A03A8A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beep freq 880 ms 80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1463040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Lemon Catcher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2692908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'caught' block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3922776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Audio drawer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5152644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 the beep inside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Happy and sad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'play beep freq 880 ms 80' inside the caught block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'play beep freq 220 ms 150' inside the missed block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and Play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your eyes: catch or miss?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high short beep for a catch, a low longer beep for a miss.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880 to 1760. Higher or lower?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80 to 500. What changed?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sounds you like best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freq is higher. Bigger ms is longer.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Noise on purpose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a beep block out and put it alone in update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for two seconds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it back inside the if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2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horrible buzzing! A beep every frame is noise. Sounds go inside an if.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Music Pad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project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the Music Pad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Project: Music Pad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game starts: set marker_x to 400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2 min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project with one start block.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Draw the pads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2322576" cy="566928"/>
          </a:xfrm>
          <a:prstGeom prst="roundRect">
            <a:avLst>
              <a:gd name="adj" fmla="val 16129"/>
            </a:avLst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frame draw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2286000"/>
            <a:ext cx="255574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screen BLACK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926080"/>
            <a:ext cx="5349240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rectangle x 40 y 80 w 48 h 48 color BLUE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3566160"/>
            <a:ext cx="5292090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rectangle x 104 y 80 w 48 h 48 color GREEN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206240"/>
            <a:ext cx="5349240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rectangle x 168 y 80 w 48 h 48 color RED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4846320"/>
            <a:ext cx="5329809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rectangle x 232 y 80 w 48 h 48 color MAGENTA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486400"/>
            <a:ext cx="5271516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rectangle x marker_x y 136 w 48 h 6 color WHITE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1463040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pads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3102864"/>
            <a:ext cx="368777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x changes: 40, 104, 168, 232</a:t>
            </a:r>
            <a:endParaRPr lang="en-US" sz="2700" dirty="0"/>
          </a:p>
        </p:txBody>
      </p:sp>
      <p:sp>
        <p:nvSpPr>
          <p:cNvPr id="15" name="Text 13"/>
          <p:cNvSpPr txBox="1"/>
          <p:nvPr/>
        </p:nvSpPr>
        <p:spPr>
          <a:xfrm>
            <a:off x="722376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0" y="4742688"/>
            <a:ext cx="368777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last one is the marker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look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draw blocks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and Play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5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coloured squares in a row. No white bar: it is hiding at x = 400.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 the notes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2297750" cy="486918"/>
          </a:xfrm>
          <a:prstGeom prst="roundRect">
            <a:avLst>
              <a:gd name="adj" fmla="val 18779"/>
            </a:avLst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491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frame update</a:t>
            </a:r>
            <a:endParaRPr lang="en-US" sz="1491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2205990"/>
            <a:ext cx="2400003" cy="486918"/>
          </a:xfrm>
          <a:prstGeom prst="roundRect">
            <a:avLst>
              <a:gd name="adj" fmla="val 1877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491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marker_x to 400</a:t>
            </a:r>
            <a:endParaRPr lang="en-US" sz="1491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766060"/>
            <a:ext cx="2706761" cy="486918"/>
          </a:xfrm>
          <a:prstGeom prst="roundRect">
            <a:avLst>
              <a:gd name="adj" fmla="val 18779"/>
            </a:avLst>
          </a:prstGeom>
          <a:solidFill>
            <a:srgbClr val="B23A48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491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button LEFT pressed</a:t>
            </a:r>
            <a:endParaRPr lang="en-US" sz="1491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3326130"/>
            <a:ext cx="2297750" cy="486918"/>
          </a:xfrm>
          <a:prstGeom prst="roundRect">
            <a:avLst>
              <a:gd name="adj" fmla="val 1877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491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marker_x to 40</a:t>
            </a:r>
            <a:endParaRPr lang="en-US" sz="1491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3886200"/>
            <a:ext cx="4649564" cy="486918"/>
          </a:xfrm>
          <a:prstGeom prst="roundRect">
            <a:avLst>
              <a:gd name="adj" fmla="val 18779"/>
            </a:avLst>
          </a:prstGeom>
          <a:solidFill>
            <a:srgbClr val="A03A8A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491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MIDI note 60 on channel 0 for 120 ms</a:t>
            </a:r>
            <a:endParaRPr lang="en-US" sz="1491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4446270"/>
            <a:ext cx="2502256" cy="486918"/>
          </a:xfrm>
          <a:prstGeom prst="roundRect">
            <a:avLst>
              <a:gd name="adj" fmla="val 18779"/>
            </a:avLst>
          </a:prstGeom>
          <a:solidFill>
            <a:srgbClr val="B23A48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491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button UP pressed</a:t>
            </a:r>
            <a:endParaRPr lang="en-US" sz="1491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5006340"/>
            <a:ext cx="2400003" cy="486918"/>
          </a:xfrm>
          <a:prstGeom prst="roundRect">
            <a:avLst>
              <a:gd name="adj" fmla="val 1877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491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marker_x to 104</a:t>
            </a:r>
            <a:endParaRPr lang="en-US" sz="1491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5566410"/>
            <a:ext cx="4649564" cy="486918"/>
          </a:xfrm>
          <a:prstGeom prst="roundRect">
            <a:avLst>
              <a:gd name="adj" fmla="val 18779"/>
            </a:avLst>
          </a:prstGeom>
          <a:solidFill>
            <a:srgbClr val="A03A8A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491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MIDI note 64 on channel 0 for 120 ms</a:t>
            </a:r>
            <a:endParaRPr lang="en-US" sz="1491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1463040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these first</a:t>
            </a:r>
            <a:endParaRPr lang="en-US" sz="27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955280" y="3102864"/>
            <a:ext cx="368777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add RIGHT: 168, note 67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722376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4742688"/>
            <a:ext cx="368777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add A: 232, note 72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music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update with all four buttons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and Play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LEFT, UP, RIGHT, A in order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6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7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rising notes, and the white bar jumps under each pad.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Music Pad, for real</a:t>
            </a:r>
            <a:endParaRPr lang="en-US" sz="3000" dirty="0"/>
          </a:p>
        </p:txBody>
      </p:sp>
      <p:pic>
        <p:nvPicPr>
          <p:cNvPr id="3" name="Image 0" descr="UP held: the white bar is under the green p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04008" y="1463040"/>
            <a:ext cx="6583680" cy="4114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held: the white bar is under the green pad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Playing UP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75488" y="1938528"/>
            <a:ext cx="5998464" cy="3803904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011680"/>
            <a:ext cx="5852160" cy="36576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80160" y="3474720"/>
            <a:ext cx="877824" cy="877824"/>
          </a:xfrm>
          <a:prstGeom prst="rect">
            <a:avLst/>
          </a:prstGeom>
          <a:solidFill>
            <a:srgbClr val="0000F8"/>
          </a:solidFill>
          <a:ln w="12700">
            <a:solidFill>
              <a:srgbClr val="0000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450592" y="3474720"/>
            <a:ext cx="877824" cy="877824"/>
          </a:xfrm>
          <a:prstGeom prst="rect">
            <a:avLst/>
          </a:prstGeom>
          <a:solidFill>
            <a:srgbClr val="00FC00"/>
          </a:solidFill>
          <a:ln w="12700">
            <a:solidFill>
              <a:srgbClr val="00FC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21024" y="3474720"/>
            <a:ext cx="877824" cy="877824"/>
          </a:xfrm>
          <a:prstGeom prst="rect">
            <a:avLst/>
          </a:prstGeom>
          <a:solidFill>
            <a:srgbClr val="F80000"/>
          </a:solidFill>
          <a:ln w="12700">
            <a:solidFill>
              <a:srgbClr val="F8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91456" y="3474720"/>
            <a:ext cx="877824" cy="877824"/>
          </a:xfrm>
          <a:prstGeom prst="rect">
            <a:avLst/>
          </a:prstGeom>
          <a:solidFill>
            <a:srgbClr val="F800F8"/>
          </a:solidFill>
          <a:ln w="12700">
            <a:solidFill>
              <a:srgbClr val="F800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50592" y="4498848"/>
            <a:ext cx="877824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577900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 x 200 game viewport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85800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589520" y="1463040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is the green pad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589520" y="3102864"/>
            <a:ext cx="405353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white bar is under it</a:t>
            </a:r>
            <a:endParaRPr lang="en-US" sz="27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589520" y="4742688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hear note 64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own tune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four note numbers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note table: 60 62 64 65 67 69 71 72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your tune to another pair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7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four-note tune of your own that another pair can play back.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Sprite Lab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 with pixels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lemon with a face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Sprite Lab at the top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Sprite: name it lemon, 16 by 16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 a yellow lemon; give it eyes and a smile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Save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8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7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16 by 16 picture, saved with your name on it.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 the pixels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pixels across?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down?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altogether? (16 times 16)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Convert to C: how many numbers do you see?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9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2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across, 16 down, 256 in all. The C shows 256 numbers: one for each pixel.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Peek at the C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blocks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your blocks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Lemon Catcher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Generate C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line for 'change score by 1'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lines for 'keep basket_x between 0 and 288'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10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+= 1; and two lines that start with if. One block can become more than one line.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question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C, 'change score by 1' is written...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1;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+= 1;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== 1;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(score)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Mission 5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game on a cartridge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ready to share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your best game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 title: is it a good name?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no full names, no private things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it once more from the start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11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game you are proud of, with a title that is kind and safe.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the cartridge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Compile Cartridge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for the message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for the green download buttons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buttons mean a real cartridge was made. If there are none, your teacher will explain the source bundle.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 with your teacher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your teacher over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Publish page together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Publish next to your game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teacher checks it and says yes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13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game is waiting for review, then it appears in the class Store.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Showcase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seats with another pair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their game for two minutes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them one thing you liked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them one idea to make it even better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14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game has been played by someone who did not make it.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are a game maker!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Sounds that mean something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1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8295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musical instrument</a:t>
            </a:r>
            <a:endParaRPr lang="en-US" sz="2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10286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sprite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read real C</a:t>
            </a:r>
            <a:endParaRPr lang="en-US" sz="2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74268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cartridge with your game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80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56260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shared it safely</a:t>
            </a: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time, and for grown-ups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time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making games: there are more examples on the Kit's home page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your game to your family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day: try writing the C yourself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grown-ups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Part IV (pupil chapters) and Chapter 15 (teacher's guide)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Construction Kit: github.com/riscv-prg32/PRG32-Construction-Kit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projects: examples/blocks_first_steps/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Unplugged activities (Bell et al.)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Missions 4 and 5 Workshop: Sound It, Draw It, Share It - lab</dc:title>
  <dc:subject>Chapter 14</dc:subject>
  <dc:creator>Playing with RISC-V (PRG32 textbook)</dc:creator>
  <cp:lastModifiedBy>Playing with RISC-V (PRG32 textbook)</cp:lastModifiedBy>
  <cp:revision>1</cp:revision>
  <dcterms:created xsi:type="dcterms:W3CDTF">2026-10-05T15:59:15Z</dcterms:created>
  <dcterms:modified xsi:type="dcterms:W3CDTF">2026-10-05T15:59:15Z</dcterms:modified>
</cp:coreProperties>
</file>