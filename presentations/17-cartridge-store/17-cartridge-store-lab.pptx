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ca0f4e81-a587-cc42-829f-f1419d540e4b}">
          <p14:sldIdLst>
            <p14:sldId id="256"/>
            <p14:sldId id="257"/>
            <p14:sldId id="258"/>
            <p14:sldId id="259"/>
          </p14:sldIdLst>
        </p14:section>
        <p14:section name="Account and token" id="{6dbf4274-41f4-3f0f-7242-36760314fd9a}">
          <p14:sldIdLst>
            <p14:sldId id="260"/>
            <p14:sldId id="261"/>
            <p14:sldId id="262"/>
            <p14:sldId id="263"/>
          </p14:sldIdLst>
        </p14:section>
        <p14:section name="Build and describe" id="{22dc2a0d-b49b-e7fd-cfd7-e6deb247f83a}">
          <p14:sldIdLst>
            <p14:sldId id="264"/>
            <p14:sldId id="265"/>
            <p14:sldId id="266"/>
            <p14:sldId id="267"/>
            <p14:sldId id="268"/>
          </p14:sldIdLst>
        </p14:section>
        <p14:section name="Submit" id="{8762ff99-7fa6-7b79-ff9b-04080bf497ea}">
          <p14:sldIdLst>
            <p14:sldId id="269"/>
            <p14:sldId id="270"/>
            <p14:sldId id="271"/>
            <p14:sldId id="272"/>
          </p14:sldIdLst>
        </p14:section>
        <p14:section name="Review" id="{ea5b80ec-29e4-bdfc-d71a-91e79c4bbac5}">
          <p14:sldIdLst>
            <p14:sldId id="273"/>
            <p14:sldId id="274"/>
            <p14:sldId id="275"/>
            <p14:sldId id="276"/>
            <p14:sldId id="277"/>
          </p14:sldIdLst>
        </p14:section>
        <p14:section name="Visitor and scores" id="{16e3fe61-b1b2-dacc-e935-24d21e971860}">
          <p14:sldIdLst>
            <p14:sldId id="278"/>
            <p14:sldId id="279"/>
            <p14:sldId id="280"/>
            <p14:sldId id="281"/>
          </p14:sldIdLst>
        </p14:section>
        <p14:section name="Your own Store" id="{da735bff-004e-b16e-cd8d-90775f7c3c2e}">
          <p14:sldIdLst>
            <p14:sldId id="282"/>
            <p14:sldId id="283"/>
            <p14:sldId id="284"/>
            <p14:sldId id="285"/>
          </p14:sldIdLst>
        </p14:section>
        <p14:section name="Closing" id="{9b7c3243-bc65-c90b-6899-4b2cd1defbb0}">
          <p14:sldIdLst>
            <p14:sldId id="28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support for Chapter 17 of the textbook. Practical, step-by-step session: learners work at their machines; keep each step to its time box. Preparation: A classroom Cartridge Store (docker compose up, or python app.py with SECRET_KEY set) on the lab network; default admin password changed. Every command and reply on these slides was run against a local Store.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the objectives; return to this slide at the 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Total: 45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C. Revoke and recreate it if it leaks.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scripts/store/build_variants.sh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examples/store_publishing/manifest.json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Output captured from a real run.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Output captured from a real run.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scripts/store/admin_deploy.sh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Playing with RISC-V  |  Chapter 17: The Cartridge Store  |  Lab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B2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731520"/>
            <a:ext cx="218724" cy="218724"/>
          </a:xfrm>
          <a:prstGeom prst="rect">
            <a:avLst/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" y="731520"/>
            <a:ext cx="218724" cy="21872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6384" y="969264"/>
            <a:ext cx="218724" cy="218724"/>
          </a:xfrm>
          <a:prstGeom prst="rect">
            <a:avLst/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4128" y="969264"/>
            <a:ext cx="218724" cy="21872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207008"/>
            <a:ext cx="218724" cy="218724"/>
          </a:xfrm>
          <a:prstGeom prst="rect">
            <a:avLst/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9202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17  |  LABORATORY  |  45 MINUTES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377440"/>
            <a:ext cx="1109441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Publishing Lab: Submit, Review, Download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2519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complete, reproducible publishing cycle on a classroom Store, with the real replies of every command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5778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Audience: computer architecture and programming students (both tracks), teachers, and Store staff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94360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8FA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Playing with RISC-V: Assembly, C, and Retro Games on the PRG32 Platform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463040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and create a publication token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3012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282952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Build, describe, pack and submit a bundle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12115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102864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a submission and see what an editor cannot change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94106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3922776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as a visitor and run the game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76097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4742688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a score and read the scoreboard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58088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5562600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Optional: run a Store of your own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of the session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1680078" cy="822960"/>
          </a:xfrm>
          <a:prstGeom prst="rect">
            <a:avLst/>
          </a:prstGeom>
          <a:solidFill>
            <a:srgbClr val="2E4A62"/>
          </a:solidFill>
          <a:ln w="12700">
            <a:solidFill>
              <a:srgbClr val="2E4A6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737360"/>
            <a:ext cx="16800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7'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274438" y="1737360"/>
            <a:ext cx="2419706" cy="82296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274438" y="1737360"/>
            <a:ext cx="241970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10'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739864" y="1737360"/>
            <a:ext cx="1433535" cy="822960"/>
          </a:xfrm>
          <a:prstGeom prst="rect">
            <a:avLst/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739864" y="1737360"/>
            <a:ext cx="1433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6'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219119" y="1737360"/>
            <a:ext cx="2173163" cy="822960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19119" y="1737360"/>
            <a:ext cx="217316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9'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8438002" y="1737360"/>
            <a:ext cx="1680078" cy="822960"/>
          </a:xfrm>
          <a:prstGeom prst="rect">
            <a:avLst/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438002" y="1737360"/>
            <a:ext cx="16800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7'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10163800" y="1737360"/>
            <a:ext cx="1433535" cy="822960"/>
          </a:xfrm>
          <a:prstGeom prst="rect">
            <a:avLst/>
          </a:prstGeom>
          <a:solidFill>
            <a:srgbClr val="B23A48"/>
          </a:solidFill>
          <a:ln w="12700">
            <a:solidFill>
              <a:srgbClr val="B23A4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163800" y="1737360"/>
            <a:ext cx="1433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6'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548640" y="3017520"/>
            <a:ext cx="1658569" cy="3200400"/>
          </a:xfrm>
          <a:prstGeom prst="roundRect">
            <a:avLst>
              <a:gd name="adj" fmla="val 4411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3200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3749040"/>
            <a:ext cx="1292809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and token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2435809" y="3017520"/>
            <a:ext cx="1658569" cy="3200400"/>
          </a:xfrm>
          <a:prstGeom prst="roundRect">
            <a:avLst>
              <a:gd name="adj" fmla="val 4411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618689" y="3200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2618689" y="3749040"/>
            <a:ext cx="1292809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and describe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4322978" y="3017520"/>
            <a:ext cx="1658569" cy="3200400"/>
          </a:xfrm>
          <a:prstGeom prst="roundRect">
            <a:avLst>
              <a:gd name="adj" fmla="val 4411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505858" y="3200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505858" y="3749040"/>
            <a:ext cx="1292809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6210148" y="3017520"/>
            <a:ext cx="1658569" cy="3200400"/>
          </a:xfrm>
          <a:prstGeom prst="roundRect">
            <a:avLst>
              <a:gd name="adj" fmla="val 4411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393028" y="3200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393028" y="3749040"/>
            <a:ext cx="1292809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8097317" y="3017520"/>
            <a:ext cx="1658569" cy="3200400"/>
          </a:xfrm>
          <a:prstGeom prst="roundRect">
            <a:avLst>
              <a:gd name="adj" fmla="val 4411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280197" y="3200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8280197" y="3749040"/>
            <a:ext cx="1292809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Visitor and scores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9984486" y="3017520"/>
            <a:ext cx="1658569" cy="3200400"/>
          </a:xfrm>
          <a:prstGeom prst="roundRect">
            <a:avLst>
              <a:gd name="adj" fmla="val 4411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0167366" y="3200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B23A48"/>
          </a:solidFill>
          <a:ln>
            <a:solidFill>
              <a:srgbClr val="B23A4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10167366" y="3749040"/>
            <a:ext cx="1292809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own Store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Roles in this lab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463040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start as a registered user and submit a game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1119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692908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you are editor for a neighbour's submission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4106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922776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a visitor, downloading what was published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17093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5152644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 export PRG32_STORE_URL=http://STORE-ADDRESS:5080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6FCF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3464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Account and token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user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Register and log in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1463040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Store in a browser; choose Register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11505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3096768"/>
            <a:ext cx="6446520" cy="1487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your e-mail; follow the verification link; set a password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74878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730496"/>
            <a:ext cx="6446520" cy="1487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in: Publish and Tokens appear in the navigation bar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8092440" y="1463040"/>
            <a:ext cx="3550615" cy="1143000"/>
          </a:xfrm>
          <a:prstGeom prst="roundRect">
            <a:avLst>
              <a:gd name="adj" fmla="val 6400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21040" y="1600200"/>
            <a:ext cx="3093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1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8321040" y="2084832"/>
            <a:ext cx="3093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4 min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092440" y="2788920"/>
            <a:ext cx="3550615" cy="3429000"/>
          </a:xfrm>
          <a:prstGeom prst="roundRect">
            <a:avLst>
              <a:gd name="adj" fmla="val 213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21040" y="2880360"/>
            <a:ext cx="3093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8321040" y="3246120"/>
            <a:ext cx="3093415" cy="2862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logged-in session. Without SMTP on the Store, the instructor reads the link from the server log.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 a publication token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1463040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Tokens; label: your machine's name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066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2688336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token and copy it now: it is shown once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3192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234440" y="3913632"/>
            <a:ext cx="6537960" cy="702564"/>
          </a:xfrm>
          <a:prstGeom prst="roundRect">
            <a:avLst>
              <a:gd name="adj" fmla="val 10412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417320" y="4023360"/>
            <a:ext cx="6172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PRG32_STORE_TOKEN=prg32_...   (in the shell, not in a file)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15721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234440" y="5138928"/>
            <a:ext cx="6537960" cy="702564"/>
          </a:xfrm>
          <a:prstGeom prst="roundRect">
            <a:avLst>
              <a:gd name="adj" fmla="val 10412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417320" y="5248656"/>
            <a:ext cx="6172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-H "Authorization: Bearer $PRG32_STORE_TOKEN" $PRG32_STORE_URL/auth/me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092440" y="1463040"/>
            <a:ext cx="3550615" cy="1143000"/>
          </a:xfrm>
          <a:prstGeom prst="roundRect">
            <a:avLst>
              <a:gd name="adj" fmla="val 6400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21040" y="1600200"/>
            <a:ext cx="3093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2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8321040" y="2084832"/>
            <a:ext cx="3093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4 min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092440" y="2788920"/>
            <a:ext cx="3550615" cy="3429000"/>
          </a:xfrm>
          <a:prstGeom prst="roundRect">
            <a:avLst>
              <a:gd name="adj" fmla="val 213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321040" y="2880360"/>
            <a:ext cx="3093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321040" y="3246120"/>
            <a:ext cx="3093415" cy="2862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/auth/me answers with "authenticated": true and your username.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your understanding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should the token be stored?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288036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343814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297180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manifest.json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210148" y="288036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93028" y="343814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033108" y="297180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Git repository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48640" y="466344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52212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475488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an environment variable or a secrets manager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6210148" y="466344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93028" y="52212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033108" y="475488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cartridge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6FCF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3464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and describe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game, two variants, one manifest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both variants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740664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45920"/>
            <a:ext cx="69494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#!/usr/bin/env bash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Run from the PRG32 repository root after sourcing ESP-IDF.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Builds one portable cartridge per Store architecture.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mkdir -p build/store-lemon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ARCH in esp32c6 qemu; do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python3 -m prg32 cartridge build work/lemon_catcher_c_game.c \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--portable --architecture "$ARCH" \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--entry-prefix lemon_catcher_c --name lemon-catcher \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--out "build/store-lemon/lemon-catcher-$ARCH.prg32"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done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cartridge summary build/store-lemon/lemon-catcher-esp32c6.prg32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8229600" y="1463040"/>
            <a:ext cx="341345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394192" y="162763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915400" y="1600200"/>
            <a:ext cx="254477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from $PRG32_HOME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229600" y="3115056"/>
            <a:ext cx="341345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394192" y="32796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915400" y="3252216"/>
            <a:ext cx="254477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copy examples/complete/lemon_catcher_c_game.c to work/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229600" y="4767072"/>
            <a:ext cx="341345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94192" y="493166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915400" y="4904232"/>
            <a:ext cx="254477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files in build/store-lemon/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234440" y="1463040"/>
            <a:ext cx="6537960" cy="934974"/>
          </a:xfrm>
          <a:prstGeom prst="roundRect">
            <a:avLst>
              <a:gd name="adj" fmla="val 7824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417320" y="1572768"/>
            <a:ext cx="6172200" cy="1304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$PRG32_HOME &amp;&amp; mkdir -p work &amp;&amp; cp ../Playing-with-RISC-V_PRG32_textbook/examples/complete/lemon_catcher_c_game.c work/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11505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3096768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loop from the previous slide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74878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234440" y="4730496"/>
            <a:ext cx="6537960" cy="470154"/>
          </a:xfrm>
          <a:prstGeom prst="roundRect">
            <a:avLst>
              <a:gd name="adj" fmla="val 15559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417320" y="4840224"/>
            <a:ext cx="6172200" cy="1304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 -l build/store-lemon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092440" y="1463040"/>
            <a:ext cx="3550615" cy="1143000"/>
          </a:xfrm>
          <a:prstGeom prst="roundRect">
            <a:avLst>
              <a:gd name="adj" fmla="val 6400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21040" y="1600200"/>
            <a:ext cx="3093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3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8321040" y="2084832"/>
            <a:ext cx="3093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5 min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092440" y="2788920"/>
            <a:ext cx="3550615" cy="3429000"/>
          </a:xfrm>
          <a:prstGeom prst="roundRect">
            <a:avLst>
              <a:gd name="adj" fmla="val 213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21040" y="2880360"/>
            <a:ext cx="3093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321040" y="3246120"/>
            <a:ext cx="3093415" cy="2862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lemon-catcher-esp32c6.prg32 and lemon-catcher-qemu.prg32, 3432 bytes each.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manifest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740664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45920"/>
            <a:ext cx="69494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"abi": "prg32-metadata-1.0",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"id": "org.example.lemon-catcher",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"title": "Lemon Catcher",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"version": "1.0.0",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"summary": "Catch the falling lemons with your basket.",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"description": "A first cartridge from the Playing with RISC-V textbook. Move the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basket with LEFT and RIGHT; five misses end the round.",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"authors": [{"name": "Your Name"}],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"license": "MIT",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"tags": ["arcade", "education", "textbook"],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"assets": {"icon": "icon.png"},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"architectures": [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{"id": "esp32c6", "file": "lemon-catcher-esp32c6.prg32"},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{"id": "qemu", "file": "lemon-catcher-qemu.prg32"}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0" y="1463040"/>
            <a:ext cx="341345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394192" y="162763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915400" y="1600200"/>
            <a:ext cx="254477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id, authors, summary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229600" y="3115056"/>
            <a:ext cx="341345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394192" y="32796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915400" y="3252216"/>
            <a:ext cx="254477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names must match the two cartridges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229600" y="4767072"/>
            <a:ext cx="341345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94192" y="493166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915400" y="4904232"/>
            <a:ext cx="254477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assets.icon names a PNG beside it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Describe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234440" y="1463040"/>
            <a:ext cx="6537960" cy="934974"/>
          </a:xfrm>
          <a:prstGeom prst="roundRect">
            <a:avLst>
              <a:gd name="adj" fmla="val 7824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417320" y="1572768"/>
            <a:ext cx="6172200" cy="1304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 ../Playing-with-RISC-V_PRG32_textbook/examples/store_publishing/manifest.json build/store-lemon/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11505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234440" y="3096768"/>
            <a:ext cx="6537960" cy="934974"/>
          </a:xfrm>
          <a:prstGeom prst="roundRect">
            <a:avLst>
              <a:gd name="adj" fmla="val 7824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417320" y="3206496"/>
            <a:ext cx="6172200" cy="1304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 ../Playing-with-RISC-V_PRG32_textbook/examples/store_publishing/icon.png build/store-lemon/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74878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4730496"/>
            <a:ext cx="6446520" cy="1487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the manifest: set "id" to org.example.YOURNAME.lemon and your name in authors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8092440" y="1463040"/>
            <a:ext cx="3550615" cy="1143000"/>
          </a:xfrm>
          <a:prstGeom prst="roundRect">
            <a:avLst>
              <a:gd name="adj" fmla="val 6400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21040" y="1600200"/>
            <a:ext cx="3093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4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8321040" y="2084832"/>
            <a:ext cx="3093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5 min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092440" y="2788920"/>
            <a:ext cx="3550615" cy="3429000"/>
          </a:xfrm>
          <a:prstGeom prst="roundRect">
            <a:avLst>
              <a:gd name="adj" fmla="val 213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21040" y="2880360"/>
            <a:ext cx="3093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321040" y="3246120"/>
            <a:ext cx="3093415" cy="2862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files in build/store-lemon: manifest.json, icon.png and two cartridges. The id must be unique in the Store.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6FCF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3464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Submit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the review queue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Pack the bundle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234440" y="1463040"/>
            <a:ext cx="6537960" cy="934974"/>
          </a:xfrm>
          <a:prstGeom prst="roundRect">
            <a:avLst>
              <a:gd name="adj" fmla="val 7824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417320" y="1572768"/>
            <a:ext cx="6172200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store pack-bundle --manifest build/store-lemon/manifest.json --out build/lemon-catcher-1.0.0.zip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93192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234440" y="3913632"/>
            <a:ext cx="6537960" cy="470154"/>
          </a:xfrm>
          <a:prstGeom prst="roundRect">
            <a:avLst>
              <a:gd name="adj" fmla="val 15559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417320" y="4023360"/>
            <a:ext cx="6172200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unzip -l build/lemon-catcher-1.0.0.zip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092440" y="1463040"/>
            <a:ext cx="3550615" cy="1143000"/>
          </a:xfrm>
          <a:prstGeom prst="roundRect">
            <a:avLst>
              <a:gd name="adj" fmla="val 6400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21040" y="1600200"/>
            <a:ext cx="3093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5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8321040" y="2084832"/>
            <a:ext cx="3093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3 min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092440" y="2788920"/>
            <a:ext cx="3550615" cy="3429000"/>
          </a:xfrm>
          <a:prstGeom prst="roundRect">
            <a:avLst>
              <a:gd name="adj" fmla="val 213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21040" y="2880360"/>
            <a:ext cx="3093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8321040" y="3246120"/>
            <a:ext cx="3093415" cy="2862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ZIP of four files, 7752 bytes of content: manifest.json 603, icon.png 285, two cartridges of 3432.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Publish it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234440" y="1463040"/>
            <a:ext cx="6537960" cy="934974"/>
          </a:xfrm>
          <a:prstGeom prst="roundRect">
            <a:avLst>
              <a:gd name="adj" fmla="val 7824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417320" y="1572768"/>
            <a:ext cx="6172200" cy="1304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store publish-bundle build/lemon-catcher-1.0.0.zip --store-url $PRG32_STORE_URL --token $PRG32_STORE_TOKEN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11505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3096768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reply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74878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4730496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for your game in the Store's web page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8092440" y="1463040"/>
            <a:ext cx="3550615" cy="1143000"/>
          </a:xfrm>
          <a:prstGeom prst="roundRect">
            <a:avLst>
              <a:gd name="adj" fmla="val 6400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21040" y="1600200"/>
            <a:ext cx="3093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6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8321040" y="2084832"/>
            <a:ext cx="3093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3 min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092440" y="2788920"/>
            <a:ext cx="3550615" cy="3429000"/>
          </a:xfrm>
          <a:prstGeom prst="roundRect">
            <a:avLst>
              <a:gd name="adj" fmla="val 213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21040" y="2880360"/>
            <a:ext cx="3093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321040" y="3246120"/>
            <a:ext cx="3093415" cy="2862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 lists the two architectures and ends with 'Submitted for review'. The game is NOT in the catalogue yet.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publish-bundle prints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740664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45920"/>
            <a:ext cx="69494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"architecture": "esp32c6",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"file": "lemon-catcher-esp32c6.prg32"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"architecture": "qemu",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"file": "lemon-catcher-qemu.prg32"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Submitted for review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229600" y="1463040"/>
            <a:ext cx="3413455" cy="2276856"/>
          </a:xfrm>
          <a:prstGeom prst="roundRect">
            <a:avLst>
              <a:gd name="adj" fmla="val 321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394192" y="162763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915400" y="1600200"/>
            <a:ext cx="2544775" cy="2002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entry per variant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229600" y="3941064"/>
            <a:ext cx="3413455" cy="2276856"/>
          </a:xfrm>
          <a:prstGeom prst="roundRect">
            <a:avLst>
              <a:gd name="adj" fmla="val 321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394192" y="410565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915400" y="4078224"/>
            <a:ext cx="2544775" cy="2002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Pending: an editor must verify it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6FCF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3464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Editor: your neighbour's submission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 the queue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1463040"/>
            <a:ext cx="6446520" cy="1487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instructor adds you to the editors group; log out and in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11505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3096768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Review in the browser, or: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74878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234440" y="4730496"/>
            <a:ext cx="6537960" cy="702564"/>
          </a:xfrm>
          <a:prstGeom prst="roundRect">
            <a:avLst>
              <a:gd name="adj" fmla="val 10412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417320" y="4840224"/>
            <a:ext cx="6172200" cy="1304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-H "Authorization: Bearer $PRG32_STORE_TOKEN" $PRG32_STORE_URL/api/submissions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092440" y="1463040"/>
            <a:ext cx="3550615" cy="1143000"/>
          </a:xfrm>
          <a:prstGeom prst="roundRect">
            <a:avLst>
              <a:gd name="adj" fmla="val 6400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21040" y="1600200"/>
            <a:ext cx="3093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7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8321040" y="2084832"/>
            <a:ext cx="3093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3 min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092440" y="2788920"/>
            <a:ext cx="3550615" cy="3429000"/>
          </a:xfrm>
          <a:prstGeom prst="roundRect">
            <a:avLst>
              <a:gd name="adj" fmla="val 213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21040" y="2880360"/>
            <a:ext cx="3093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321040" y="3246120"/>
            <a:ext cx="3093415" cy="2862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list of pending submissions, each with an id, its metadata and where its two files are stored (pending/N/esp32c6.prg32, pending/N/qemu.prg32).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Try to change what you may not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1463040"/>
            <a:ext cx="6446520" cy="2304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the submission number N of your neighbour's game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93192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234440" y="3913632"/>
            <a:ext cx="6537960" cy="1167384"/>
          </a:xfrm>
          <a:prstGeom prst="roundRect">
            <a:avLst>
              <a:gd name="adj" fmla="val 6266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417320" y="4023360"/>
            <a:ext cx="6172200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-X POST $PRG32_STORE_URL/api/submissions/N/verify -H "Authorization: Bearer $PRG32_STORE_TOKEN" -H 'Content-Type: application/json' -d '{"metadata":{"id":"x.y"}}'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092440" y="1463040"/>
            <a:ext cx="3550615" cy="1143000"/>
          </a:xfrm>
          <a:prstGeom prst="roundRect">
            <a:avLst>
              <a:gd name="adj" fmla="val 6400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321040" y="1600200"/>
            <a:ext cx="3093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8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8321040" y="2084832"/>
            <a:ext cx="3093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3 min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092440" y="2788920"/>
            <a:ext cx="3550615" cy="3429000"/>
          </a:xfrm>
          <a:prstGeom prst="roundRect">
            <a:avLst>
              <a:gd name="adj" fmla="val 213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21040" y="2880360"/>
            <a:ext cx="3093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321040" y="3246120"/>
            <a:ext cx="3093415" cy="2862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{"error": "metadata.id cannot be changed during review", "ok": false}. Identity belongs to the author.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Review, then decide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1463040"/>
            <a:ext cx="6446520" cy="1487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 author for the qemu variant and play it for two minutes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11505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3096768"/>
            <a:ext cx="6446520" cy="1487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Write: what it does; one thing that works; one thing to change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74878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234440" y="4730496"/>
            <a:ext cx="6537960" cy="1167384"/>
          </a:xfrm>
          <a:prstGeom prst="roundRect">
            <a:avLst>
              <a:gd name="adj" fmla="val 6266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417320" y="4840224"/>
            <a:ext cx="6172200" cy="1304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-X POST $PRG32_STORE_URL/api/submissions/N/verify -H "Authorization: Bearer $PRG32_STORE_TOKEN" -H 'Content-Type: application/json' -d '{"metadata":{"tags":["class","arcade"]}}'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092440" y="1463040"/>
            <a:ext cx="3550615" cy="1143000"/>
          </a:xfrm>
          <a:prstGeom prst="roundRect">
            <a:avLst>
              <a:gd name="adj" fmla="val 6400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21040" y="1600200"/>
            <a:ext cx="3093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9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8321040" y="2084832"/>
            <a:ext cx="3093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6 min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092440" y="2788920"/>
            <a:ext cx="3550615" cy="3429000"/>
          </a:xfrm>
          <a:prstGeom prst="roundRect">
            <a:avLst>
              <a:gd name="adj" fmla="val 213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21040" y="2880360"/>
            <a:ext cx="3093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321040" y="3246120"/>
            <a:ext cx="3093415" cy="2862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"ok": true and the submission record. The game is now public, with the tags you set.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an editor may edit</a:t>
            </a:r>
            <a:endParaRPr lang="en-US" sz="30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5547208"/>
                <a:gridCol w="554720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Editable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Preserved from the package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title, summary, description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tags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version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license, homepage, repository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authors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6FCF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3464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Visitor and scores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credentials needed to get games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 and download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234440" y="1463040"/>
            <a:ext cx="6537960" cy="702564"/>
          </a:xfrm>
          <a:prstGeom prst="roundRect">
            <a:avLst>
              <a:gd name="adj" fmla="val 10412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417320" y="1572768"/>
            <a:ext cx="6172200" cy="1304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store list --store-url $PRG32_STORE_URL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11505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234440" y="3096768"/>
            <a:ext cx="6537960" cy="934974"/>
          </a:xfrm>
          <a:prstGeom prst="roundRect">
            <a:avLst>
              <a:gd name="adj" fmla="val 7824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417320" y="3206496"/>
            <a:ext cx="6172200" cy="1304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-o lemon.prg32 "$PRG32_STORE_URL/api/games/org.example.lemon-catcher/download?version=1.0.0&amp;architecture=qemu"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74878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234440" y="4730496"/>
            <a:ext cx="6537960" cy="702564"/>
          </a:xfrm>
          <a:prstGeom prst="roundRect">
            <a:avLst>
              <a:gd name="adj" fmla="val 10412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417320" y="4840224"/>
            <a:ext cx="6172200" cy="1304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 -l lemon.prg32 &amp;&amp; python3 -m prg32 store inspect-metadata lemon.prg32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092440" y="1463040"/>
            <a:ext cx="3550615" cy="1143000"/>
          </a:xfrm>
          <a:prstGeom prst="roundRect">
            <a:avLst>
              <a:gd name="adj" fmla="val 6400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21040" y="1600200"/>
            <a:ext cx="3093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10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8321040" y="2084832"/>
            <a:ext cx="3093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5 min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092440" y="2788920"/>
            <a:ext cx="3550615" cy="3429000"/>
          </a:xfrm>
          <a:prstGeom prst="roundRect">
            <a:avLst>
              <a:gd name="adj" fmla="val 213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21040" y="2880360"/>
            <a:ext cx="3093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321040" y="3246120"/>
            <a:ext cx="3093415" cy="2862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list shows id, title and 'esp32c6, qemu'. The downloaded file is 4418 bytes, not 3432: the Store appended a metadata trailer with the manifest and the icon.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store list prints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740664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45920"/>
            <a:ext cx="69494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                              Title                    Version  Architectures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org.example.lemon-catcher        Lemon Catcher                     esp32c6, qemu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8229600" y="1463040"/>
            <a:ext cx="3413455" cy="2276856"/>
          </a:xfrm>
          <a:prstGeom prst="roundRect">
            <a:avLst>
              <a:gd name="adj" fmla="val 321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394192" y="162763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915400" y="1600200"/>
            <a:ext cx="2544775" cy="2002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Public: no token was used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229600" y="3941064"/>
            <a:ext cx="3413455" cy="2276856"/>
          </a:xfrm>
          <a:prstGeom prst="roundRect">
            <a:avLst>
              <a:gd name="adj" fmla="val 321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394192" y="410565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915400" y="4078224"/>
            <a:ext cx="2544775" cy="2002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per game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 a score and read it back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234440" y="1463040"/>
            <a:ext cx="6537960" cy="1167384"/>
          </a:xfrm>
          <a:prstGeom prst="roundRect">
            <a:avLst>
              <a:gd name="adj" fmla="val 6266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417320" y="1572768"/>
            <a:ext cx="6172200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-X POST $PRG32_STORE_URL/api/scores -H "Authorization: Bearer $PRG32_STORE_TOKEN" -H 'Content-Type: application/json' -d '{"game":"lemon-catcher","player":"Ada","score":42}'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93192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234440" y="3913632"/>
            <a:ext cx="6537960" cy="470154"/>
          </a:xfrm>
          <a:prstGeom prst="roundRect">
            <a:avLst>
              <a:gd name="adj" fmla="val 15559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417320" y="4023360"/>
            <a:ext cx="6172200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"$PRG32_STORE_URL/api/scores?game=lemon-catcher"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092440" y="1463040"/>
            <a:ext cx="3550615" cy="1143000"/>
          </a:xfrm>
          <a:prstGeom prst="roundRect">
            <a:avLst>
              <a:gd name="adj" fmla="val 6400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21040" y="1600200"/>
            <a:ext cx="3093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11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8321040" y="2084832"/>
            <a:ext cx="3093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4 min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092440" y="2788920"/>
            <a:ext cx="3550615" cy="3429000"/>
          </a:xfrm>
          <a:prstGeom prst="roundRect">
            <a:avLst>
              <a:gd name="adj" fmla="val 213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21040" y="2880360"/>
            <a:ext cx="3093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8321040" y="3246120"/>
            <a:ext cx="3093415" cy="2862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{"ok": true}, then a list with game, player, score 42 and submitted_by: your username. Posting needs a token; reading does not.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6FCF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3464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own Store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Administrator, optional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 deployment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740664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45920"/>
            <a:ext cx="69494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#!/usr/bin/env bash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Administrators: first deployment of a classroom Store.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https://github.com/riscv-prg32/CartridgeStore.git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CartridgeStore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SECRET_KEY="$(python3 -c 'import secrets; print(secrets.token_urlsafe(32))')"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up --build -d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http://127.0.0.1:5080/.well-known/prg32-store.json  </a:t>
            </a:r>
            <a:pPr indent="0" marL="0">
              <a:buNone/>
            </a:pPr>
            <a:r>
              <a:rPr lang="en-US" sz="10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health check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Then log in as admin at /auth/login and change the default password.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0" y="1463040"/>
            <a:ext cx="341345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394192" y="162763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915400" y="1600200"/>
            <a:ext cx="254477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SECRET_KEY is required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229600" y="3115056"/>
            <a:ext cx="341345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394192" y="32796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915400" y="3252216"/>
            <a:ext cx="254477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persists in ./data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229600" y="4767072"/>
            <a:ext cx="341345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94192" y="493166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915400" y="4904232"/>
            <a:ext cx="254477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health check is the discovery document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 one up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1463040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deployment commands on your laptop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066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234440" y="2688336"/>
            <a:ext cx="6537960" cy="702564"/>
          </a:xfrm>
          <a:prstGeom prst="roundRect">
            <a:avLst>
              <a:gd name="adj" fmla="val 10412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417320" y="2798064"/>
            <a:ext cx="6172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http://127.0.0.1:5080/.well-known/prg32-store.json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93192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3913632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in as admin and change the password at once</a:t>
            </a:r>
            <a:endParaRPr lang="en-US" sz="21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15721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5138928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Setup: give the Store a name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8092440" y="1463040"/>
            <a:ext cx="3550615" cy="1143000"/>
          </a:xfrm>
          <a:prstGeom prst="roundRect">
            <a:avLst>
              <a:gd name="adj" fmla="val 6400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21040" y="1600200"/>
            <a:ext cx="3093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12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8321040" y="2084832"/>
            <a:ext cx="3093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5 min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092440" y="2788920"/>
            <a:ext cx="3550615" cy="3429000"/>
          </a:xfrm>
          <a:prstGeom prst="roundRect">
            <a:avLst>
              <a:gd name="adj" fmla="val 213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21040" y="2880360"/>
            <a:ext cx="3093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321040" y="3246120"/>
            <a:ext cx="3093415" cy="2862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discovery document lists the service URLs and the roles reader, user, player, publisher, admin. The default administrator is in the editors group.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can now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463040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and protect a publication token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3012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282952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Build, pack and submit a bundle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12115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102864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a submission and know an editor's limits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94106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3922776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Store without credentials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76097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4742688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and read scores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58088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5562600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 Store of your own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 and reading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364328" cy="4754880"/>
          </a:xfrm>
          <a:prstGeom prst="roundRect">
            <a:avLst>
              <a:gd name="adj" fmla="val 153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91640"/>
            <a:ext cx="4815688" cy="548640"/>
          </a:xfrm>
          <a:prstGeom prst="roundRect">
            <a:avLst>
              <a:gd name="adj" fmla="val 13333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the next session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468880"/>
            <a:ext cx="472424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Revoke your lab token on shared machines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version 1.0.1 with your reviewer's suggestion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Store page to your coursework report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6278728" y="1463040"/>
            <a:ext cx="5364328" cy="4754880"/>
          </a:xfrm>
          <a:prstGeom prst="roundRect">
            <a:avLst>
              <a:gd name="adj" fmla="val 153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53048" y="1691640"/>
            <a:ext cx="4815688" cy="548640"/>
          </a:xfrm>
          <a:prstGeom prst="roundRect">
            <a:avLst>
              <a:gd name="adj" fmla="val 13333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and sources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6598768" y="2468880"/>
            <a:ext cx="472424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Textbook, Chapter 17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scripts/store/ and examples/store_publishing/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CartridgeStore docs/getting_started.md and api.md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PRG32 docs/usage/tooling.md (store commands)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Publishing Lab: Submit, Review, Download - lab</dc:title>
  <dc:subject>Chapter 17</dc:subject>
  <dc:creator>Playing with RISC-V (PRG32 textbook)</dc:creator>
  <cp:lastModifiedBy>Playing with RISC-V (PRG32 textbook)</cp:lastModifiedBy>
  <cp:revision>1</cp:revision>
  <dcterms:created xsi:type="dcterms:W3CDTF">2026-10-05T15:40:34Z</dcterms:created>
  <dcterms:modified xsi:type="dcterms:W3CDTF">2026-10-05T15:40:34Z</dcterms:modified>
</cp:coreProperties>
</file>