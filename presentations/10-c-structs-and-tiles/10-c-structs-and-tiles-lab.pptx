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6510e9f-c742-cdac-f267-09910ff895ab}">
          <p14:sldIdLst>
            <p14:sldId id="256"/>
            <p14:sldId id="257"/>
            <p14:sldId id="258"/>
            <p14:sldId id="259"/>
          </p14:sldIdLst>
        </p14:section>
        <p14:section name="Part A: bricks" id="{657e63ca-33c1-cc7b-e5bf-60978acded05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Part B: a world" id="{24b140ae-c596-9d08-eb89-758909c4704c}">
          <p14:sldIdLst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Closing" id="{b5f4baef-f9bb-d6de-cf4d-8bfa5149e1c6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10 of the textbook. Practical, step-by-step session: learners work at their machines; keep each step to its time box. Preparation: Step files in labs/10-c-structs-and-tiles: bricks_*_step1..3.c (prefix bricks_c) and plat_*_step1..3.c (prefix plat).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labs/10-c-structs-and-tiles/bricks_draw_step1.c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labs/10-c-structs-and-tiles/expected/bricks_draw_step1.png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Valid indices are 0..9, and nothing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labs/10-c-structs-and-tiles/bricks_hit_step2.c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labs/10-c-structs-and-tiles/expected/bricks_hit_step2.png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labs/10-c-structs-and-tiles/bricks_win_step3.c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labs/10-c-structs-and-tiles/bricks_win_step3.c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labs/10-c-structs-and-tiles/expected/bricks_win_step3.png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labs/10-c-structs-and-tiles/plat_world_step1.c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labs/10-c-structs-and-tiles/expected/plat_world_step1.png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level is 2 KiB of tile numbers, not 128 KiB of pixels.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labs/10-c-structs-and-tiles/plat_actor_step2.c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labs/10-c-structs-and-tiles/expected/plat_actor_step2.png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labs/10-c-structs-and-tiles/plat_hazard_step3.c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Screenshot: this step, built and run: labs/10-c-structs-and-tiles/expected/plat_hazard_step3.png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The map stores numbers; flags give them behaviour.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10: Arrays, Structs, Tile Maps  |  Lab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 |  LABORATORY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Lab 2: Bricks, Then a World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adds an array of bricks in three steps; Part B builds a tile level and an actor in three more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computer programming students (C track)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an array and loop over it to draw and to collide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an out-of-bounds index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a repeated expression into a function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level from tiles and flags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an actor struct with the platform helpers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of the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173163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67523" y="1737360"/>
            <a:ext cx="2912791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67523" y="1737360"/>
            <a:ext cx="29127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726034" y="1737360"/>
            <a:ext cx="2173163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26034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944917" y="1737360"/>
            <a:ext cx="2173163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44917" y="1737360"/>
            <a:ext cx="217316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163800" y="1737360"/>
            <a:ext cx="1433535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163800" y="1737360"/>
            <a:ext cx="1433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Bricks: draw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Bricks: hit and win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every step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is a complete file in labs/: read what is new, then run it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textbook folder: labs/run.sh STEP_FILE PREFIX builds and starts it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81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PRG32_HOME to your PRG32 checkout; set PRG32_URL to run on a board or PRG32-QT, otherwise QEMU starts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screenshot on each slide is that exact file, built and executed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each step: change one thing, predict, run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A: bricks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and two loops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A1: ten bricks, one loop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bricks_c_draw(void)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prg32_gfx_clear(PRG32_COLOR_BLACK);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BRICKS; ++i)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(bricks[i])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prg32_gfx_rect(i * 32 + 2, 24, 28, 8, PRG32_COLOR_CYAN);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prg32_gfx_rect(paddle_x, 188, 64, 8, PRG32_COLOR_WHITE);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prg32_gfx_rect(ball_x, ball_y, 8, 8, PRG32_COLOR_YELLOW);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bricks[i] is 1 while brick i is intact. One brick every 32 pixels: x = i * 32 + 2, 28 wid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bricks[i] is 1 while brick i is intact. One brick every 32 pixels: x = i * 32 + 2, 28 wide.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702564"/>
          </a:xfrm>
          <a:prstGeom prst="roundRect">
            <a:avLst>
              <a:gd name="adj" fmla="val 10412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10-c-structs-and-tiles/bricks_draw_step1.c bricks_c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bricks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loop test to i &lt;= BRICKS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bricks[10]?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 |  about 5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Ten cyan bricks; the ball passes through them. With &lt;= the loop reads one byte past the array: whatever happens to follow it in memory. C did not stop you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cyan bricks; the ball passes through them. With &lt;= the loop reads one byte past the array: whatever happens to follow it in memory. C did not stop you.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uint8_t bricks[10]; what does 'bricks[10] = 0;' do?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Clears the last brick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one byte past the array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to compile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the array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A2: hitting a brick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(prg32_sprite_hitbox(ball_x, ball_y, 8, 8, paddle_x, 188, 64, 8))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ball_dy = -2;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BRICKS; ++i)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(bricks[i] &amp;&amp; prg32_sprite_hitbox(ball_x, ball_y, 8, 8,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i * 32 + 2, 24, 28, 8))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bricks[i] =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ball_dy = 2;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send the ball back down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break;        </a:t>
            </a:r>
            <a:pPr indent="0" marL="0">
              <a:buNone/>
            </a:pPr>
            <a:r>
              <a:rPr lang="en-US" sz="11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at most one brick per frame */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The same hitbox call, in a loop. &amp;&amp; short-circuits: a destroyed brick is never tested. break: one brick per fram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hitbox call, in a loop. &amp;&amp; short-circuits: a destroyed brick is never tested. break: one brick per frame.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702564"/>
          </a:xfrm>
          <a:prstGeom prst="roundRect">
            <a:avLst>
              <a:gd name="adj" fmla="val 10412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10-c-structs-and-tiles/bricks_hit_step2.c bricks_c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Destroy three bricks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'break;'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the ball at the gap between two bricks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 |  about 6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Bricks vanish and the ball is sent down (screenshot: frame 120, one brick gone). Without break two adjacent bricks can go in one fram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Bricks vanish and the ball is sent down (screenshot: frame 120, one brick gone). Without break two adjacent bricks can go in one frame.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A3: one function owns the layout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int brick_x(int i) { return i * 32 + 2; }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The expression i * 32 + 2 appeared in draw and in update. Now it has a name, and the two cannot disagre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expression i * 32 + 2 appeared in draw and in update. Now it has a name, and the two cannot disagree.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A3: counting what is left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intact = 0;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BRICKS; ++i)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intact += bricks[i];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(intact == 0)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reset_bricks();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cleared the row: bring it back */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loop sums the array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intact: the row comes back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variable: fresh every frame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A3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702564"/>
          </a:xfrm>
          <a:prstGeom prst="roundRect">
            <a:avLst>
              <a:gd name="adj" fmla="val 10412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10-c-structs-and-tiles/bricks_win_step3.c bricks_c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brick_x change 32 to 30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picture and the collisions still agree?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the whole row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 |  about 6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Yes: one edit moved both. Clearing the row brings it back (screenshot: frame 300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Yes: one edit moved both. Clearing the row brings it back (screenshot: frame 300).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B: a world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Tiles, flags, an actor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B1: a level from three runs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void fill_world(void)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prg32_playfield_clear(1, 0);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prg32_tile_define(2, solid, PRG32_COLOR_GREEN, PRG32_COLOR_BLACK);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put_run(1, 0, 63, 22, 2); 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the ground, whole width */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put_run(1, 10, 19, 17, 2);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 platform */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put_run(1, 25, 32, 12, 2); </a:t>
            </a:r>
            <a:pPr indent="0" marL="0">
              <a:buNone/>
            </a:pPr>
            <a:r>
              <a:rPr lang="en-US" sz="11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a higher one */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One 8-byte bitmap defines tile 2. put_run lays a horizontal run. Tile rows 22, 17, 12 are pixel rows 176, 136, 96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8-byte bitmap defines tile 2. put_run lays a horizontal run. Tile rows 22, 17, 12 are pixel rows 176, 136, 96.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B1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702564"/>
          </a:xfrm>
          <a:prstGeom prst="roundRect">
            <a:avLst>
              <a:gd name="adj" fmla="val 10412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10-c-structs-and-tiles/plat_world_step1.c plat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fourth platform at tile row 8, columns 5 to 9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bitmap: 0xff in every byte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tile (10, 17) to pixels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 |  about 5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A ground line and platforms of outlined tiles. (10, 17) is pixel (80, 136): multiply by 8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 line and platforms of outlined tiles. (10, 17) is pixel (80, 136): multiply by 8.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playfield in numbers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Tile size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x 8 pixels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x 32 tiles = 512 x 256 pixels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Bytes for one layer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x 25 tiles visible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B2: an actor in the world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plat_update(void)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input = prg32_input_read();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move_speed, jump_speed, gravity, max_fall */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uint16_t state = prg32_platform_actor_step(&amp;player, input, 2, -7, 1, 5);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(void)state;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prg32_platform_camera_follow(&amp;player, 64, 48);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One struct holds position, velocity, size and state. &amp;player passes its address so the helper can change i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struct holds position, velocity, size and state. &amp;player passes its address so the helper can change it.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B2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702564"/>
          </a:xfrm>
          <a:prstGeom prst="roundRect">
            <a:avLst>
              <a:gd name="adj" fmla="val 10412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10-c-structs-and-tiles/plat_actor_step2.c plat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right and jump with A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prg32_platform_tile_flags line in init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the player?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 |  about 6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The player walks, jumps and lands; the view scrolls (screenshot: RIGHT held, one jump). Without the SOLID flag the player falls through: a tile number has no behaviour until it is flagg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player walks, jumps and lands; the view scrolls (screenshot: RIGHT held, one jump). Without the SOLID flag the player falls through: a tile number has no behaviour until it is flagged.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prg32_platform_actor_t in memory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+0</a:t>
            </a:r>
            <a:endParaRPr lang="en-US" sz="1022" dirty="0"/>
          </a:p>
        </p:txBody>
      </p:sp>
      <p:sp>
        <p:nvSpPr>
          <p:cNvPr id="4" name="Text 2"/>
          <p:cNvSpPr txBox="1"/>
          <p:nvPr/>
        </p:nvSpPr>
        <p:spPr>
          <a:xfrm>
            <a:off x="1508760" y="1463040"/>
            <a:ext cx="3291840" cy="429768"/>
          </a:xfrm>
          <a:prstGeom prst="rect">
            <a:avLst/>
          </a:prstGeom>
          <a:solidFill>
            <a:srgbClr val="2E4A62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222" dirty="0"/>
          </a:p>
        </p:txBody>
      </p:sp>
      <p:sp>
        <p:nvSpPr>
          <p:cNvPr id="5" name="Text 3"/>
          <p:cNvSpPr txBox="1"/>
          <p:nvPr/>
        </p:nvSpPr>
        <p:spPr>
          <a:xfrm>
            <a:off x="4937760" y="1463040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</a:t>
            </a:r>
            <a:endParaRPr lang="en-US" sz="1022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463040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int: position</a:t>
            </a:r>
            <a:endParaRPr lang="en-US" sz="1222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56816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+4</a:t>
            </a:r>
            <a:endParaRPr lang="en-US" sz="1022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956816"/>
            <a:ext cx="3291840" cy="429768"/>
          </a:xfrm>
          <a:prstGeom prst="rect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1222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1956816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</a:t>
            </a:r>
            <a:endParaRPr lang="en-US" sz="1022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956816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222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450592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+8</a:t>
            </a:r>
            <a:endParaRPr lang="en-US" sz="1022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450592"/>
            <a:ext cx="3291840" cy="429768"/>
          </a:xfrm>
          <a:prstGeom prst="rect">
            <a:avLst/>
          </a:prstGeom>
          <a:solidFill>
            <a:srgbClr val="6B4FA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vx</a:t>
            </a:r>
            <a:endParaRPr lang="en-US" sz="1222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450592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</a:t>
            </a:r>
            <a:endParaRPr lang="en-US" sz="1022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450592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int: velocity</a:t>
            </a:r>
            <a:endParaRPr lang="en-US" sz="1222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944368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+12</a:t>
            </a:r>
            <a:endParaRPr lang="en-US" sz="1022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2944368"/>
            <a:ext cx="3291840" cy="429768"/>
          </a:xfrm>
          <a:prstGeom prst="rect">
            <a:avLst/>
          </a:prstGeom>
          <a:solidFill>
            <a:srgbClr val="C7791B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vy</a:t>
            </a:r>
            <a:endParaRPr lang="en-US" sz="1222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2944368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bytes</a:t>
            </a:r>
            <a:endParaRPr lang="en-US" sz="1022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2944368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</a:t>
            </a:r>
            <a:endParaRPr lang="en-US" sz="1222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438144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+16</a:t>
            </a:r>
            <a:endParaRPr lang="en-US" sz="1022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3438144"/>
            <a:ext cx="3291840" cy="429768"/>
          </a:xfrm>
          <a:prstGeom prst="rect">
            <a:avLst/>
          </a:prstGeom>
          <a:solidFill>
            <a:srgbClr val="2F7D4F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222" dirty="0"/>
          </a:p>
        </p:txBody>
      </p:sp>
      <p:sp>
        <p:nvSpPr>
          <p:cNvPr id="21" name="Text 19"/>
          <p:cNvSpPr txBox="1"/>
          <p:nvPr/>
        </p:nvSpPr>
        <p:spPr>
          <a:xfrm>
            <a:off x="4937760" y="3438144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bytes</a:t>
            </a:r>
            <a:endParaRPr lang="en-US" sz="1022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3438144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uint16_t: size</a:t>
            </a:r>
            <a:endParaRPr lang="en-US" sz="1222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931920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+18</a:t>
            </a:r>
            <a:endParaRPr lang="en-US" sz="1022" dirty="0"/>
          </a:p>
        </p:txBody>
      </p:sp>
      <p:sp>
        <p:nvSpPr>
          <p:cNvPr id="24" name="Text 22"/>
          <p:cNvSpPr txBox="1"/>
          <p:nvPr/>
        </p:nvSpPr>
        <p:spPr>
          <a:xfrm>
            <a:off x="1508760" y="3931920"/>
            <a:ext cx="3291840" cy="429768"/>
          </a:xfrm>
          <a:prstGeom prst="rect">
            <a:avLst/>
          </a:prstGeom>
          <a:solidFill>
            <a:srgbClr val="B23A48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1222" dirty="0"/>
          </a:p>
        </p:txBody>
      </p:sp>
      <p:sp>
        <p:nvSpPr>
          <p:cNvPr id="25" name="Text 23"/>
          <p:cNvSpPr txBox="1"/>
          <p:nvPr/>
        </p:nvSpPr>
        <p:spPr>
          <a:xfrm>
            <a:off x="4937760" y="3931920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bytes</a:t>
            </a:r>
            <a:endParaRPr lang="en-US" sz="1022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3931920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uint16_t</a:t>
            </a:r>
            <a:endParaRPr lang="en-US" sz="1222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425696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+20</a:t>
            </a:r>
            <a:endParaRPr lang="en-US" sz="1022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4425696"/>
            <a:ext cx="3291840" cy="429768"/>
          </a:xfrm>
          <a:prstGeom prst="rect">
            <a:avLst/>
          </a:prstGeom>
          <a:solidFill>
            <a:srgbClr val="2E4A62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</a:t>
            </a:r>
            <a:endParaRPr lang="en-US" sz="1222" dirty="0"/>
          </a:p>
        </p:txBody>
      </p:sp>
      <p:sp>
        <p:nvSpPr>
          <p:cNvPr id="29" name="Text 27"/>
          <p:cNvSpPr txBox="1"/>
          <p:nvPr/>
        </p:nvSpPr>
        <p:spPr>
          <a:xfrm>
            <a:off x="4937760" y="4425696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bytes</a:t>
            </a:r>
            <a:endParaRPr lang="en-US" sz="1022" dirty="0"/>
          </a:p>
        </p:txBody>
      </p:sp>
      <p:sp>
        <p:nvSpPr>
          <p:cNvPr id="30" name="Text 28"/>
          <p:cNvSpPr txBox="1"/>
          <p:nvPr/>
        </p:nvSpPr>
        <p:spPr>
          <a:xfrm>
            <a:off x="6126480" y="4425696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uint16_t: flags set by the physics step</a:t>
            </a:r>
            <a:endParaRPr lang="en-US" sz="1222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919472"/>
            <a:ext cx="8229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+22</a:t>
            </a:r>
            <a:endParaRPr lang="en-US" sz="1022" dirty="0"/>
          </a:p>
        </p:txBody>
      </p:sp>
      <p:sp>
        <p:nvSpPr>
          <p:cNvPr id="32" name="Text 30"/>
          <p:cNvSpPr txBox="1"/>
          <p:nvPr/>
        </p:nvSpPr>
        <p:spPr>
          <a:xfrm>
            <a:off x="1508760" y="4919472"/>
            <a:ext cx="3291840" cy="429768"/>
          </a:xfrm>
          <a:prstGeom prst="rect">
            <a:avLst/>
          </a:prstGeom>
          <a:solidFill>
            <a:srgbClr val="0E7C86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layer, reserved</a:t>
            </a:r>
            <a:endParaRPr lang="en-US" sz="1222" dirty="0"/>
          </a:p>
        </p:txBody>
      </p:sp>
      <p:sp>
        <p:nvSpPr>
          <p:cNvPr id="33" name="Text 31"/>
          <p:cNvSpPr txBox="1"/>
          <p:nvPr/>
        </p:nvSpPr>
        <p:spPr>
          <a:xfrm>
            <a:off x="4937760" y="4919472"/>
            <a:ext cx="11430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2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bytes</a:t>
            </a:r>
            <a:endParaRPr lang="en-US" sz="1022" dirty="0"/>
          </a:p>
        </p:txBody>
      </p:sp>
      <p:sp>
        <p:nvSpPr>
          <p:cNvPr id="34" name="Text 32"/>
          <p:cNvSpPr txBox="1"/>
          <p:nvPr/>
        </p:nvSpPr>
        <p:spPr>
          <a:xfrm>
            <a:off x="6126480" y="4919472"/>
            <a:ext cx="551657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2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uint8_t</a:t>
            </a:r>
            <a:endParaRPr lang="en-US" sz="1222" dirty="0"/>
          </a:p>
        </p:txBody>
      </p:sp>
      <p:sp>
        <p:nvSpPr>
          <p:cNvPr id="35" name="Shape 33"/>
          <p:cNvSpPr/>
          <p:nvPr/>
        </p:nvSpPr>
        <p:spPr>
          <a:xfrm>
            <a:off x="548640" y="5458968"/>
            <a:ext cx="11094415" cy="758952"/>
          </a:xfrm>
          <a:prstGeom prst="roundRect">
            <a:avLst>
              <a:gd name="adj" fmla="val 9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2960" y="5532120"/>
            <a:ext cx="1054577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bytes. The assembly track reaches the same fields as offsets from one base address: PRG32_PLATFORM_ACTOR_X_OFFSET is 0, ..._STATE_OFFSET is 20.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B3: a hazard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08660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629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(state &amp; PRG32_PLATFORM_HAZARD)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prg32_audio_note(0, 0, 48, 255, 80);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prg32_platform_actor_init(&amp;player, 1, 32, 120, 8, 8); </a:t>
            </a:r>
            <a:pPr indent="0" marL="0">
              <a:buNone/>
            </a:pPr>
            <a:r>
              <a:rPr lang="en-US" sz="10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back to start */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863840" y="1417320"/>
            <a:ext cx="3824935" cy="2424875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pic>
        <p:nvPicPr>
          <p:cNvPr id="6" name="Image 0" descr="The physics step returns flags in one integer. &amp; tests one of them, exactly like a butt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463040"/>
            <a:ext cx="3733495" cy="23334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909560" y="3887915"/>
            <a:ext cx="3733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this step, built and run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4207955"/>
            <a:ext cx="3733495" cy="2009965"/>
          </a:xfrm>
          <a:prstGeom prst="roundRect">
            <a:avLst>
              <a:gd name="adj" fmla="val 3639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4317683"/>
            <a:ext cx="3367735" cy="1790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physics step returns flags in one integer. &amp; tests one of them, exactly like a button.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B3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6537960" cy="702564"/>
          </a:xfrm>
          <a:prstGeom prst="roundRect">
            <a:avLst>
              <a:gd name="adj" fmla="val 10412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572768"/>
            <a:ext cx="61722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labs/run.sh 10-c-structs-and-tiles/plat_hazard_step3.c plat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into the red spikes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over them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tile 5 as SOLID | HAZARD instead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092440" y="1463040"/>
            <a:ext cx="3550615" cy="731520"/>
          </a:xfrm>
          <a:prstGeom prst="roundRect">
            <a:avLst>
              <a:gd name="adj" fmla="val 100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463040"/>
            <a:ext cx="3093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  |  about 6 min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92440" y="2377440"/>
            <a:ext cx="3550615" cy="3840480"/>
          </a:xfrm>
          <a:prstGeom prst="roundRect">
            <a:avLst>
              <a:gd name="adj" fmla="val 2060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46888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pic>
        <p:nvPicPr>
          <p:cNvPr id="16" name="Image 0" descr="Touching the spikes plays a low note and returns the player to the start (screenshot: just before contact)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2834640"/>
            <a:ext cx="3093415" cy="19333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321040" y="4859465"/>
            <a:ext cx="3093415" cy="1248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the spikes plays a low note and returns the player to the start (screenshot: just before contact).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player falls through the ground. First thing to check?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the ground tile id is flagged SOLID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tile's colour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an array remove repetition?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brick_x protect you from?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&amp;player let the helper do?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numbers were in tiles and which in pixels?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over an array to draw and to collide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an out-of-bounds index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repeated expression a name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level from tiles and flags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struct with the platform helpers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coins: PRG32_TILE_FLAG_COLLECT and PRG32_PLATFORM_COLLECT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Chapter 11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examples/games/platformer/c/game.c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 10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labs/10-c-structs-and-tiles/ in the textbook repository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docs/software/framework_manual.md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Lab 2: Bricks, Then a World - lab</dc:title>
  <dc:subject>Chapter 10</dc:subject>
  <dc:creator>Playing with RISC-V (PRG32 textbook)</dc:creator>
  <cp:lastModifiedBy>Playing with RISC-V (PRG32 textbook)</cp:lastModifiedBy>
  <cp:revision>1</cp:revision>
  <dcterms:created xsi:type="dcterms:W3CDTF">2026-10-05T15:40:34Z</dcterms:created>
  <dcterms:modified xsi:type="dcterms:W3CDTF">2026-10-05T15:40:34Z</dcterms:modified>
</cp:coreProperties>
</file>