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</p:sldIdLst>
  <p:notesMasterIdLst>
    <p:notesMasterId r:id="rId3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pening" id="{b6ff929f-62ed-6301-406d-6af7d5dd4729}">
          <p14:sldIdLst>
            <p14:sldId id="256"/>
            <p14:sldId id="257"/>
            <p14:sldId id="258"/>
            <p14:sldId id="259"/>
          </p14:sldIdLst>
        </p14:section>
        <p14:section name="Arrays" id="{64339f64-fd4a-d5b5-6f66-853786f0c4b6}">
          <p14:sldIdLst>
            <p14:sldId id="260"/>
            <p14:sldId id="261"/>
            <p14:sldId id="262"/>
            <p14:sldId id="263"/>
            <p14:sldId id="264"/>
            <p14:sldId id="265"/>
            <p14:sldId id="266"/>
          </p14:sldIdLst>
        </p14:section>
        <p14:section name="Structs" id="{e11751de-4991-7e8a-10cc-9d8ecf9eb404}">
          <p14:sldIdLst>
            <p14:sldId id="267"/>
            <p14:sldId id="268"/>
            <p14:sldId id="269"/>
            <p14:sldId id="270"/>
            <p14:sldId id="271"/>
            <p14:sldId id="272"/>
          </p14:sldIdLst>
        </p14:section>
        <p14:section name="Tile maps" id="{4f1dd872-222a-ea9a-b9b9-8ebd8a746111}">
          <p14:sldIdLst>
            <p14:sldId id="273"/>
            <p14:sldId id="274"/>
            <p14:sldId id="275"/>
            <p14:sldId id="276"/>
            <p14:sldId id="277"/>
            <p14:sldId id="278"/>
            <p14:sldId id="279"/>
          </p14:sldIdLst>
        </p14:section>
        <p14:section name="Behaviour" id="{67a75a1c-e9f5-6fcf-6545-e545052f5d0e}">
          <p14:sldIdLst>
            <p14:sldId id="280"/>
            <p14:sldId id="281"/>
            <p14:sldId id="282"/>
            <p14:sldId id="283"/>
            <p14:sldId id="284"/>
            <p14:sldId id="285"/>
            <p14:sldId id="286"/>
          </p14:sldIdLst>
        </p14:section>
        <p14:section name="Closing" id="{c6f6a462-d232-921d-ca3f-913ee75a1cc3}">
          <p14:sldIdLst>
            <p14:sldId id="28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notesMaster" Target="notesMasters/notesMaster1.xml"/><Relationship Id="rId35" Type="http://schemas.openxmlformats.org/officeDocument/2006/relationships/presProps" Target="presProps.xml"/><Relationship Id="rId36" Type="http://schemas.openxmlformats.org/officeDocument/2006/relationships/viewProps" Target="viewProps.xml"/><Relationship Id="rId37" Type="http://schemas.openxmlformats.org/officeDocument/2006/relationships/theme" Target="theme/theme1.xml"/><Relationship Id="rId3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Teaching support for Chapter 10 of the textbook. Front lecture: about 45 minutes including the questions.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State the objectives; return to this slide at the end.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Total: 45 minutes.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examples/c_structs_and_tiles/brick_flags.c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Answer: B. Indices run from 0 to size - 1.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examples/c_structs_and_tiles/coin_tile.c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examples/c_structs_and_tiles/platform_actor_struct.c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Answer: B. A function can only modify the caller's variable through its address.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examples/c_structs_and_tiles/put_run.c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Answer: B. Multiply by the tile size, 8.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examples/c_structs_and_tiles/tile_flags.c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Flags combine with | and are tested with &amp;, exactly like buttons.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examples/c_structs_and_tiles/platform_physics.c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19088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Playing with RISC-V  |  Chapter 10: Arrays, Structs, Tile Maps  |  Lecture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1B25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731520"/>
            <a:ext cx="218724" cy="21872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" y="731520"/>
            <a:ext cx="218724" cy="21872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86384" y="969264"/>
            <a:ext cx="218724" cy="21872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24128" y="969264"/>
            <a:ext cx="218724" cy="21872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207008"/>
            <a:ext cx="218724" cy="21872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192024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10  |  LECTURE  |  45 MINUTES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2377440"/>
            <a:ext cx="11094415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Bigger World: Arrays, Structs, and Tile Maps</a:t>
            </a:r>
            <a:endParaRPr lang="en-US" sz="44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42519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Many values under one name, values that belong together, and a world built from a grid</a:t>
            </a:r>
            <a:endParaRPr lang="en-US" sz="22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557784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Audience: computer programming students (C track)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594360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8FA3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Playing with RISC-V: Assembly, C, and Retro Games on the PRG32 Platform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Learning objectives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80160" y="1463040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Declare, index, and loop over an array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30124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2282952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related values in a struct and pass it by address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12115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1280160" y="3102864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Describe a world as a grid of tile identifiers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3941064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3922776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Give tiles behaviour with flags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476097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1280160" y="4742688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platform actor helpers for gravity and collision</a:t>
            </a:r>
            <a:endParaRPr lang="en-US" sz="220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558088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1280160" y="5562600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bit flags returned by a function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Agenda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737360"/>
            <a:ext cx="2419706" cy="822960"/>
          </a:xfrm>
          <a:prstGeom prst="rect">
            <a:avLst/>
          </a:prstGeom>
          <a:solidFill>
            <a:srgbClr val="2E4A62"/>
          </a:solidFill>
          <a:ln w="12700">
            <a:solidFill>
              <a:srgbClr val="2E4A6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737360"/>
            <a:ext cx="241970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10'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3014066" y="1737360"/>
            <a:ext cx="2173163" cy="82296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3014066" y="1737360"/>
            <a:ext cx="2173163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9'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5232949" y="1737360"/>
            <a:ext cx="2419706" cy="822960"/>
          </a:xfrm>
          <a:prstGeom prst="rect">
            <a:avLst/>
          </a:prstGeom>
          <a:solidFill>
            <a:srgbClr val="6B4FA0"/>
          </a:solidFill>
          <a:ln w="12700">
            <a:solidFill>
              <a:srgbClr val="6B4FA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232949" y="1737360"/>
            <a:ext cx="241970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10'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7698374" y="1737360"/>
            <a:ext cx="1433535" cy="822960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698374" y="1737360"/>
            <a:ext cx="1433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6'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9177630" y="1737360"/>
            <a:ext cx="2419706" cy="822960"/>
          </a:xfrm>
          <a:prstGeom prst="rect">
            <a:avLst/>
          </a:prstGeom>
          <a:solidFill>
            <a:srgbClr val="2F7D4F"/>
          </a:solidFill>
          <a:ln w="12700">
            <a:solidFill>
              <a:srgbClr val="2F7D4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77630" y="1737360"/>
            <a:ext cx="241970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10'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548640" y="3017520"/>
            <a:ext cx="2036003" cy="3200400"/>
          </a:xfrm>
          <a:prstGeom prst="roundRect">
            <a:avLst>
              <a:gd name="adj" fmla="val 3593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31520" y="320040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731520" y="3749040"/>
            <a:ext cx="1670243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Arrays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2813243" y="3017520"/>
            <a:ext cx="2036003" cy="3200400"/>
          </a:xfrm>
          <a:prstGeom prst="roundRect">
            <a:avLst>
              <a:gd name="adj" fmla="val 3593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2996123" y="320040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2996123" y="3749040"/>
            <a:ext cx="1670243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Structs</a:t>
            </a:r>
            <a:endParaRPr lang="en-US" sz="1800" dirty="0"/>
          </a:p>
        </p:txBody>
      </p:sp>
      <p:sp>
        <p:nvSpPr>
          <p:cNvPr id="19" name="Shape 17"/>
          <p:cNvSpPr/>
          <p:nvPr/>
        </p:nvSpPr>
        <p:spPr>
          <a:xfrm>
            <a:off x="5077846" y="3017520"/>
            <a:ext cx="2036003" cy="3200400"/>
          </a:xfrm>
          <a:prstGeom prst="roundRect">
            <a:avLst>
              <a:gd name="adj" fmla="val 3593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260726" y="320040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5260726" y="3749040"/>
            <a:ext cx="1670243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Tile maps</a:t>
            </a:r>
            <a:endParaRPr lang="en-US" sz="1800" dirty="0"/>
          </a:p>
        </p:txBody>
      </p:sp>
      <p:sp>
        <p:nvSpPr>
          <p:cNvPr id="22" name="Shape 20"/>
          <p:cNvSpPr/>
          <p:nvPr/>
        </p:nvSpPr>
        <p:spPr>
          <a:xfrm>
            <a:off x="7342449" y="3017520"/>
            <a:ext cx="2036003" cy="3200400"/>
          </a:xfrm>
          <a:prstGeom prst="roundRect">
            <a:avLst>
              <a:gd name="adj" fmla="val 3593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7525329" y="320040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7525329" y="3749040"/>
            <a:ext cx="1670243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Tile flags</a:t>
            </a:r>
            <a:endParaRPr lang="en-US" sz="1800" dirty="0"/>
          </a:p>
        </p:txBody>
      </p:sp>
      <p:sp>
        <p:nvSpPr>
          <p:cNvPr id="25" name="Shape 23"/>
          <p:cNvSpPr/>
          <p:nvPr/>
        </p:nvSpPr>
        <p:spPr>
          <a:xfrm>
            <a:off x="9607052" y="3017520"/>
            <a:ext cx="2036003" cy="3200400"/>
          </a:xfrm>
          <a:prstGeom prst="roundRect">
            <a:avLst>
              <a:gd name="adj" fmla="val 3593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9789932" y="320040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9789932" y="3749040"/>
            <a:ext cx="1670243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actor in a world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640080"/>
            <a:ext cx="168250" cy="16825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31520" y="640080"/>
            <a:ext cx="168250" cy="168250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822960"/>
            <a:ext cx="168250" cy="16825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554480"/>
            <a:ext cx="11094415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Pong has five variables. A platformer has thousands. You cannot name them one by one.</a:t>
            </a:r>
            <a:endParaRPr lang="en-US" sz="4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4480560"/>
            <a:ext cx="1109441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Arrays, structs, and grids are how programs scale.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371600"/>
            <a:ext cx="2743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0" b="1" dirty="0">
                <a:solidFill>
                  <a:srgbClr val="5CC7D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8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834640"/>
            <a:ext cx="1109441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Arrays</a:t>
            </a:r>
            <a:endParaRPr lang="en-US" sz="4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38912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Many values under one name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Ten bricks, one name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740664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45920"/>
            <a:ext cx="694944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static uint8_t bricks[10];   </a:t>
            </a:r>
            <a:pPr indent="0" marL="0">
              <a:buNone/>
            </a:pPr>
            <a:r>
              <a:rPr lang="en-US" sz="11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/* bricks[i] == 1 means brick i is intact */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static void reset_bricks(void) {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(int i = 0; i &lt; 10; ++i) {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bricks[i] = 1;       </a:t>
            </a:r>
            <a:pPr indent="0" marL="0">
              <a:buNone/>
            </a:pPr>
            <a:r>
              <a:rPr lang="en-US" sz="11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/* every brick starts present */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8229600" y="1463040"/>
            <a:ext cx="341345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394192" y="162763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8915400" y="1600200"/>
            <a:ext cx="254477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bricks[10]: ten elements, indices 0 to 9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8229600" y="2702052"/>
            <a:ext cx="341345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394192" y="286664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915400" y="2839212"/>
            <a:ext cx="254477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uint8_t: one byte each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8229600" y="3941064"/>
            <a:ext cx="341345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394192" y="410565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8915400" y="4078224"/>
            <a:ext cx="254477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for: initialise; test; advance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8229600" y="5180076"/>
            <a:ext cx="341345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394192" y="534466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8915400" y="5317236"/>
            <a:ext cx="254477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++i adds one to i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facts about C arrays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3515258" cy="4754880"/>
          </a:xfrm>
          <a:prstGeom prst="roundRect">
            <a:avLst>
              <a:gd name="adj" fmla="val 2081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9164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325880" y="1645920"/>
            <a:ext cx="250941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Indices start at 0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423160"/>
            <a:ext cx="2966618" cy="361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array of 10 has elements 0 to 9. bricks[10] does not exist.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4338218" y="1463040"/>
            <a:ext cx="3515258" cy="4754880"/>
          </a:xfrm>
          <a:prstGeom prst="roundRect">
            <a:avLst>
              <a:gd name="adj" fmla="val 2081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566818" y="169164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5115458" y="1645920"/>
            <a:ext cx="250941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bounds checking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4612538" y="2423160"/>
            <a:ext cx="2966618" cy="361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 or writing outside the array is not detected. It corrupts other memory.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8127797" y="1463040"/>
            <a:ext cx="3515258" cy="4754880"/>
          </a:xfrm>
          <a:prstGeom prst="roundRect">
            <a:avLst>
              <a:gd name="adj" fmla="val 2081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356397" y="169164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8905037" y="1645920"/>
            <a:ext cx="250941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Fixed size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8402117" y="2423160"/>
            <a:ext cx="2966618" cy="361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size is part of the declaration. There is no malloc in a cartridge.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Reading a for loop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920240"/>
            <a:ext cx="2464994" cy="4114800"/>
          </a:xfrm>
          <a:prstGeom prst="roundRect">
            <a:avLst>
              <a:gd name="adj" fmla="val 296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1506817" y="1645920"/>
            <a:ext cx="548640" cy="548640"/>
          </a:xfrm>
          <a:prstGeom prst="roundRect">
            <a:avLst>
              <a:gd name="adj" fmla="val 13333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2331720"/>
            <a:ext cx="209923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Initialise</a:t>
            </a:r>
            <a:endParaRPr lang="en-US" sz="19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3291840"/>
            <a:ext cx="2099234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 i = 0; runs once.</a:t>
            </a:r>
            <a:endParaRPr lang="en-US" sz="1900" dirty="0"/>
          </a:p>
        </p:txBody>
      </p:sp>
      <p:sp>
        <p:nvSpPr>
          <p:cNvPr id="7" name="Shape 5"/>
          <p:cNvSpPr/>
          <p:nvPr/>
        </p:nvSpPr>
        <p:spPr>
          <a:xfrm>
            <a:off x="3077642" y="3831336"/>
            <a:ext cx="283464" cy="292608"/>
          </a:xfrm>
          <a:prstGeom prst="rightArrow">
            <a:avLst/>
          </a:prstGeom>
          <a:solidFill>
            <a:srgbClr val="C9D2D8"/>
          </a:solidFill>
          <a:ln w="12700">
            <a:solidFill>
              <a:srgbClr val="C9D2D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25114" y="1920240"/>
            <a:ext cx="2464994" cy="4114800"/>
          </a:xfrm>
          <a:prstGeom prst="roundRect">
            <a:avLst>
              <a:gd name="adj" fmla="val 296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383291" y="1645920"/>
            <a:ext cx="548640" cy="548640"/>
          </a:xfrm>
          <a:prstGeom prst="roundRect">
            <a:avLst>
              <a:gd name="adj" fmla="val 13333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3607994" y="2331720"/>
            <a:ext cx="209923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</a:t>
            </a:r>
            <a:endParaRPr lang="en-US" sz="1900" dirty="0"/>
          </a:p>
        </p:txBody>
      </p:sp>
      <p:sp>
        <p:nvSpPr>
          <p:cNvPr id="11" name="Text 9"/>
          <p:cNvSpPr txBox="1"/>
          <p:nvPr/>
        </p:nvSpPr>
        <p:spPr>
          <a:xfrm>
            <a:off x="3607994" y="3291840"/>
            <a:ext cx="2099234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&lt; 10; checked before every pass.</a:t>
            </a:r>
            <a:endParaRPr lang="en-US" sz="1900" dirty="0"/>
          </a:p>
        </p:txBody>
      </p:sp>
      <p:sp>
        <p:nvSpPr>
          <p:cNvPr id="12" name="Shape 10"/>
          <p:cNvSpPr/>
          <p:nvPr/>
        </p:nvSpPr>
        <p:spPr>
          <a:xfrm>
            <a:off x="5954116" y="3831336"/>
            <a:ext cx="283464" cy="292608"/>
          </a:xfrm>
          <a:prstGeom prst="rightArrow">
            <a:avLst/>
          </a:prstGeom>
          <a:solidFill>
            <a:srgbClr val="C9D2D8"/>
          </a:solidFill>
          <a:ln w="12700">
            <a:solidFill>
              <a:srgbClr val="C9D2D8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301588" y="1920240"/>
            <a:ext cx="2464994" cy="4114800"/>
          </a:xfrm>
          <a:prstGeom prst="roundRect">
            <a:avLst>
              <a:gd name="adj" fmla="val 296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259765" y="1645920"/>
            <a:ext cx="548640" cy="548640"/>
          </a:xfrm>
          <a:prstGeom prst="roundRect">
            <a:avLst>
              <a:gd name="adj" fmla="val 13333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000" dirty="0"/>
          </a:p>
        </p:txBody>
      </p:sp>
      <p:sp>
        <p:nvSpPr>
          <p:cNvPr id="15" name="Text 13"/>
          <p:cNvSpPr txBox="1"/>
          <p:nvPr/>
        </p:nvSpPr>
        <p:spPr>
          <a:xfrm>
            <a:off x="6484468" y="2331720"/>
            <a:ext cx="209923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Body</a:t>
            </a:r>
            <a:endParaRPr lang="en-US" sz="1900" dirty="0"/>
          </a:p>
        </p:txBody>
      </p:sp>
      <p:sp>
        <p:nvSpPr>
          <p:cNvPr id="16" name="Text 14"/>
          <p:cNvSpPr txBox="1"/>
          <p:nvPr/>
        </p:nvSpPr>
        <p:spPr>
          <a:xfrm>
            <a:off x="6484468" y="3291840"/>
            <a:ext cx="2099234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bricks[i] = 1; runs if the test is true.</a:t>
            </a:r>
            <a:endParaRPr lang="en-US" sz="1900" dirty="0"/>
          </a:p>
        </p:txBody>
      </p:sp>
      <p:sp>
        <p:nvSpPr>
          <p:cNvPr id="17" name="Shape 15"/>
          <p:cNvSpPr/>
          <p:nvPr/>
        </p:nvSpPr>
        <p:spPr>
          <a:xfrm>
            <a:off x="8830589" y="3831336"/>
            <a:ext cx="283464" cy="292608"/>
          </a:xfrm>
          <a:prstGeom prst="rightArrow">
            <a:avLst/>
          </a:prstGeom>
          <a:solidFill>
            <a:srgbClr val="C9D2D8"/>
          </a:solidFill>
          <a:ln w="12700">
            <a:solidFill>
              <a:srgbClr val="C9D2D8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178061" y="1920240"/>
            <a:ext cx="2464994" cy="4114800"/>
          </a:xfrm>
          <a:prstGeom prst="roundRect">
            <a:avLst>
              <a:gd name="adj" fmla="val 296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10136238" y="1645920"/>
            <a:ext cx="548640" cy="548640"/>
          </a:xfrm>
          <a:prstGeom prst="roundRect">
            <a:avLst>
              <a:gd name="adj" fmla="val 13333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000" dirty="0"/>
          </a:p>
        </p:txBody>
      </p:sp>
      <p:sp>
        <p:nvSpPr>
          <p:cNvPr id="20" name="Text 18"/>
          <p:cNvSpPr txBox="1"/>
          <p:nvPr/>
        </p:nvSpPr>
        <p:spPr>
          <a:xfrm>
            <a:off x="9360941" y="2331720"/>
            <a:ext cx="209923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Advance</a:t>
            </a:r>
            <a:endParaRPr lang="en-US" sz="1900" dirty="0"/>
          </a:p>
        </p:txBody>
      </p:sp>
      <p:sp>
        <p:nvSpPr>
          <p:cNvPr id="21" name="Text 19"/>
          <p:cNvSpPr txBox="1"/>
          <p:nvPr/>
        </p:nvSpPr>
        <p:spPr>
          <a:xfrm>
            <a:off x="9360941" y="3291840"/>
            <a:ext cx="2099234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++i; then back to the test.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Check your understanding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63040"/>
            <a:ext cx="1109441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 a[8]; Which is the last valid element?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2880360"/>
            <a:ext cx="5432908" cy="1554480"/>
          </a:xfrm>
          <a:prstGeom prst="roundRect">
            <a:avLst>
              <a:gd name="adj" fmla="val 470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343814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71600" y="2971800"/>
            <a:ext cx="44270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a[8]</a:t>
            </a:r>
            <a:endParaRPr lang="en-US" sz="1900" dirty="0"/>
          </a:p>
        </p:txBody>
      </p:sp>
      <p:sp>
        <p:nvSpPr>
          <p:cNvPr id="7" name="Shape 5"/>
          <p:cNvSpPr/>
          <p:nvPr/>
        </p:nvSpPr>
        <p:spPr>
          <a:xfrm>
            <a:off x="6210148" y="2880360"/>
            <a:ext cx="5432908" cy="1554480"/>
          </a:xfrm>
          <a:prstGeom prst="roundRect">
            <a:avLst>
              <a:gd name="adj" fmla="val 470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393028" y="343814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7033108" y="2971800"/>
            <a:ext cx="44270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a[7]</a:t>
            </a:r>
            <a:endParaRPr lang="en-US" sz="1900" dirty="0"/>
          </a:p>
        </p:txBody>
      </p:sp>
      <p:sp>
        <p:nvSpPr>
          <p:cNvPr id="10" name="Shape 8"/>
          <p:cNvSpPr/>
          <p:nvPr/>
        </p:nvSpPr>
        <p:spPr>
          <a:xfrm>
            <a:off x="548640" y="4663440"/>
            <a:ext cx="5432908" cy="1554480"/>
          </a:xfrm>
          <a:prstGeom prst="roundRect">
            <a:avLst>
              <a:gd name="adj" fmla="val 470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31520" y="522122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71600" y="4754880"/>
            <a:ext cx="44270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a[9]</a:t>
            </a:r>
            <a:endParaRPr lang="en-US" sz="1900" dirty="0"/>
          </a:p>
        </p:txBody>
      </p:sp>
      <p:sp>
        <p:nvSpPr>
          <p:cNvPr id="13" name="Shape 11"/>
          <p:cNvSpPr/>
          <p:nvPr/>
        </p:nvSpPr>
        <p:spPr>
          <a:xfrm>
            <a:off x="6210148" y="4663440"/>
            <a:ext cx="5432908" cy="1554480"/>
          </a:xfrm>
          <a:prstGeom prst="roundRect">
            <a:avLst>
              <a:gd name="adj" fmla="val 470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393028" y="522122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7033108" y="4754880"/>
            <a:ext cx="44270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a[-1]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Bricks as an array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80160" y="1463040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bricks[i] == 1 means brick i is intact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46522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2446934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Draw: loop over i; draw a rect at x = i * 32 if intact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449117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1280160" y="3430829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Hit: loop; test hitbox against brick i; set bricks[i] = 0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4433011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4414723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Win: every element is 0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541690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1280160" y="5398618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Breakout is Pong plus this array and two loops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 array of bits: a sprite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740664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45920"/>
            <a:ext cx="694944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static const uint8_t tile_coin[8] = {</a:t>
            </a:r>
            <a:endParaRPr lang="en-US" sz="1650" dirty="0"/>
          </a:p>
          <a:p>
            <a:pPr indent="0" marL="0">
              <a:buNone/>
            </a:pPr>
            <a:r>
              <a:rPr lang="en-US" sz="16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0x18, 0x3c, 0x66, 0x5a, 0x5a, 0x66, 0x3c, 0x18,</a:t>
            </a:r>
            <a:endParaRPr lang="en-US" sz="1650" dirty="0"/>
          </a:p>
          <a:p>
            <a:pPr indent="0" marL="0">
              <a:buNone/>
            </a:pPr>
            <a:r>
              <a:rPr lang="en-US" sz="16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};</a:t>
            </a:r>
            <a:endParaRPr lang="en-US" sz="1650" dirty="0"/>
          </a:p>
        </p:txBody>
      </p:sp>
      <p:sp>
        <p:nvSpPr>
          <p:cNvPr id="5" name="Shape 3"/>
          <p:cNvSpPr/>
          <p:nvPr/>
        </p:nvSpPr>
        <p:spPr>
          <a:xfrm>
            <a:off x="8229600" y="1463040"/>
            <a:ext cx="341345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394192" y="162763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8915400" y="1600200"/>
            <a:ext cx="254477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Eight bytes: eight rows of eight pixels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8229600" y="2702052"/>
            <a:ext cx="341345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394192" y="286664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915400" y="2839212"/>
            <a:ext cx="254477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bit is one pixel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8229600" y="3941064"/>
            <a:ext cx="341345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394192" y="410565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8915400" y="4078224"/>
            <a:ext cx="254477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0x18 = 00011000: two pixels in the middle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8229600" y="5180076"/>
            <a:ext cx="341345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394192" y="534466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8915400" y="5317236"/>
            <a:ext cx="254477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const: stored in read-only memory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371600"/>
            <a:ext cx="2743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0" b="1" dirty="0">
                <a:solidFill>
                  <a:srgbClr val="5CC7D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8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834640"/>
            <a:ext cx="1109441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Structs</a:t>
            </a:r>
            <a:endParaRPr lang="en-US" sz="4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38912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Grouping what belongs together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 actor is several values that travel together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740664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45920"/>
            <a:ext cx="694944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typedef struct {</a:t>
            </a:r>
            <a:endParaRPr lang="en-US" sz="1750" dirty="0"/>
          </a:p>
          <a:p>
            <a:pPr indent="0" marL="0">
              <a:buNone/>
            </a:pPr>
            <a:r>
              <a:rPr lang="en-US" sz="17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int x;          </a:t>
            </a:r>
            <a:pPr indent="0" marL="0">
              <a:buNone/>
            </a:pPr>
            <a:r>
              <a:rPr lang="en-US" sz="17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/* position */</a:t>
            </a:r>
            <a:endParaRPr lang="en-US" sz="1750" dirty="0"/>
          </a:p>
          <a:p>
            <a:pPr indent="0" marL="0">
              <a:buNone/>
            </a:pPr>
            <a:r>
              <a:rPr lang="en-US" sz="17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int y;</a:t>
            </a:r>
            <a:endParaRPr lang="en-US" sz="1750" dirty="0"/>
          </a:p>
          <a:p>
            <a:pPr indent="0" marL="0">
              <a:buNone/>
            </a:pPr>
            <a:r>
              <a:rPr lang="en-US" sz="17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int vx;         </a:t>
            </a:r>
            <a:pPr indent="0" marL="0">
              <a:buNone/>
            </a:pPr>
            <a:r>
              <a:rPr lang="en-US" sz="17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/* velocity */</a:t>
            </a:r>
            <a:endParaRPr lang="en-US" sz="1750" dirty="0"/>
          </a:p>
          <a:p>
            <a:pPr indent="0" marL="0">
              <a:buNone/>
            </a:pPr>
            <a:r>
              <a:rPr lang="en-US" sz="17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int vy;</a:t>
            </a:r>
            <a:endParaRPr lang="en-US" sz="1750" dirty="0"/>
          </a:p>
          <a:p>
            <a:pPr indent="0" marL="0">
              <a:buNone/>
            </a:pPr>
            <a:r>
              <a:rPr lang="en-US" sz="17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uint16_t w;     </a:t>
            </a:r>
            <a:pPr indent="0" marL="0">
              <a:buNone/>
            </a:pPr>
            <a:r>
              <a:rPr lang="en-US" sz="17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/* size */</a:t>
            </a:r>
            <a:endParaRPr lang="en-US" sz="1750" dirty="0"/>
          </a:p>
          <a:p>
            <a:pPr indent="0" marL="0">
              <a:buNone/>
            </a:pPr>
            <a:r>
              <a:rPr lang="en-US" sz="17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uint16_t h;</a:t>
            </a:r>
            <a:endParaRPr lang="en-US" sz="1750" dirty="0"/>
          </a:p>
          <a:p>
            <a:pPr indent="0" marL="0">
              <a:buNone/>
            </a:pPr>
            <a:r>
              <a:rPr lang="en-US" sz="17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uint16_t state; </a:t>
            </a:r>
            <a:pPr indent="0" marL="0">
              <a:buNone/>
            </a:pPr>
            <a:r>
              <a:rPr lang="en-US" sz="17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/* collision/status flags */</a:t>
            </a:r>
            <a:endParaRPr lang="en-US" sz="1750" dirty="0"/>
          </a:p>
          <a:p>
            <a:pPr indent="0" marL="0">
              <a:buNone/>
            </a:pPr>
            <a:r>
              <a:rPr lang="en-US" sz="17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uint8_t layer;</a:t>
            </a:r>
            <a:endParaRPr lang="en-US" sz="1750" dirty="0"/>
          </a:p>
          <a:p>
            <a:pPr indent="0" marL="0">
              <a:buNone/>
            </a:pPr>
            <a:r>
              <a:rPr lang="en-US" sz="17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uint8_t reserved;</a:t>
            </a:r>
            <a:endParaRPr lang="en-US" sz="1750" dirty="0"/>
          </a:p>
          <a:p>
            <a:pPr indent="0" marL="0">
              <a:buNone/>
            </a:pPr>
            <a:r>
              <a:rPr lang="en-US" sz="17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 prg32_platform_actor_t;</a:t>
            </a:r>
            <a:endParaRPr lang="en-US" sz="1750" dirty="0"/>
          </a:p>
        </p:txBody>
      </p:sp>
      <p:sp>
        <p:nvSpPr>
          <p:cNvPr id="5" name="Shape 3"/>
          <p:cNvSpPr/>
          <p:nvPr/>
        </p:nvSpPr>
        <p:spPr>
          <a:xfrm>
            <a:off x="8229600" y="1463040"/>
            <a:ext cx="341345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394192" y="162763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8915400" y="1600200"/>
            <a:ext cx="254477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Position and velocity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8229600" y="2702052"/>
            <a:ext cx="341345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394192" y="286664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915400" y="2839212"/>
            <a:ext cx="254477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Size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8229600" y="3941064"/>
            <a:ext cx="341345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394192" y="410565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8915400" y="4078224"/>
            <a:ext cx="254477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state: flags set by the physics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8229600" y="5180076"/>
            <a:ext cx="341345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394192" y="534466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8915400" y="5317236"/>
            <a:ext cx="254477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typedef gives the struct a short type name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Without and with a struct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5364328" cy="4754880"/>
          </a:xfrm>
          <a:prstGeom prst="roundRect">
            <a:avLst>
              <a:gd name="adj" fmla="val 153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691640"/>
            <a:ext cx="4815688" cy="548640"/>
          </a:xfrm>
          <a:prstGeom prst="roundRect">
            <a:avLst>
              <a:gd name="adj" fmla="val 13333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Separate variables</a:t>
            </a:r>
            <a:endParaRPr lang="en-US" sz="1900" dirty="0"/>
          </a:p>
        </p:txBody>
      </p:sp>
      <p:sp>
        <p:nvSpPr>
          <p:cNvPr id="5" name="Text 3"/>
          <p:cNvSpPr txBox="1"/>
          <p:nvPr/>
        </p:nvSpPr>
        <p:spPr>
          <a:xfrm>
            <a:off x="868680" y="2468880"/>
            <a:ext cx="4724248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player_x, player_y, player_vx, ...</a:t>
            </a:r>
            <a:endParaRPr lang="en-US" sz="21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function needs all of them</a:t>
            </a:r>
            <a:endParaRPr lang="en-US" sz="21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second actor doubles the names</a:t>
            </a:r>
            <a:endParaRPr lang="en-US" sz="21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Easy to pass the wrong one</a:t>
            </a:r>
            <a:endParaRPr lang="en-US" sz="2100" dirty="0"/>
          </a:p>
        </p:txBody>
      </p:sp>
      <p:sp>
        <p:nvSpPr>
          <p:cNvPr id="6" name="Shape 4"/>
          <p:cNvSpPr/>
          <p:nvPr/>
        </p:nvSpPr>
        <p:spPr>
          <a:xfrm>
            <a:off x="6278728" y="1463040"/>
            <a:ext cx="5364328" cy="4754880"/>
          </a:xfrm>
          <a:prstGeom prst="roundRect">
            <a:avLst>
              <a:gd name="adj" fmla="val 153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553048" y="1691640"/>
            <a:ext cx="4815688" cy="548640"/>
          </a:xfrm>
          <a:prstGeom prst="roundRect">
            <a:avLst>
              <a:gd name="adj" fmla="val 13333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struct</a:t>
            </a:r>
            <a:endParaRPr lang="en-US" sz="1900" dirty="0"/>
          </a:p>
        </p:txBody>
      </p:sp>
      <p:sp>
        <p:nvSpPr>
          <p:cNvPr id="8" name="Text 6"/>
          <p:cNvSpPr txBox="1"/>
          <p:nvPr/>
        </p:nvSpPr>
        <p:spPr>
          <a:xfrm>
            <a:off x="6598768" y="2468880"/>
            <a:ext cx="4724248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player.x, player.y, player.vx, ...</a:t>
            </a:r>
            <a:endParaRPr lang="en-US" sz="21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 one thing: &amp;player</a:t>
            </a:r>
            <a:endParaRPr lang="en-US" sz="21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second actor is one more variable</a:t>
            </a:r>
            <a:endParaRPr lang="en-US" sz="21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array of actors is natural</a:t>
            </a:r>
            <a:endParaRPr lang="en-US" sz="2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dot and the ampersand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80160" y="1463040"/>
            <a:ext cx="64922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player.x reads or writes one field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71119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2692908"/>
            <a:ext cx="64922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&amp;player is the address of the whole struct</a:t>
            </a:r>
            <a:endParaRPr lang="en-US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941064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1280160" y="3922776"/>
            <a:ext cx="6492240" cy="10652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Helpers take the address so they can modify your struct</a:t>
            </a:r>
            <a:endParaRPr lang="en-US" sz="24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517093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5152644"/>
            <a:ext cx="6492240" cy="10652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Passing the struct itself would hand them a copy</a:t>
            </a:r>
            <a:endParaRPr lang="en-US" sz="2400" dirty="0"/>
          </a:p>
        </p:txBody>
      </p:sp>
      <p:sp>
        <p:nvSpPr>
          <p:cNvPr id="11" name="Shape 9"/>
          <p:cNvSpPr/>
          <p:nvPr/>
        </p:nvSpPr>
        <p:spPr>
          <a:xfrm>
            <a:off x="8229600" y="1463040"/>
            <a:ext cx="3413455" cy="4754880"/>
          </a:xfrm>
          <a:prstGeom prst="roundRect">
            <a:avLst>
              <a:gd name="adj" fmla="val 2143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412480" y="2286000"/>
            <a:ext cx="3044952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&amp;player</a:t>
            </a:r>
            <a:endParaRPr lang="en-US" sz="6000" dirty="0"/>
          </a:p>
        </p:txBody>
      </p:sp>
      <p:sp>
        <p:nvSpPr>
          <p:cNvPr id="13" name="Text 11"/>
          <p:cNvSpPr txBox="1"/>
          <p:nvPr/>
        </p:nvSpPr>
        <p:spPr>
          <a:xfrm>
            <a:off x="8503920" y="4297680"/>
            <a:ext cx="286207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address: pass by reference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prg32_platform_actor_t, field by field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63040"/>
            <a:ext cx="82296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22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+0</a:t>
            </a:r>
            <a:endParaRPr lang="en-US" sz="1022" dirty="0"/>
          </a:p>
        </p:txBody>
      </p:sp>
      <p:sp>
        <p:nvSpPr>
          <p:cNvPr id="4" name="Text 2"/>
          <p:cNvSpPr txBox="1"/>
          <p:nvPr/>
        </p:nvSpPr>
        <p:spPr>
          <a:xfrm>
            <a:off x="1508760" y="1463040"/>
            <a:ext cx="3291840" cy="429768"/>
          </a:xfrm>
          <a:prstGeom prst="rect">
            <a:avLst/>
          </a:prstGeom>
          <a:solidFill>
            <a:srgbClr val="2E4A62"/>
          </a:solidFill>
          <a:ln w="1270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22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</a:t>
            </a:r>
            <a:endParaRPr lang="en-US" sz="1222" dirty="0"/>
          </a:p>
        </p:txBody>
      </p:sp>
      <p:sp>
        <p:nvSpPr>
          <p:cNvPr id="5" name="Text 3"/>
          <p:cNvSpPr txBox="1"/>
          <p:nvPr/>
        </p:nvSpPr>
        <p:spPr>
          <a:xfrm>
            <a:off x="4937760" y="1463040"/>
            <a:ext cx="114300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22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bytes</a:t>
            </a:r>
            <a:endParaRPr lang="en-US" sz="1022" dirty="0"/>
          </a:p>
        </p:txBody>
      </p:sp>
      <p:sp>
        <p:nvSpPr>
          <p:cNvPr id="6" name="Text 4"/>
          <p:cNvSpPr txBox="1"/>
          <p:nvPr/>
        </p:nvSpPr>
        <p:spPr>
          <a:xfrm>
            <a:off x="6126480" y="1463040"/>
            <a:ext cx="5516575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22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</a:t>
            </a:r>
            <a:endParaRPr lang="en-US" sz="1222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956816"/>
            <a:ext cx="82296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22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+4</a:t>
            </a:r>
            <a:endParaRPr lang="en-US" sz="1022" dirty="0"/>
          </a:p>
        </p:txBody>
      </p:sp>
      <p:sp>
        <p:nvSpPr>
          <p:cNvPr id="8" name="Text 6"/>
          <p:cNvSpPr txBox="1"/>
          <p:nvPr/>
        </p:nvSpPr>
        <p:spPr>
          <a:xfrm>
            <a:off x="1508760" y="1956816"/>
            <a:ext cx="3291840" cy="429768"/>
          </a:xfrm>
          <a:prstGeom prst="rect">
            <a:avLst/>
          </a:prstGeom>
          <a:solidFill>
            <a:srgbClr val="0E7C86"/>
          </a:solidFill>
          <a:ln w="1270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22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y</a:t>
            </a:r>
            <a:endParaRPr lang="en-US" sz="1222" dirty="0"/>
          </a:p>
        </p:txBody>
      </p:sp>
      <p:sp>
        <p:nvSpPr>
          <p:cNvPr id="9" name="Text 7"/>
          <p:cNvSpPr txBox="1"/>
          <p:nvPr/>
        </p:nvSpPr>
        <p:spPr>
          <a:xfrm>
            <a:off x="4937760" y="1956816"/>
            <a:ext cx="114300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22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bytes</a:t>
            </a:r>
            <a:endParaRPr lang="en-US" sz="1022" dirty="0"/>
          </a:p>
        </p:txBody>
      </p:sp>
      <p:sp>
        <p:nvSpPr>
          <p:cNvPr id="10" name="Text 8"/>
          <p:cNvSpPr txBox="1"/>
          <p:nvPr/>
        </p:nvSpPr>
        <p:spPr>
          <a:xfrm>
            <a:off x="6126480" y="1956816"/>
            <a:ext cx="5516575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22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</a:t>
            </a:r>
            <a:endParaRPr lang="en-US" sz="1222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2450592"/>
            <a:ext cx="82296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22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+8</a:t>
            </a:r>
            <a:endParaRPr lang="en-US" sz="1022" dirty="0"/>
          </a:p>
        </p:txBody>
      </p:sp>
      <p:sp>
        <p:nvSpPr>
          <p:cNvPr id="12" name="Text 10"/>
          <p:cNvSpPr txBox="1"/>
          <p:nvPr/>
        </p:nvSpPr>
        <p:spPr>
          <a:xfrm>
            <a:off x="1508760" y="2450592"/>
            <a:ext cx="3291840" cy="429768"/>
          </a:xfrm>
          <a:prstGeom prst="rect">
            <a:avLst/>
          </a:prstGeom>
          <a:solidFill>
            <a:srgbClr val="6B4FA0"/>
          </a:solidFill>
          <a:ln w="1270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22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vx</a:t>
            </a:r>
            <a:endParaRPr lang="en-US" sz="1222" dirty="0"/>
          </a:p>
        </p:txBody>
      </p:sp>
      <p:sp>
        <p:nvSpPr>
          <p:cNvPr id="13" name="Text 11"/>
          <p:cNvSpPr txBox="1"/>
          <p:nvPr/>
        </p:nvSpPr>
        <p:spPr>
          <a:xfrm>
            <a:off x="4937760" y="2450592"/>
            <a:ext cx="114300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22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bytes</a:t>
            </a:r>
            <a:endParaRPr lang="en-US" sz="1022" dirty="0"/>
          </a:p>
        </p:txBody>
      </p:sp>
      <p:sp>
        <p:nvSpPr>
          <p:cNvPr id="14" name="Text 12"/>
          <p:cNvSpPr txBox="1"/>
          <p:nvPr/>
        </p:nvSpPr>
        <p:spPr>
          <a:xfrm>
            <a:off x="6126480" y="2450592"/>
            <a:ext cx="5516575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22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</a:t>
            </a:r>
            <a:endParaRPr lang="en-US" sz="1222" dirty="0"/>
          </a:p>
        </p:txBody>
      </p:sp>
      <p:sp>
        <p:nvSpPr>
          <p:cNvPr id="15" name="Text 13"/>
          <p:cNvSpPr txBox="1"/>
          <p:nvPr/>
        </p:nvSpPr>
        <p:spPr>
          <a:xfrm>
            <a:off x="548640" y="2944368"/>
            <a:ext cx="82296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22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+12</a:t>
            </a:r>
            <a:endParaRPr lang="en-US" sz="1022" dirty="0"/>
          </a:p>
        </p:txBody>
      </p:sp>
      <p:sp>
        <p:nvSpPr>
          <p:cNvPr id="16" name="Text 14"/>
          <p:cNvSpPr txBox="1"/>
          <p:nvPr/>
        </p:nvSpPr>
        <p:spPr>
          <a:xfrm>
            <a:off x="1508760" y="2944368"/>
            <a:ext cx="3291840" cy="429768"/>
          </a:xfrm>
          <a:prstGeom prst="rect">
            <a:avLst/>
          </a:prstGeom>
          <a:solidFill>
            <a:srgbClr val="C7791B"/>
          </a:solidFill>
          <a:ln w="1270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22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vy</a:t>
            </a:r>
            <a:endParaRPr lang="en-US" sz="1222" dirty="0"/>
          </a:p>
        </p:txBody>
      </p:sp>
      <p:sp>
        <p:nvSpPr>
          <p:cNvPr id="17" name="Text 15"/>
          <p:cNvSpPr txBox="1"/>
          <p:nvPr/>
        </p:nvSpPr>
        <p:spPr>
          <a:xfrm>
            <a:off x="4937760" y="2944368"/>
            <a:ext cx="114300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22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bytes</a:t>
            </a:r>
            <a:endParaRPr lang="en-US" sz="1022" dirty="0"/>
          </a:p>
        </p:txBody>
      </p:sp>
      <p:sp>
        <p:nvSpPr>
          <p:cNvPr id="18" name="Text 16"/>
          <p:cNvSpPr txBox="1"/>
          <p:nvPr/>
        </p:nvSpPr>
        <p:spPr>
          <a:xfrm>
            <a:off x="6126480" y="2944368"/>
            <a:ext cx="5516575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22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</a:t>
            </a:r>
            <a:endParaRPr lang="en-US" sz="1222" dirty="0"/>
          </a:p>
        </p:txBody>
      </p:sp>
      <p:sp>
        <p:nvSpPr>
          <p:cNvPr id="19" name="Text 17"/>
          <p:cNvSpPr txBox="1"/>
          <p:nvPr/>
        </p:nvSpPr>
        <p:spPr>
          <a:xfrm>
            <a:off x="548640" y="3438144"/>
            <a:ext cx="82296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22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+16</a:t>
            </a:r>
            <a:endParaRPr lang="en-US" sz="1022" dirty="0"/>
          </a:p>
        </p:txBody>
      </p:sp>
      <p:sp>
        <p:nvSpPr>
          <p:cNvPr id="20" name="Text 18"/>
          <p:cNvSpPr txBox="1"/>
          <p:nvPr/>
        </p:nvSpPr>
        <p:spPr>
          <a:xfrm>
            <a:off x="1508760" y="3438144"/>
            <a:ext cx="3291840" cy="429768"/>
          </a:xfrm>
          <a:prstGeom prst="rect">
            <a:avLst/>
          </a:prstGeom>
          <a:solidFill>
            <a:srgbClr val="2F7D4F"/>
          </a:solidFill>
          <a:ln w="1270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22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</a:t>
            </a:r>
            <a:endParaRPr lang="en-US" sz="1222" dirty="0"/>
          </a:p>
        </p:txBody>
      </p:sp>
      <p:sp>
        <p:nvSpPr>
          <p:cNvPr id="21" name="Text 19"/>
          <p:cNvSpPr txBox="1"/>
          <p:nvPr/>
        </p:nvSpPr>
        <p:spPr>
          <a:xfrm>
            <a:off x="4937760" y="3438144"/>
            <a:ext cx="114300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22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bytes</a:t>
            </a:r>
            <a:endParaRPr lang="en-US" sz="1022" dirty="0"/>
          </a:p>
        </p:txBody>
      </p:sp>
      <p:sp>
        <p:nvSpPr>
          <p:cNvPr id="22" name="Text 20"/>
          <p:cNvSpPr txBox="1"/>
          <p:nvPr/>
        </p:nvSpPr>
        <p:spPr>
          <a:xfrm>
            <a:off x="6126480" y="3438144"/>
            <a:ext cx="5516575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22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uint16_t</a:t>
            </a:r>
            <a:endParaRPr lang="en-US" sz="1222" dirty="0"/>
          </a:p>
        </p:txBody>
      </p:sp>
      <p:sp>
        <p:nvSpPr>
          <p:cNvPr id="23" name="Text 21"/>
          <p:cNvSpPr txBox="1"/>
          <p:nvPr/>
        </p:nvSpPr>
        <p:spPr>
          <a:xfrm>
            <a:off x="548640" y="3931920"/>
            <a:ext cx="82296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22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+18</a:t>
            </a:r>
            <a:endParaRPr lang="en-US" sz="1022" dirty="0"/>
          </a:p>
        </p:txBody>
      </p:sp>
      <p:sp>
        <p:nvSpPr>
          <p:cNvPr id="24" name="Text 22"/>
          <p:cNvSpPr txBox="1"/>
          <p:nvPr/>
        </p:nvSpPr>
        <p:spPr>
          <a:xfrm>
            <a:off x="1508760" y="3931920"/>
            <a:ext cx="3291840" cy="429768"/>
          </a:xfrm>
          <a:prstGeom prst="rect">
            <a:avLst/>
          </a:prstGeom>
          <a:solidFill>
            <a:srgbClr val="B23A48"/>
          </a:solidFill>
          <a:ln w="1270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22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</a:t>
            </a:r>
            <a:endParaRPr lang="en-US" sz="1222" dirty="0"/>
          </a:p>
        </p:txBody>
      </p:sp>
      <p:sp>
        <p:nvSpPr>
          <p:cNvPr id="25" name="Text 23"/>
          <p:cNvSpPr txBox="1"/>
          <p:nvPr/>
        </p:nvSpPr>
        <p:spPr>
          <a:xfrm>
            <a:off x="4937760" y="3931920"/>
            <a:ext cx="114300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22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bytes</a:t>
            </a:r>
            <a:endParaRPr lang="en-US" sz="1022" dirty="0"/>
          </a:p>
        </p:txBody>
      </p:sp>
      <p:sp>
        <p:nvSpPr>
          <p:cNvPr id="26" name="Text 24"/>
          <p:cNvSpPr txBox="1"/>
          <p:nvPr/>
        </p:nvSpPr>
        <p:spPr>
          <a:xfrm>
            <a:off x="6126480" y="3931920"/>
            <a:ext cx="5516575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22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uint16_t</a:t>
            </a:r>
            <a:endParaRPr lang="en-US" sz="1222" dirty="0"/>
          </a:p>
        </p:txBody>
      </p:sp>
      <p:sp>
        <p:nvSpPr>
          <p:cNvPr id="27" name="Text 25"/>
          <p:cNvSpPr txBox="1"/>
          <p:nvPr/>
        </p:nvSpPr>
        <p:spPr>
          <a:xfrm>
            <a:off x="548640" y="4425696"/>
            <a:ext cx="82296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22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+20</a:t>
            </a:r>
            <a:endParaRPr lang="en-US" sz="1022" dirty="0"/>
          </a:p>
        </p:txBody>
      </p:sp>
      <p:sp>
        <p:nvSpPr>
          <p:cNvPr id="28" name="Text 26"/>
          <p:cNvSpPr txBox="1"/>
          <p:nvPr/>
        </p:nvSpPr>
        <p:spPr>
          <a:xfrm>
            <a:off x="1508760" y="4425696"/>
            <a:ext cx="3291840" cy="429768"/>
          </a:xfrm>
          <a:prstGeom prst="rect">
            <a:avLst/>
          </a:prstGeom>
          <a:solidFill>
            <a:srgbClr val="2E4A62"/>
          </a:solidFill>
          <a:ln w="1270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22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state</a:t>
            </a:r>
            <a:endParaRPr lang="en-US" sz="1222" dirty="0"/>
          </a:p>
        </p:txBody>
      </p:sp>
      <p:sp>
        <p:nvSpPr>
          <p:cNvPr id="29" name="Text 27"/>
          <p:cNvSpPr txBox="1"/>
          <p:nvPr/>
        </p:nvSpPr>
        <p:spPr>
          <a:xfrm>
            <a:off x="4937760" y="4425696"/>
            <a:ext cx="114300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22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bytes</a:t>
            </a:r>
            <a:endParaRPr lang="en-US" sz="1022" dirty="0"/>
          </a:p>
        </p:txBody>
      </p:sp>
      <p:sp>
        <p:nvSpPr>
          <p:cNvPr id="30" name="Text 28"/>
          <p:cNvSpPr txBox="1"/>
          <p:nvPr/>
        </p:nvSpPr>
        <p:spPr>
          <a:xfrm>
            <a:off x="6126480" y="4425696"/>
            <a:ext cx="5516575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22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uint16_t</a:t>
            </a:r>
            <a:endParaRPr lang="en-US" sz="1222" dirty="0"/>
          </a:p>
        </p:txBody>
      </p:sp>
      <p:sp>
        <p:nvSpPr>
          <p:cNvPr id="31" name="Text 29"/>
          <p:cNvSpPr txBox="1"/>
          <p:nvPr/>
        </p:nvSpPr>
        <p:spPr>
          <a:xfrm>
            <a:off x="548640" y="4919472"/>
            <a:ext cx="82296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22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+22</a:t>
            </a:r>
            <a:endParaRPr lang="en-US" sz="1022" dirty="0"/>
          </a:p>
        </p:txBody>
      </p:sp>
      <p:sp>
        <p:nvSpPr>
          <p:cNvPr id="32" name="Text 30"/>
          <p:cNvSpPr txBox="1"/>
          <p:nvPr/>
        </p:nvSpPr>
        <p:spPr>
          <a:xfrm>
            <a:off x="1508760" y="4919472"/>
            <a:ext cx="3291840" cy="429768"/>
          </a:xfrm>
          <a:prstGeom prst="rect">
            <a:avLst/>
          </a:prstGeom>
          <a:solidFill>
            <a:srgbClr val="0E7C86"/>
          </a:solidFill>
          <a:ln w="1270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22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layer, reserved</a:t>
            </a:r>
            <a:endParaRPr lang="en-US" sz="1222" dirty="0"/>
          </a:p>
        </p:txBody>
      </p:sp>
      <p:sp>
        <p:nvSpPr>
          <p:cNvPr id="33" name="Text 31"/>
          <p:cNvSpPr txBox="1"/>
          <p:nvPr/>
        </p:nvSpPr>
        <p:spPr>
          <a:xfrm>
            <a:off x="4937760" y="4919472"/>
            <a:ext cx="114300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22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bytes</a:t>
            </a:r>
            <a:endParaRPr lang="en-US" sz="1022" dirty="0"/>
          </a:p>
        </p:txBody>
      </p:sp>
      <p:sp>
        <p:nvSpPr>
          <p:cNvPr id="34" name="Text 32"/>
          <p:cNvSpPr txBox="1"/>
          <p:nvPr/>
        </p:nvSpPr>
        <p:spPr>
          <a:xfrm>
            <a:off x="6126480" y="4919472"/>
            <a:ext cx="5516575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22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uint8_t each</a:t>
            </a:r>
            <a:endParaRPr lang="en-US" sz="1222" dirty="0"/>
          </a:p>
        </p:txBody>
      </p:sp>
      <p:sp>
        <p:nvSpPr>
          <p:cNvPr id="35" name="Shape 33"/>
          <p:cNvSpPr/>
          <p:nvPr/>
        </p:nvSpPr>
        <p:spPr>
          <a:xfrm>
            <a:off x="548640" y="5458968"/>
            <a:ext cx="11094415" cy="758952"/>
          </a:xfrm>
          <a:prstGeom prst="roundRect">
            <a:avLst>
              <a:gd name="adj" fmla="val 9639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822960" y="5532120"/>
            <a:ext cx="10545775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 bytes. player.vx is 'the int 8 bytes after the start'; &amp;player is the address of byte 0. prg32.h publishes the same offsets for assembly.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Check your understanding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63040"/>
            <a:ext cx="1109441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does prg32_platform_actor_step take &amp;player and not player?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2880360"/>
            <a:ext cx="5432908" cy="1554480"/>
          </a:xfrm>
          <a:prstGeom prst="roundRect">
            <a:avLst>
              <a:gd name="adj" fmla="val 470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343814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71600" y="2971800"/>
            <a:ext cx="44270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is faster to type</a:t>
            </a:r>
            <a:endParaRPr lang="en-US" sz="1900" dirty="0"/>
          </a:p>
        </p:txBody>
      </p:sp>
      <p:sp>
        <p:nvSpPr>
          <p:cNvPr id="7" name="Shape 5"/>
          <p:cNvSpPr/>
          <p:nvPr/>
        </p:nvSpPr>
        <p:spPr>
          <a:xfrm>
            <a:off x="6210148" y="2880360"/>
            <a:ext cx="5432908" cy="1554480"/>
          </a:xfrm>
          <a:prstGeom prst="roundRect">
            <a:avLst>
              <a:gd name="adj" fmla="val 470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393028" y="343814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7033108" y="2971800"/>
            <a:ext cx="44270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must change the actor's position and velocity in your variable</a:t>
            </a:r>
            <a:endParaRPr lang="en-US" sz="1900" dirty="0"/>
          </a:p>
        </p:txBody>
      </p:sp>
      <p:sp>
        <p:nvSpPr>
          <p:cNvPr id="10" name="Shape 8"/>
          <p:cNvSpPr/>
          <p:nvPr/>
        </p:nvSpPr>
        <p:spPr>
          <a:xfrm>
            <a:off x="548640" y="4663440"/>
            <a:ext cx="5432908" cy="1554480"/>
          </a:xfrm>
          <a:prstGeom prst="roundRect">
            <a:avLst>
              <a:gd name="adj" fmla="val 470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31520" y="522122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71600" y="4754880"/>
            <a:ext cx="44270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Structs cannot be passed in C</a:t>
            </a:r>
            <a:endParaRPr lang="en-US" sz="1900" dirty="0"/>
          </a:p>
        </p:txBody>
      </p:sp>
      <p:sp>
        <p:nvSpPr>
          <p:cNvPr id="13" name="Shape 11"/>
          <p:cNvSpPr/>
          <p:nvPr/>
        </p:nvSpPr>
        <p:spPr>
          <a:xfrm>
            <a:off x="6210148" y="4663440"/>
            <a:ext cx="5432908" cy="1554480"/>
          </a:xfrm>
          <a:prstGeom prst="roundRect">
            <a:avLst>
              <a:gd name="adj" fmla="val 470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393028" y="522122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7033108" y="4754880"/>
            <a:ext cx="44270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address is shorter than the name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371600"/>
            <a:ext cx="2743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0" b="1" dirty="0">
                <a:solidFill>
                  <a:srgbClr val="5CC7D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8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834640"/>
            <a:ext cx="1109441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Tile maps</a:t>
            </a:r>
            <a:endParaRPr lang="en-US" sz="4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38912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world as a grid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tiles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5410048" cy="2240280"/>
          </a:xfrm>
          <a:prstGeom prst="roundRect">
            <a:avLst>
              <a:gd name="adj" fmla="val 326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9164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325880" y="1645920"/>
            <a:ext cx="440420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Memory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423160"/>
            <a:ext cx="486140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64 by 32 world is 2048 one-byte tile numbers, not half a million pixels.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6233008" y="1463040"/>
            <a:ext cx="5410048" cy="2240280"/>
          </a:xfrm>
          <a:prstGeom prst="roundRect">
            <a:avLst>
              <a:gd name="adj" fmla="val 326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61608" y="169164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7010248" y="1645920"/>
            <a:ext cx="440420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Reuse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6507328" y="2423160"/>
            <a:ext cx="486140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few 8 by 8 pictures, repeated, make a whole level.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548640" y="3977640"/>
            <a:ext cx="5410048" cy="2240280"/>
          </a:xfrm>
          <a:prstGeom prst="roundRect">
            <a:avLst>
              <a:gd name="adj" fmla="val 326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77240" y="420624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1325880" y="4160520"/>
            <a:ext cx="440420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Meaning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822960" y="4937760"/>
            <a:ext cx="486140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tile number can carry behaviour: solid, hazard, coin.</a:t>
            </a:r>
            <a:endParaRPr lang="en-US" sz="2000" dirty="0"/>
          </a:p>
        </p:txBody>
      </p:sp>
      <p:sp>
        <p:nvSpPr>
          <p:cNvPr id="15" name="Shape 13"/>
          <p:cNvSpPr/>
          <p:nvPr/>
        </p:nvSpPr>
        <p:spPr>
          <a:xfrm>
            <a:off x="6233008" y="3977640"/>
            <a:ext cx="5410048" cy="2240280"/>
          </a:xfrm>
          <a:prstGeom prst="roundRect">
            <a:avLst>
              <a:gd name="adj" fmla="val 326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461608" y="420624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7010248" y="4160520"/>
            <a:ext cx="440420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Scrolling</a:t>
            </a:r>
            <a:endParaRPr lang="en-US" sz="2000" dirty="0"/>
          </a:p>
        </p:txBody>
      </p:sp>
      <p:sp>
        <p:nvSpPr>
          <p:cNvPr id="18" name="Text 16"/>
          <p:cNvSpPr txBox="1"/>
          <p:nvPr/>
        </p:nvSpPr>
        <p:spPr>
          <a:xfrm>
            <a:off x="6507328" y="4937760"/>
            <a:ext cx="486140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runtime draws the visible part of a larger grid.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playfield in numbers</a:t>
            </a:r>
            <a:endParaRPr lang="en-US" sz="30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94415" cy="914400"/>
        </p:xfrm>
        <a:graphic>
          <a:graphicData uri="http://schemas.openxmlformats.org/drawingml/2006/table">
            <a:tbl>
              <a:tblPr/>
              <a:tblGrid>
                <a:gridCol w="4437766"/>
                <a:gridCol w="1941523"/>
                <a:gridCol w="4715126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Constant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Value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Meaning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PRG32_TILE_W, PRG32_TILE_H</a:t>
                      </a:r>
                      <a:endParaRPr lang="en-US" sz="2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8, 8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Tile size in pixels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PRG32_PLAYFIELD_COLS</a:t>
                      </a:r>
                      <a:endParaRPr lang="en-US" sz="2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64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Grid width in tiles (512 pixels)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PRG32_PLAYFIELD_ROWS</a:t>
                      </a:r>
                      <a:endParaRPr lang="en-US" sz="2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Grid height in tiles (256 pixels)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PRG32_PLAYFIELD_LAYERS</a:t>
                      </a:r>
                      <a:endParaRPr lang="en-US" sz="2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Background and foreground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tiles: the arithmetic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80160" y="1463040"/>
            <a:ext cx="6492240" cy="10652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512 x 256 world in pixels at one byte each: 131,072 bytes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71119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2692908"/>
            <a:ext cx="6492240" cy="10652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world as 64 x 32 tile numbers: 2,048 bytes</a:t>
            </a:r>
            <a:endParaRPr lang="en-US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941064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1280160" y="3922776"/>
            <a:ext cx="64922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Tile bitmaps: 8 bytes each</a:t>
            </a:r>
            <a:endParaRPr lang="en-US" sz="24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517093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5152644"/>
            <a:ext cx="6492240" cy="10652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layers and a hundred tiles still fit in under 6 KiB</a:t>
            </a:r>
            <a:endParaRPr lang="en-US" sz="2400" dirty="0"/>
          </a:p>
        </p:txBody>
      </p:sp>
      <p:sp>
        <p:nvSpPr>
          <p:cNvPr id="11" name="Shape 9"/>
          <p:cNvSpPr/>
          <p:nvPr/>
        </p:nvSpPr>
        <p:spPr>
          <a:xfrm>
            <a:off x="8229600" y="1463040"/>
            <a:ext cx="3413455" cy="4754880"/>
          </a:xfrm>
          <a:prstGeom prst="roundRect">
            <a:avLst>
              <a:gd name="adj" fmla="val 2143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412480" y="2286000"/>
            <a:ext cx="3044952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64x</a:t>
            </a:r>
            <a:endParaRPr lang="en-US" sz="6000" dirty="0"/>
          </a:p>
        </p:txBody>
      </p:sp>
      <p:sp>
        <p:nvSpPr>
          <p:cNvPr id="13" name="Text 11"/>
          <p:cNvSpPr txBox="1"/>
          <p:nvPr/>
        </p:nvSpPr>
        <p:spPr>
          <a:xfrm>
            <a:off x="8503920" y="4297680"/>
            <a:ext cx="286207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 memory than pixels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Laying a run of tiles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740664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45920"/>
            <a:ext cx="694944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static void put_run(uint8_t layer, uint8_t x0, uint8_t x1,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uint8_t y, uint8_t tile) {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(uint8_t x = x0; x &lt;= x1 &amp;&amp; x &lt; PRG32_PLAYFIELD_COLS; ++x) {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prg32_playfield_put(layer, x, y, tile);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8229600" y="1463040"/>
            <a:ext cx="341345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394192" y="162763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8915400" y="1600200"/>
            <a:ext cx="254477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helper of your own: static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8229600" y="2702052"/>
            <a:ext cx="341345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394192" y="286664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915400" y="2839212"/>
            <a:ext cx="254477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Loop from x0 to x1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8229600" y="3941064"/>
            <a:ext cx="341345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394192" y="410565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8915400" y="4078224"/>
            <a:ext cx="254477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&amp;&amp; guard keeps x inside the grid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8229600" y="5180076"/>
            <a:ext cx="341345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394192" y="534466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8915400" y="5317236"/>
            <a:ext cx="254477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call places one tile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level from three runs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75488" y="1938528"/>
            <a:ext cx="5998464" cy="3803904"/>
          </a:xfrm>
          <a:prstGeom prst="rect">
            <a:avLst/>
          </a:prstGeom>
          <a:solidFill>
            <a:srgbClr val="2E4A62"/>
          </a:solidFill>
          <a:ln w="12700">
            <a:solidFill>
              <a:srgbClr val="2E4A6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48640" y="2011680"/>
            <a:ext cx="5852160" cy="365760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5230368"/>
            <a:ext cx="5852160" cy="146304"/>
          </a:xfrm>
          <a:prstGeom prst="rect">
            <a:avLst/>
          </a:prstGeom>
          <a:solidFill>
            <a:srgbClr val="00FC00"/>
          </a:solidFill>
          <a:ln w="12700">
            <a:solidFill>
              <a:srgbClr val="00FC0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011680" y="4498848"/>
            <a:ext cx="1463040" cy="146304"/>
          </a:xfrm>
          <a:prstGeom prst="rect">
            <a:avLst/>
          </a:prstGeom>
          <a:solidFill>
            <a:srgbClr val="00FC00"/>
          </a:solidFill>
          <a:ln w="12700">
            <a:solidFill>
              <a:srgbClr val="00FC0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206240" y="3767328"/>
            <a:ext cx="1170432" cy="146304"/>
          </a:xfrm>
          <a:prstGeom prst="rect">
            <a:avLst/>
          </a:prstGeom>
          <a:solidFill>
            <a:srgbClr val="00FC00"/>
          </a:solidFill>
          <a:ln w="12700">
            <a:solidFill>
              <a:srgbClr val="00FC0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33856" y="4937760"/>
            <a:ext cx="146304" cy="146304"/>
          </a:xfrm>
          <a:prstGeom prst="rect">
            <a:avLst/>
          </a:prstGeom>
          <a:solidFill>
            <a:srgbClr val="F8FC00"/>
          </a:solidFill>
          <a:ln w="12700">
            <a:solidFill>
              <a:srgbClr val="F8FC0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353312" y="491947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player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498848" y="3621024"/>
            <a:ext cx="146304" cy="146304"/>
          </a:xfrm>
          <a:prstGeom prst="rect">
            <a:avLst/>
          </a:prstGeom>
          <a:solidFill>
            <a:srgbClr val="F8A400"/>
          </a:solidFill>
          <a:ln w="12700">
            <a:solidFill>
              <a:srgbClr val="F8A400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718304" y="3602736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coin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5779008"/>
            <a:ext cx="5852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320 x 200 game viewport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6858000" y="14813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7589520" y="1463040"/>
            <a:ext cx="4053535" cy="10652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put_run(1, 0, 39, 22, 2): the ground</a:t>
            </a:r>
            <a:endParaRPr lang="en-US" sz="2400" dirty="0"/>
          </a:p>
        </p:txBody>
      </p:sp>
      <p:sp>
        <p:nvSpPr>
          <p:cNvPr id="15" name="Text 13"/>
          <p:cNvSpPr txBox="1"/>
          <p:nvPr/>
        </p:nvSpPr>
        <p:spPr>
          <a:xfrm>
            <a:off x="6858000" y="271119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16" name="Text 14"/>
          <p:cNvSpPr txBox="1"/>
          <p:nvPr/>
        </p:nvSpPr>
        <p:spPr>
          <a:xfrm>
            <a:off x="7589520" y="2692908"/>
            <a:ext cx="4053535" cy="10652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put_run(1, 10, 19, 17, 2): a platform</a:t>
            </a:r>
            <a:endParaRPr lang="en-US" sz="2400" dirty="0"/>
          </a:p>
        </p:txBody>
      </p:sp>
      <p:sp>
        <p:nvSpPr>
          <p:cNvPr id="17" name="Text 15"/>
          <p:cNvSpPr txBox="1"/>
          <p:nvPr/>
        </p:nvSpPr>
        <p:spPr>
          <a:xfrm>
            <a:off x="6858000" y="3941064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18" name="Text 16"/>
          <p:cNvSpPr txBox="1"/>
          <p:nvPr/>
        </p:nvSpPr>
        <p:spPr>
          <a:xfrm>
            <a:off x="7589520" y="3922776"/>
            <a:ext cx="4053535" cy="10652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put_run(1, 25, 32, 12, 2): a higher one</a:t>
            </a:r>
            <a:endParaRPr lang="en-US" sz="2400" dirty="0"/>
          </a:p>
        </p:txBody>
      </p:sp>
      <p:sp>
        <p:nvSpPr>
          <p:cNvPr id="19" name="Text 17"/>
          <p:cNvSpPr txBox="1"/>
          <p:nvPr/>
        </p:nvSpPr>
        <p:spPr>
          <a:xfrm>
            <a:off x="6858000" y="517093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700" dirty="0"/>
          </a:p>
        </p:txBody>
      </p:sp>
      <p:sp>
        <p:nvSpPr>
          <p:cNvPr id="20" name="Text 18"/>
          <p:cNvSpPr txBox="1"/>
          <p:nvPr/>
        </p:nvSpPr>
        <p:spPr>
          <a:xfrm>
            <a:off x="7589520" y="5152644"/>
            <a:ext cx="4053535" cy="10652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Tile coordinates = pixel coordinates / 8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Check your understanding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63040"/>
            <a:ext cx="1109441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tile at tile coordinates (10, 17) starts at which pixel?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2880360"/>
            <a:ext cx="5432908" cy="1554480"/>
          </a:xfrm>
          <a:prstGeom prst="roundRect">
            <a:avLst>
              <a:gd name="adj" fmla="val 470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343814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71600" y="2971800"/>
            <a:ext cx="44270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(10, 17)</a:t>
            </a:r>
            <a:endParaRPr lang="en-US" sz="1900" dirty="0"/>
          </a:p>
        </p:txBody>
      </p:sp>
      <p:sp>
        <p:nvSpPr>
          <p:cNvPr id="7" name="Shape 5"/>
          <p:cNvSpPr/>
          <p:nvPr/>
        </p:nvSpPr>
        <p:spPr>
          <a:xfrm>
            <a:off x="6210148" y="2880360"/>
            <a:ext cx="5432908" cy="1554480"/>
          </a:xfrm>
          <a:prstGeom prst="roundRect">
            <a:avLst>
              <a:gd name="adj" fmla="val 470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393028" y="343814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7033108" y="2971800"/>
            <a:ext cx="44270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(80, 136)</a:t>
            </a:r>
            <a:endParaRPr lang="en-US" sz="1900" dirty="0"/>
          </a:p>
        </p:txBody>
      </p:sp>
      <p:sp>
        <p:nvSpPr>
          <p:cNvPr id="10" name="Shape 8"/>
          <p:cNvSpPr/>
          <p:nvPr/>
        </p:nvSpPr>
        <p:spPr>
          <a:xfrm>
            <a:off x="548640" y="4663440"/>
            <a:ext cx="5432908" cy="1554480"/>
          </a:xfrm>
          <a:prstGeom prst="roundRect">
            <a:avLst>
              <a:gd name="adj" fmla="val 470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31520" y="522122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71600" y="4754880"/>
            <a:ext cx="44270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(18, 25)</a:t>
            </a:r>
            <a:endParaRPr lang="en-US" sz="1900" dirty="0"/>
          </a:p>
        </p:txBody>
      </p:sp>
      <p:sp>
        <p:nvSpPr>
          <p:cNvPr id="13" name="Shape 11"/>
          <p:cNvSpPr/>
          <p:nvPr/>
        </p:nvSpPr>
        <p:spPr>
          <a:xfrm>
            <a:off x="6210148" y="4663440"/>
            <a:ext cx="5432908" cy="1554480"/>
          </a:xfrm>
          <a:prstGeom prst="roundRect">
            <a:avLst>
              <a:gd name="adj" fmla="val 470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393028" y="522122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7033108" y="4754880"/>
            <a:ext cx="44270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(160, 272)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371600"/>
            <a:ext cx="2743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0" b="1" dirty="0">
                <a:solidFill>
                  <a:srgbClr val="5CC7D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8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834640"/>
            <a:ext cx="1109441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Behaviour</a:t>
            </a:r>
            <a:endParaRPr lang="en-US" sz="4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38912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Flags on tiles, physics on actors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Giving tiles meaning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740664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45920"/>
            <a:ext cx="694944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prg32_platform_tile_flags(2, PRG32_TILE_FLAG_SOLID);    </a:t>
            </a:r>
            <a:pPr indent="0" marL="0">
              <a:buNone/>
            </a:pPr>
            <a:r>
              <a:rPr lang="en-US" sz="11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/* ground is solid */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prg32_platform_tile_flags(5, PRG32_TILE_FLAG_HAZARD);   </a:t>
            </a:r>
            <a:pPr indent="0" marL="0">
              <a:buNone/>
            </a:pPr>
            <a:r>
              <a:rPr lang="en-US" sz="11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/* spikes hurt */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prg32_platform_tile_flags(6, PRG32_TILE_FLAG_COLLECT);  </a:t>
            </a:r>
            <a:pPr indent="0" marL="0">
              <a:buNone/>
            </a:pPr>
            <a:r>
              <a:rPr lang="en-US" sz="11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/* coins collect */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8229600" y="1463040"/>
            <a:ext cx="341345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394192" y="162763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8915400" y="1600200"/>
            <a:ext cx="254477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Tile 2 blocks movement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8229600" y="2702052"/>
            <a:ext cx="341345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394192" y="286664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915400" y="2839212"/>
            <a:ext cx="254477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Tile 5 hurts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8229600" y="3941064"/>
            <a:ext cx="341345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394192" y="410565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8915400" y="4078224"/>
            <a:ext cx="254477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Tile 6 can be collected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8229600" y="5180076"/>
            <a:ext cx="341345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394192" y="534466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8915400" y="5317236"/>
            <a:ext cx="254477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map stores numbers; the flags give them behaviour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Tile flags and actor state bits</a:t>
            </a:r>
            <a:endParaRPr lang="en-US" sz="3000" dirty="0"/>
          </a:p>
        </p:txBody>
      </p:sp>
      <p:graphicFrame>
        <p:nvGraphicFramePr>
          <p:cNvPr id="2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94415" cy="914400"/>
        </p:xfrm>
        <a:graphic>
          <a:graphicData uri="http://schemas.openxmlformats.org/drawingml/2006/table">
            <a:tbl>
              <a:tblPr/>
              <a:tblGrid>
                <a:gridCol w="3698138"/>
                <a:gridCol w="3698138"/>
                <a:gridCol w="3698138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Tile flag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Actor state bit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Meaning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PRG32_TILE_FLAG_SOLID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PRG32_PLATFORM_ON_GROUND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blocked; standing on it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PRG32_TILE_FLAG_PLATFORM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PRG32_PLATFORM_HIT_HEAD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one-way platform; bumped a ceiling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PRG32_TILE_FLAG_HAZARD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PRG32_PLATFORM_HAZARD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harmful tile touched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PRG32_TILE_FLAG_COLLECT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PRG32_PLATFORM_COLLECT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collectable touched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 actor in a world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740664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45920"/>
            <a:ext cx="694944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static prg32_platform_actor_t player;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void platformer_c_init(void) {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fill_world();                                    </a:t>
            </a:r>
            <a:pPr indent="0" marL="0">
              <a:buNone/>
            </a:pPr>
            <a:r>
              <a:rPr lang="en-US" sz="11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/* build the tile map */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prg32_platform_tile_flags(2, PRG32_TILE_FLAG_SOLID);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prg32_platform_actor_init(&amp;player, 1, 32, 120, 8, 8);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void platformer_c_update(void) {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uint32_t input = prg32_input_read();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11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/* move_speed, jump_speed, gravity, max_fall */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uint16_t state = prg32_platform_actor_step(&amp;player, input, 2, -7, 1, 5);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(state &amp; PRG32_PLATFORM_HAZARD) {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prg32_buzzer_tone(120, 60, 512);                   </a:t>
            </a:r>
            <a:pPr indent="0" marL="0">
              <a:buNone/>
            </a:pPr>
            <a:r>
              <a:rPr lang="en-US" sz="11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/* hit a hazard */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prg32_platform_camera_follow(&amp;player, 64, 48);   </a:t>
            </a:r>
            <a:pPr indent="0" marL="0">
              <a:buNone/>
            </a:pPr>
            <a:r>
              <a:rPr lang="en-US" sz="11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/* scroll the world */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8229600" y="1463040"/>
            <a:ext cx="341345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394192" y="162763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8915400" y="1600200"/>
            <a:ext cx="254477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init: build the map, set flags, place the actor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8229600" y="2702052"/>
            <a:ext cx="341345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394192" y="286664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915400" y="2839212"/>
            <a:ext cx="254477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step: input, speeds, gravity in; state flags out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8229600" y="3941064"/>
            <a:ext cx="341345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394192" y="410565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8915400" y="4078224"/>
            <a:ext cx="254477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a flag with &amp;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8229600" y="5180076"/>
            <a:ext cx="341345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394192" y="534466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8915400" y="5317236"/>
            <a:ext cx="254477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camera follows the actor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actor_step does in one frame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920240"/>
            <a:ext cx="2464994" cy="4114800"/>
          </a:xfrm>
          <a:prstGeom prst="roundRect">
            <a:avLst>
              <a:gd name="adj" fmla="val 296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1506817" y="1645920"/>
            <a:ext cx="548640" cy="548640"/>
          </a:xfrm>
          <a:prstGeom prst="roundRect">
            <a:avLst>
              <a:gd name="adj" fmla="val 13333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2331720"/>
            <a:ext cx="209923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</a:t>
            </a:r>
            <a:endParaRPr lang="en-US" sz="19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3291840"/>
            <a:ext cx="2099234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Left and right set vx; A jumps if on the ground.</a:t>
            </a:r>
            <a:endParaRPr lang="en-US" sz="1900" dirty="0"/>
          </a:p>
        </p:txBody>
      </p:sp>
      <p:sp>
        <p:nvSpPr>
          <p:cNvPr id="7" name="Shape 5"/>
          <p:cNvSpPr/>
          <p:nvPr/>
        </p:nvSpPr>
        <p:spPr>
          <a:xfrm>
            <a:off x="3077642" y="3831336"/>
            <a:ext cx="283464" cy="292608"/>
          </a:xfrm>
          <a:prstGeom prst="rightArrow">
            <a:avLst/>
          </a:prstGeom>
          <a:solidFill>
            <a:srgbClr val="C9D2D8"/>
          </a:solidFill>
          <a:ln w="12700">
            <a:solidFill>
              <a:srgbClr val="C9D2D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25114" y="1920240"/>
            <a:ext cx="2464994" cy="4114800"/>
          </a:xfrm>
          <a:prstGeom prst="roundRect">
            <a:avLst>
              <a:gd name="adj" fmla="val 296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383291" y="1645920"/>
            <a:ext cx="548640" cy="548640"/>
          </a:xfrm>
          <a:prstGeom prst="roundRect">
            <a:avLst>
              <a:gd name="adj" fmla="val 13333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3607994" y="2331720"/>
            <a:ext cx="209923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Gravity</a:t>
            </a:r>
            <a:endParaRPr lang="en-US" sz="1900" dirty="0"/>
          </a:p>
        </p:txBody>
      </p:sp>
      <p:sp>
        <p:nvSpPr>
          <p:cNvPr id="11" name="Text 9"/>
          <p:cNvSpPr txBox="1"/>
          <p:nvPr/>
        </p:nvSpPr>
        <p:spPr>
          <a:xfrm>
            <a:off x="3607994" y="3291840"/>
            <a:ext cx="2099234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vy grows by gravity up to max_fall.</a:t>
            </a:r>
            <a:endParaRPr lang="en-US" sz="1900" dirty="0"/>
          </a:p>
        </p:txBody>
      </p:sp>
      <p:sp>
        <p:nvSpPr>
          <p:cNvPr id="12" name="Shape 10"/>
          <p:cNvSpPr/>
          <p:nvPr/>
        </p:nvSpPr>
        <p:spPr>
          <a:xfrm>
            <a:off x="5954116" y="3831336"/>
            <a:ext cx="283464" cy="292608"/>
          </a:xfrm>
          <a:prstGeom prst="rightArrow">
            <a:avLst/>
          </a:prstGeom>
          <a:solidFill>
            <a:srgbClr val="C9D2D8"/>
          </a:solidFill>
          <a:ln w="12700">
            <a:solidFill>
              <a:srgbClr val="C9D2D8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301588" y="1920240"/>
            <a:ext cx="2464994" cy="4114800"/>
          </a:xfrm>
          <a:prstGeom prst="roundRect">
            <a:avLst>
              <a:gd name="adj" fmla="val 296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259765" y="1645920"/>
            <a:ext cx="548640" cy="548640"/>
          </a:xfrm>
          <a:prstGeom prst="roundRect">
            <a:avLst>
              <a:gd name="adj" fmla="val 13333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000" dirty="0"/>
          </a:p>
        </p:txBody>
      </p:sp>
      <p:sp>
        <p:nvSpPr>
          <p:cNvPr id="15" name="Text 13"/>
          <p:cNvSpPr txBox="1"/>
          <p:nvPr/>
        </p:nvSpPr>
        <p:spPr>
          <a:xfrm>
            <a:off x="6484468" y="2331720"/>
            <a:ext cx="209923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Move and collide</a:t>
            </a:r>
            <a:endParaRPr lang="en-US" sz="1900" dirty="0"/>
          </a:p>
        </p:txBody>
      </p:sp>
      <p:sp>
        <p:nvSpPr>
          <p:cNvPr id="16" name="Text 14"/>
          <p:cNvSpPr txBox="1"/>
          <p:nvPr/>
        </p:nvSpPr>
        <p:spPr>
          <a:xfrm>
            <a:off x="6484468" y="3291840"/>
            <a:ext cx="2099234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actor moves; solid tiles stop it.</a:t>
            </a:r>
            <a:endParaRPr lang="en-US" sz="1900" dirty="0"/>
          </a:p>
        </p:txBody>
      </p:sp>
      <p:sp>
        <p:nvSpPr>
          <p:cNvPr id="17" name="Shape 15"/>
          <p:cNvSpPr/>
          <p:nvPr/>
        </p:nvSpPr>
        <p:spPr>
          <a:xfrm>
            <a:off x="8830589" y="3831336"/>
            <a:ext cx="283464" cy="292608"/>
          </a:xfrm>
          <a:prstGeom prst="rightArrow">
            <a:avLst/>
          </a:prstGeom>
          <a:solidFill>
            <a:srgbClr val="C9D2D8"/>
          </a:solidFill>
          <a:ln w="12700">
            <a:solidFill>
              <a:srgbClr val="C9D2D8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178061" y="1920240"/>
            <a:ext cx="2464994" cy="4114800"/>
          </a:xfrm>
          <a:prstGeom prst="roundRect">
            <a:avLst>
              <a:gd name="adj" fmla="val 296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10136238" y="1645920"/>
            <a:ext cx="548640" cy="548640"/>
          </a:xfrm>
          <a:prstGeom prst="roundRect">
            <a:avLst>
              <a:gd name="adj" fmla="val 13333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000" dirty="0"/>
          </a:p>
        </p:txBody>
      </p:sp>
      <p:sp>
        <p:nvSpPr>
          <p:cNvPr id="20" name="Text 18"/>
          <p:cNvSpPr txBox="1"/>
          <p:nvPr/>
        </p:nvSpPr>
        <p:spPr>
          <a:xfrm>
            <a:off x="9360941" y="2331720"/>
            <a:ext cx="209923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</a:t>
            </a:r>
            <a:endParaRPr lang="en-US" sz="1900" dirty="0"/>
          </a:p>
        </p:txBody>
      </p:sp>
      <p:sp>
        <p:nvSpPr>
          <p:cNvPr id="21" name="Text 19"/>
          <p:cNvSpPr txBox="1"/>
          <p:nvPr/>
        </p:nvSpPr>
        <p:spPr>
          <a:xfrm>
            <a:off x="9360941" y="3291840"/>
            <a:ext cx="2099234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Returns flags: on ground, hit head, hazard, collect.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Reading the result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80160" y="1463040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&amp; PRG32_PLATFORM_HAZARD: touched something harmful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71119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2692908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&amp; PRG32_PLATFORM_COLLECT: picked something up</a:t>
            </a:r>
            <a:endParaRPr lang="en-US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941064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1280160" y="3922776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&amp; PRG32_PLATFORM_ON_GROUND: may jump</a:t>
            </a:r>
            <a:endParaRPr lang="en-US" sz="24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517093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5152644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integer carries several independent answers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30</a:t>
            </a:fld>
            <a:endParaRPr 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Checkpoint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80160" y="1463040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Declare an array and loop over it safely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46522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2446934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. and &amp; on a struct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449117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1280160" y="3430829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Convert tile to pixel coordinates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4433011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4414723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Say how a tile number acquires behaviour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541690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1280160" y="5398618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one flag in a returned state word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31</a:t>
            </a:fld>
            <a:endParaRPr lang="en-US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Next steps and reading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5364328" cy="4754880"/>
          </a:xfrm>
          <a:prstGeom prst="roundRect">
            <a:avLst>
              <a:gd name="adj" fmla="val 153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691640"/>
            <a:ext cx="4815688" cy="548640"/>
          </a:xfrm>
          <a:prstGeom prst="roundRect">
            <a:avLst>
              <a:gd name="adj" fmla="val 13333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the next session</a:t>
            </a:r>
            <a:endParaRPr lang="en-US" sz="1900" dirty="0"/>
          </a:p>
        </p:txBody>
      </p:sp>
      <p:sp>
        <p:nvSpPr>
          <p:cNvPr id="5" name="Text 3"/>
          <p:cNvSpPr txBox="1"/>
          <p:nvPr/>
        </p:nvSpPr>
        <p:spPr>
          <a:xfrm>
            <a:off x="868680" y="2468880"/>
            <a:ext cx="4724248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Lab: bricks, then a small platform level</a:t>
            </a:r>
            <a:endParaRPr lang="en-US" sz="21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examples/games/platformer/c/game.c</a:t>
            </a:r>
            <a:endParaRPr lang="en-US" sz="21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Chapter 11: the C capstone</a:t>
            </a:r>
            <a:endParaRPr lang="en-US" sz="2100" dirty="0"/>
          </a:p>
        </p:txBody>
      </p:sp>
      <p:sp>
        <p:nvSpPr>
          <p:cNvPr id="6" name="Shape 4"/>
          <p:cNvSpPr/>
          <p:nvPr/>
        </p:nvSpPr>
        <p:spPr>
          <a:xfrm>
            <a:off x="6278728" y="1463040"/>
            <a:ext cx="5364328" cy="4754880"/>
          </a:xfrm>
          <a:prstGeom prst="roundRect">
            <a:avLst>
              <a:gd name="adj" fmla="val 153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553048" y="1691640"/>
            <a:ext cx="4815688" cy="548640"/>
          </a:xfrm>
          <a:prstGeom prst="roundRect">
            <a:avLst>
              <a:gd name="adj" fmla="val 13333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 and sources</a:t>
            </a:r>
            <a:endParaRPr lang="en-US" sz="1900" dirty="0"/>
          </a:p>
        </p:txBody>
      </p:sp>
      <p:sp>
        <p:nvSpPr>
          <p:cNvPr id="8" name="Text 6"/>
          <p:cNvSpPr txBox="1"/>
          <p:nvPr/>
        </p:nvSpPr>
        <p:spPr>
          <a:xfrm>
            <a:off x="6598768" y="2468880"/>
            <a:ext cx="4724248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Textbook, Chapter 10</a:t>
            </a:r>
            <a:endParaRPr lang="en-US" sz="21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examples/c_structs_and_tiles/ in the textbook repository</a:t>
            </a:r>
            <a:endParaRPr lang="en-US" sz="21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PRG32 docs/software/framework_manual.md (tiles, playfields, platform helpers)</a:t>
            </a:r>
            <a:endParaRPr lang="en-US" sz="21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Kernighan and Ritchie, chapters 5-6</a:t>
            </a:r>
            <a:endParaRPr lang="en-US" sz="2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32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32</Slides>
  <Notes>32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32</vt:i4>
      </vt:variant>
    </vt:vector>
  </HeadingPairs>
  <TitlesOfParts>
    <vt:vector size="3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 Bigger World: Arrays, Structs, and Tile Maps - lecture</dc:title>
  <dc:subject>Chapter 10</dc:subject>
  <dc:creator>Playing with RISC-V (PRG32 textbook)</dc:creator>
  <cp:lastModifiedBy>Playing with RISC-V (PRG32 textbook)</cp:lastModifiedBy>
  <cp:revision>1</cp:revision>
  <dcterms:created xsi:type="dcterms:W3CDTF">2026-10-05T15:40:33Z</dcterms:created>
  <dcterms:modified xsi:type="dcterms:W3CDTF">2026-10-05T15:40:33Z</dcterms:modified>
</cp:coreProperties>
</file>