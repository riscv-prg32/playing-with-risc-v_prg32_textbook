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32ecb543-c7ea-8e3b-4350-61a4bd395ece}">
          <p14:sldIdLst>
            <p14:sldId id="256"/>
            <p14:sldId id="257"/>
            <p14:sldId id="258"/>
            <p14:sldId id="259"/>
            <p14:sldId id="260"/>
          </p14:sldIdLst>
        </p14:section>
        <p14:section name="Build and import" id="{fe4bd808-1c01-0b85-a283-7f4eaf2e1e8b}">
          <p14:sldIdLst>
            <p14:sldId id="261"/>
            <p14:sldId id="262"/>
            <p14:sldId id="263"/>
          </p14:sldIdLst>
        </p14:section>
        <p14:section name="The trampoline" id="{91613cd6-3118-8acc-ddd0-1439ff2faa08}">
          <p14:sldIdLst>
            <p14:sldId id="264"/>
            <p14:sldId id="265"/>
            <p14:sldId id="266"/>
            <p14:sldId id="267"/>
            <p14:sldId id="268"/>
          </p14:sldIdLst>
        </p14:section>
        <p14:section name="Input in a0" id="{e9e2875c-c0b9-0c22-aa0e-f71302a65ca8}">
          <p14:sldIdLst>
            <p14:sldId id="269"/>
            <p14:sldId id="270"/>
            <p14:sldId id="271"/>
            <p14:sldId id="272"/>
            <p14:sldId id="273"/>
          </p14:sldIdLst>
        </p14:section>
        <p14:section name="Memory" id="{69807fa6-944d-a0ec-cda6-42096cfd314d}">
          <p14:sldIdLst>
            <p14:sldId id="274"/>
            <p14:sldId id="275"/>
            <p14:sldId id="276"/>
            <p14:sldId id="277"/>
            <p14:sldId id="278"/>
          </p14:sldIdLst>
        </p14:section>
        <p14:section name="Scripted control" id="{35f43553-9b2b-f629-ebf2-36cdacff632f}">
          <p14:sldIdLst>
            <p14:sldId id="279"/>
            <p14:sldId id="280"/>
            <p14:sldId id="281"/>
            <p14:sldId id="282"/>
            <p14:sldId id="283"/>
          </p14:sldIdLst>
        </p14:section>
        <p14:section name="Closing" id="{c865847e-d3a0-79cc-0096-7ec6568e340d}">
          <p14:sldIdLst>
            <p14:sldId id="28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Teaching support for Chapter 4 of the textbook. Practical, step-by-step session: learners work at their machines; keep each step to its time box. Preparation: PRG32-QT installed; toolchain active. Source: labs/04-prg32qt/probe.S (65 lines). Build it once: labs/run.sh is not needed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State the objectives; return to this slide at the 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Total: 45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labs/04-prg32qt/probe.S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Screenshot: this step, built and run: labs/04-prg32qt/expected/probe.png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From prg32/cartridge/build_cartridge.py. The disassembly shows auipc/addi pairs for la and call.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Recorded from PRG32-QT 0.4.1 through its /api/debug interface, single-stepping labs/04-prg32qt/probe.S.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B. RV32IMAC: the C extension encodes common instructions in 16 bits.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Input is frozen while paused: hold the key, then press Resume. The no-key reading was recorded from the real application; the key-held values follow from the button masks.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C. (232 - 152) / 2 = 40.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Playing with RISC-V  |  Chapter 4: PRG32-QT  |  Lab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B2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731520"/>
            <a:ext cx="218724" cy="218724"/>
          </a:xfrm>
          <a:prstGeom prst="rect">
            <a:avLst/>
          </a:prstGeom>
          <a:solidFill>
            <a:srgbClr val="2F7D4F"/>
          </a:solidFill>
          <a:ln w="12700">
            <a:solidFill>
              <a:srgbClr val="2F7D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6384" y="731520"/>
            <a:ext cx="218724" cy="218724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86384" y="969264"/>
            <a:ext cx="218724" cy="218724"/>
          </a:xfrm>
          <a:prstGeom prst="rect">
            <a:avLst/>
          </a:prstGeom>
          <a:solidFill>
            <a:srgbClr val="2F7D4F"/>
          </a:solidFill>
          <a:ln w="12700">
            <a:solidFill>
              <a:srgbClr val="2F7D4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24128" y="969264"/>
            <a:ext cx="218724" cy="218724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207008"/>
            <a:ext cx="218724" cy="218724"/>
          </a:xfrm>
          <a:prstGeom prst="rect">
            <a:avLst/>
          </a:prstGeom>
          <a:solidFill>
            <a:srgbClr val="2F7D4F"/>
          </a:solidFill>
          <a:ln w="12700">
            <a:solidFill>
              <a:srgbClr val="2F7D4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9202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  |  LABORATORY  |  45 MINUTES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377440"/>
            <a:ext cx="1109441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Debugger Lab: Watch a Register Change</a:t>
            </a:r>
            <a:endParaRPr lang="en-US" sz="4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2519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cartridge written to be watched: breakpoints, single steps, registers and memory, with known answers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557784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Audience: first-year computer architecture and programming students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94360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8FA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Playing with RISC-V: Assembly, C, and Retro Games on the PRG32 Platform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objectives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463040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and import a cartridge into PRG32-QT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30124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2282952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the entry trampoline the builder adds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12115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3102864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after a call and read its result in a0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94106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3922776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a branch decision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476097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4742688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a variable's address and watch its bytes change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558088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5562600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the debugger from the command line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of the session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1680078" cy="822960"/>
          </a:xfrm>
          <a:prstGeom prst="rect">
            <a:avLst/>
          </a:prstGeom>
          <a:solidFill>
            <a:srgbClr val="2E4A62"/>
          </a:solidFill>
          <a:ln w="12700">
            <a:solidFill>
              <a:srgbClr val="2E4A6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737360"/>
            <a:ext cx="168007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7'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274438" y="1737360"/>
            <a:ext cx="1926620" cy="82296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274438" y="1737360"/>
            <a:ext cx="19266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8'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246778" y="1737360"/>
            <a:ext cx="2419706" cy="822960"/>
          </a:xfrm>
          <a:prstGeom prst="rect">
            <a:avLst/>
          </a:prstGeom>
          <a:solidFill>
            <a:srgbClr val="6B4FA0"/>
          </a:solidFill>
          <a:ln w="12700">
            <a:solidFill>
              <a:srgbClr val="6B4FA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246778" y="1737360"/>
            <a:ext cx="241970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10'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6712204" y="1737360"/>
            <a:ext cx="2666248" cy="822960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712204" y="1737360"/>
            <a:ext cx="26662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11'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9424172" y="1737360"/>
            <a:ext cx="2173163" cy="822960"/>
          </a:xfrm>
          <a:prstGeom prst="rect">
            <a:avLst/>
          </a:prstGeom>
          <a:solidFill>
            <a:srgbClr val="2F7D4F"/>
          </a:solidFill>
          <a:ln w="12700">
            <a:solidFill>
              <a:srgbClr val="2F7D4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424172" y="1737360"/>
            <a:ext cx="217316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9'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548640" y="3017520"/>
            <a:ext cx="2036003" cy="3200400"/>
          </a:xfrm>
          <a:prstGeom prst="roundRect">
            <a:avLst>
              <a:gd name="adj" fmla="val 3593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32004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3749040"/>
            <a:ext cx="1670243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and import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2813243" y="3017520"/>
            <a:ext cx="2036003" cy="3200400"/>
          </a:xfrm>
          <a:prstGeom prst="roundRect">
            <a:avLst>
              <a:gd name="adj" fmla="val 3593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996123" y="32004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2996123" y="3749040"/>
            <a:ext cx="1670243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trampoline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5077846" y="3017520"/>
            <a:ext cx="2036003" cy="3200400"/>
          </a:xfrm>
          <a:prstGeom prst="roundRect">
            <a:avLst>
              <a:gd name="adj" fmla="val 3593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260726" y="32004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260726" y="3749040"/>
            <a:ext cx="1670243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in a0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7342449" y="3017520"/>
            <a:ext cx="2036003" cy="3200400"/>
          </a:xfrm>
          <a:prstGeom prst="roundRect">
            <a:avLst>
              <a:gd name="adj" fmla="val 3593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525329" y="32004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7525329" y="3749040"/>
            <a:ext cx="1670243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9607052" y="3017520"/>
            <a:ext cx="2036003" cy="3200400"/>
          </a:xfrm>
          <a:prstGeom prst="roundRect">
            <a:avLst>
              <a:gd name="adj" fmla="val 3593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789932" y="32004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9789932" y="3749040"/>
            <a:ext cx="1670243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Scripted control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cartridge we will watch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463040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probe.S: 65 lines, three variables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46522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2446934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frames: +1 every frame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449117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3430829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buttons: the last input mask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433011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4414723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box_x: moves by 2 with LEFT and RIGHT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41690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5398618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we know the source, every reading has a known answer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probe_update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708660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45920"/>
            <a:ext cx="662940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probe_update: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sp, sp, -16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ra, 12(sp)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call prg32_input_read      </a:t>
            </a:r>
            <a:pPr indent="0" marL="0">
              <a:buNone/>
            </a:pPr>
            <a:r>
              <a:rPr lang="en-US" sz="11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a0 = button mask  &lt;-- breakpoint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target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t0, buttons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a0, 0(t0)             </a:t>
            </a:r>
            <a:pPr indent="0" marL="0">
              <a:buNone/>
            </a:pPr>
            <a:r>
              <a:rPr lang="en-US" sz="11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remember it so the debugger can find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t0, frames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t1, 0(t0)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t1, t1, 1             </a:t>
            </a:r>
            <a:pPr indent="0" marL="0">
              <a:buNone/>
            </a:pPr>
            <a:r>
              <a:rPr lang="en-US" sz="11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one tick per frame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t1, 0(t0)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t0, box_x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t2, 0(t0)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andi t3, a0, 1             </a:t>
            </a:r>
            <a:pPr indent="0" marL="0">
              <a:buNone/>
            </a:pPr>
            <a:r>
              <a:rPr lang="en-US" sz="11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LEFT?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beqz t3, 1f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t2, t2, -2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1:  andi t3, a0, 2             </a:t>
            </a:r>
            <a:pPr indent="0" marL="0">
              <a:buNone/>
            </a:pPr>
            <a:r>
              <a:rPr lang="en-US" sz="11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RIGHT?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beqz t3, 2f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t2, t2, 2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2:  sw   t2, 0(t0)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863840" y="1417320"/>
            <a:ext cx="3824935" cy="2424875"/>
          </a:xfrm>
          <a:prstGeom prst="rect">
            <a:avLst/>
          </a:prstGeom>
          <a:solidFill>
            <a:srgbClr val="2E4A62"/>
          </a:solidFill>
          <a:ln w="12700">
            <a:solidFill>
              <a:srgbClr val="2E4A62"/>
            </a:solidFill>
            <a:prstDash val="solid"/>
          </a:ln>
        </p:spPr>
      </p:sp>
      <p:pic>
        <p:nvPicPr>
          <p:cNvPr id="6" name="Image 0" descr="Read input, store it, count a frame, move box_x. The screenshot: RIGHT held for 40 frames moved the box from 152 to 232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9560" y="1463040"/>
            <a:ext cx="3733495" cy="233343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909560" y="3887915"/>
            <a:ext cx="37334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Screenshot: this step, built and run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7909560" y="4207955"/>
            <a:ext cx="3733495" cy="2009965"/>
          </a:xfrm>
          <a:prstGeom prst="roundRect">
            <a:avLst>
              <a:gd name="adj" fmla="val 3639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092440" y="4317683"/>
            <a:ext cx="3367735" cy="1790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input, store it, count a frame, move box_x. The screenshot: RIGHT held for 40 frames moved the box from 152 to 232.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b="1" dirty="0">
                <a:solidFill>
                  <a:srgbClr val="6FCF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8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83464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and import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own cartridge on a third host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the probe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234440" y="1463040"/>
            <a:ext cx="6537960" cy="470154"/>
          </a:xfrm>
          <a:prstGeom prst="roundRect">
            <a:avLst>
              <a:gd name="adj" fmla="val 15559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417320" y="1572768"/>
            <a:ext cx="6172200" cy="1304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$PRG32_HOME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115056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234440" y="3096768"/>
            <a:ext cx="6537960" cy="1167384"/>
          </a:xfrm>
          <a:prstGeom prst="roundRect">
            <a:avLst>
              <a:gd name="adj" fmla="val 6266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417320" y="3206496"/>
            <a:ext cx="6172200" cy="1304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cartridge build ../Playing-with-RISC-V_PRG32_textbook/labs/04-prg32qt/probe.S --portable --entry-prefix probe --name probe --out work/probe.prg32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74878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4730496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code= from the log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8092440" y="1463040"/>
            <a:ext cx="3550615" cy="1143000"/>
          </a:xfrm>
          <a:prstGeom prst="roundRect">
            <a:avLst>
              <a:gd name="adj" fmla="val 6400"/>
            </a:avLst>
          </a:prstGeom>
          <a:solidFill>
            <a:srgbClr val="1B2530"/>
          </a:solidFill>
          <a:ln w="12700">
            <a:solidFill>
              <a:srgbClr val="1B253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21040" y="1600200"/>
            <a:ext cx="3093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1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8321040" y="2084832"/>
            <a:ext cx="3093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3 min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092440" y="2788920"/>
            <a:ext cx="3550615" cy="3429000"/>
          </a:xfrm>
          <a:prstGeom prst="roundRect">
            <a:avLst>
              <a:gd name="adj" fmla="val 2133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21040" y="2880360"/>
            <a:ext cx="3093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result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321040" y="3246120"/>
            <a:ext cx="3093415" cy="2862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[OK] built ... code=2780 mem=2780.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Import and enable debug mode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1463040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PRG32-QT import work/probe.prg32 and run it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7066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2688336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the box with the arrow keys; press Escape</a:t>
            </a:r>
            <a:endParaRPr lang="en-US" sz="21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931920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3913632"/>
            <a:ext cx="64465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Settings: enable 'Run cartridges in RISC-V debug mode'</a:t>
            </a:r>
            <a:endParaRPr lang="en-US" sz="21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157216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5138928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it again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8092440" y="1463040"/>
            <a:ext cx="3550615" cy="731520"/>
          </a:xfrm>
          <a:prstGeom prst="roundRect">
            <a:avLst>
              <a:gd name="adj" fmla="val 10000"/>
            </a:avLst>
          </a:prstGeom>
          <a:solidFill>
            <a:srgbClr val="1B2530"/>
          </a:solidFill>
          <a:ln w="12700">
            <a:solidFill>
              <a:srgbClr val="1B253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21040" y="1463040"/>
            <a:ext cx="3093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2  |  about 4 min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8092440" y="2377440"/>
            <a:ext cx="3550615" cy="3840480"/>
          </a:xfrm>
          <a:prstGeom prst="roundRect">
            <a:avLst>
              <a:gd name="adj" fmla="val 2060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321040" y="2468880"/>
            <a:ext cx="3093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result</a:t>
            </a:r>
            <a:endParaRPr lang="en-US" sz="1400" dirty="0"/>
          </a:p>
        </p:txBody>
      </p:sp>
      <p:pic>
        <p:nvPicPr>
          <p:cNvPr id="15" name="Image 0" descr="A yellow box and a green bar growing along the top; then the same with the debugger panel beside it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0" y="2834640"/>
            <a:ext cx="3093415" cy="1933385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8321040" y="4859465"/>
            <a:ext cx="3093415" cy="12487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yellow box and a green bar growing along the top; then the same with the debugger panel beside it.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b="1" dirty="0">
                <a:solidFill>
                  <a:srgbClr val="6FCF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8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83464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trampoline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console really calls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Select Update: this is not your code yet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740664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45920"/>
            <a:ext cx="69494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prg32_entry_update: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sp, sp, -16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ra, 12(sp)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t0, __prg32_abi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a0, 0(t0)        # the host passes the ABI table in a0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call probe_update     # now your function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ra, 12(sp)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sp, sp, 16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8229600" y="1463040"/>
            <a:ext cx="3413455" cy="1450848"/>
          </a:xfrm>
          <a:prstGeom prst="roundRect">
            <a:avLst>
              <a:gd name="adj" fmla="val 504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394192" y="162763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915400" y="1600200"/>
            <a:ext cx="2544775" cy="1176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the cartridge builder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229600" y="3115056"/>
            <a:ext cx="3413455" cy="1450848"/>
          </a:xfrm>
          <a:prstGeom prst="roundRect">
            <a:avLst>
              <a:gd name="adj" fmla="val 504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394192" y="327964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915400" y="3252216"/>
            <a:ext cx="2544775" cy="1176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saves the table pointer for the stubs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8229600" y="4767072"/>
            <a:ext cx="3413455" cy="1450848"/>
          </a:xfrm>
          <a:prstGeom prst="roundRect">
            <a:avLst>
              <a:gd name="adj" fmla="val 504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94192" y="493166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915400" y="4904232"/>
            <a:ext cx="2544775" cy="1176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it calls your update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into your function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1463040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the Update view and press Pause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7066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2688336"/>
            <a:ext cx="64465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until the highlighted row enters probe_update</a:t>
            </a:r>
            <a:endParaRPr lang="en-US" sz="21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931920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3913632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pc, sp and ra</a:t>
            </a:r>
            <a:endParaRPr lang="en-US" sz="21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157216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5138928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once more (the addi sp): note sp again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8092440" y="1463040"/>
            <a:ext cx="3550615" cy="1143000"/>
          </a:xfrm>
          <a:prstGeom prst="roundRect">
            <a:avLst>
              <a:gd name="adj" fmla="val 6400"/>
            </a:avLst>
          </a:prstGeom>
          <a:solidFill>
            <a:srgbClr val="1B2530"/>
          </a:solidFill>
          <a:ln w="12700">
            <a:solidFill>
              <a:srgbClr val="1B253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21040" y="1600200"/>
            <a:ext cx="3093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3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8321040" y="2084832"/>
            <a:ext cx="3093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6 min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092440" y="2788920"/>
            <a:ext cx="3550615" cy="3429000"/>
          </a:xfrm>
          <a:prstGeom prst="roundRect">
            <a:avLst>
              <a:gd name="adj" fmla="val 2133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21040" y="2880360"/>
            <a:ext cx="3093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result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321040" y="3246120"/>
            <a:ext cx="3093415" cy="2862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trampoline sp goes 0x40842000 -&gt; 0x40841ff0; in probe_update it goes to 0x40841fe0. ra = 0x40800aa8, an address inside the trampoline: where probe_update must return.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real trace of one update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740664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45920"/>
            <a:ext cx="69494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pc          instruction          what changed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0x40800a90  c.addi sp, -16       sp = 0x40841ff0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0x40800a94  la t0, __prg32_abi   t0 = 0x40800ad8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0x40800a9c  sw a0, 0(t0)         saves 0x40840000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0x40800aa0  call probe_update    ra = 0x40800aa8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0x40800002  c.addi sp, -16       sp = 0x40841fe0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0x40800006  call (the stub)      ra = 0x4080000e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0x408000be  la t0 / lw t0        t0 = 0x40840000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0x408000ca  lw t1, 24(t0)        t1 = 0xf0000004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0x408000ce  c.jr t1              a0 = 0x0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0x4080000e  la t0, buttons       t0 = 0x40800ad0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229600" y="1463040"/>
            <a:ext cx="341345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394192" y="162763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915400" y="1600200"/>
            <a:ext cx="254477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1-4: the trampoline saves the table pointer and calls you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229600" y="2702052"/>
            <a:ext cx="341345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394192" y="286664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915400" y="2839212"/>
            <a:ext cx="254477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5-6: your prologue and your call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229600" y="3941064"/>
            <a:ext cx="341345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94192" y="410565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915400" y="4078224"/>
            <a:ext cx="254477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7-9: the stub reads table entry 1 (offset 24) and jumps to the host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229600" y="5180076"/>
            <a:ext cx="341345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94192" y="534466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915400" y="5317236"/>
            <a:ext cx="254477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a0 = 0: no key held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 your understanding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11094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pc advanced by 2, not 4, after one step. Why?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288036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343814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297180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step was skipped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210148" y="288036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393028" y="343814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033108" y="297180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instruction has a 16-bit compressed encoding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548640" y="466344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52212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475488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 counts in half-words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6210148" y="466344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93028" y="52212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7033108" y="475488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was a branch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b="1" dirty="0">
                <a:solidFill>
                  <a:srgbClr val="6FCF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8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83464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 in a0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return value, seen in a register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Break after the input call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1463040"/>
            <a:ext cx="64465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probe_update find the call to prg32_input_read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7066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2688336"/>
            <a:ext cx="64465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the gutter beside the NEXT instruction (the la t0, buttons)</a:t>
            </a:r>
            <a:endParaRPr lang="en-US" sz="21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931920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3913632"/>
            <a:ext cx="64465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sure the bug toggle is highlighted; press Resume</a:t>
            </a:r>
            <a:endParaRPr lang="en-US" sz="21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157216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5138928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stops there once per frame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8092440" y="1463040"/>
            <a:ext cx="3550615" cy="1143000"/>
          </a:xfrm>
          <a:prstGeom prst="roundRect">
            <a:avLst>
              <a:gd name="adj" fmla="val 6400"/>
            </a:avLst>
          </a:prstGeom>
          <a:solidFill>
            <a:srgbClr val="1B2530"/>
          </a:solidFill>
          <a:ln w="12700">
            <a:solidFill>
              <a:srgbClr val="1B253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21040" y="1600200"/>
            <a:ext cx="3093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4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8321040" y="2084832"/>
            <a:ext cx="3093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5 min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092440" y="2788920"/>
            <a:ext cx="3550615" cy="3429000"/>
          </a:xfrm>
          <a:prstGeom prst="roundRect">
            <a:avLst>
              <a:gd name="adj" fmla="val 2133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21040" y="2880360"/>
            <a:ext cx="3093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result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321040" y="3246120"/>
            <a:ext cx="3093415" cy="2862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stops at 0x4080000e, immediately after the input read, once per frame: 'frames' is one higher at each stop.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 the mask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1463040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key held: Resume, read a0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7066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2688336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LEFT, Resume, read a0</a:t>
            </a:r>
            <a:endParaRPr lang="en-US" sz="21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931920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3913632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LEFT and Z, Resume, read a0</a:t>
            </a:r>
            <a:endParaRPr lang="en-US" sz="21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157216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5138928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RIGHT, Resume, read a0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8092440" y="1463040"/>
            <a:ext cx="3550615" cy="1143000"/>
          </a:xfrm>
          <a:prstGeom prst="roundRect">
            <a:avLst>
              <a:gd name="adj" fmla="val 6400"/>
            </a:avLst>
          </a:prstGeom>
          <a:solidFill>
            <a:srgbClr val="1B2530"/>
          </a:solidFill>
          <a:ln w="12700">
            <a:solidFill>
              <a:srgbClr val="1B253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21040" y="1600200"/>
            <a:ext cx="3093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5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8321040" y="2084832"/>
            <a:ext cx="3093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5 min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092440" y="2788920"/>
            <a:ext cx="3550615" cy="3429000"/>
          </a:xfrm>
          <a:prstGeom prst="roundRect">
            <a:avLst>
              <a:gd name="adj" fmla="val 2133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21040" y="2880360"/>
            <a:ext cx="3093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result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321040" y="3246120"/>
            <a:ext cx="3093415" cy="2862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0x00000000, 0x00000001, 0x00000011, 0x00000002.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 the readings</a:t>
            </a:r>
            <a:endParaRPr lang="en-US" sz="30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3698138"/>
                <a:gridCol w="3698138"/>
                <a:gridCol w="369813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Keys held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a0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Bits set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0x00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LEFT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0x01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bit 0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LEFT + A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0x11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bits 0 and 4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RIGHT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0x02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bit 1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Follow the decision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1463040"/>
            <a:ext cx="64465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RIGHT held, step from the breakpoint to 'andi t3, a0, 1'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7066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2688336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it: read t3</a:t>
            </a:r>
            <a:endParaRPr lang="en-US" sz="21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931920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3913632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the beqz: did pc jump?</a:t>
            </a:r>
            <a:endParaRPr lang="en-US" sz="21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157216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5138928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on to 'andi t3, a0, 2' and its beqz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8092440" y="1463040"/>
            <a:ext cx="3550615" cy="1143000"/>
          </a:xfrm>
          <a:prstGeom prst="roundRect">
            <a:avLst>
              <a:gd name="adj" fmla="val 6400"/>
            </a:avLst>
          </a:prstGeom>
          <a:solidFill>
            <a:srgbClr val="1B2530"/>
          </a:solidFill>
          <a:ln w="12700">
            <a:solidFill>
              <a:srgbClr val="1B253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21040" y="1600200"/>
            <a:ext cx="3093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6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8321040" y="2084832"/>
            <a:ext cx="3093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5 min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092440" y="2788920"/>
            <a:ext cx="3550615" cy="3429000"/>
          </a:xfrm>
          <a:prstGeom prst="roundRect">
            <a:avLst>
              <a:gd name="adj" fmla="val 2133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21040" y="2880360"/>
            <a:ext cx="3093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result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321040" y="3246120"/>
            <a:ext cx="3093415" cy="2862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 = 0 after the LEFT test, so the first beqz jumps over the addi. After the RIGHT test t3 = 2 and the second beqz falls through.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b="1" dirty="0">
                <a:solidFill>
                  <a:srgbClr val="6FCF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8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83464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Memory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a variable and watch it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 an address from a register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1463040"/>
            <a:ext cx="64465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until just after 'la t0, box_x' in probe_update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7066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2688336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t0: this is the ADDRESS of box_x</a:t>
            </a:r>
            <a:endParaRPr lang="en-US" sz="21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931920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3913632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it in the memory field and press Inspect</a:t>
            </a:r>
            <a:endParaRPr lang="en-US" sz="21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157216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5138928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first four bytes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8092440" y="1463040"/>
            <a:ext cx="3550615" cy="1143000"/>
          </a:xfrm>
          <a:prstGeom prst="roundRect">
            <a:avLst>
              <a:gd name="adj" fmla="val 6400"/>
            </a:avLst>
          </a:prstGeom>
          <a:solidFill>
            <a:srgbClr val="1B2530"/>
          </a:solidFill>
          <a:ln w="12700">
            <a:solidFill>
              <a:srgbClr val="1B253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21040" y="1600200"/>
            <a:ext cx="3093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7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8321040" y="2084832"/>
            <a:ext cx="3093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6 min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092440" y="2788920"/>
            <a:ext cx="3550615" cy="3429000"/>
          </a:xfrm>
          <a:prstGeom prst="roundRect">
            <a:avLst>
              <a:gd name="adj" fmla="val 2133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21040" y="2880360"/>
            <a:ext cx="3093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result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321040" y="3246120"/>
            <a:ext cx="3093415" cy="2862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 = 0x40800ad4. The four bytes there are 98 00 00 00: 0x98 = 152, little-endian.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a little-endian word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463040"/>
            <a:ext cx="6492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shows bytes in address order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46522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2446934"/>
            <a:ext cx="6492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RISC-V stores the least significant byte first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449117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3430829"/>
            <a:ext cx="6492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 00 00 00 is 0x00000098 = 152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433011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4414723"/>
            <a:ext cx="6492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e8 00 00 00 is 0x000000e8 = 232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41690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5398618"/>
            <a:ext cx="6492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01 00 00 would be 0x00000104 = 260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8229600" y="1463040"/>
            <a:ext cx="3413455" cy="4754880"/>
          </a:xfrm>
          <a:prstGeom prst="roundRect">
            <a:avLst>
              <a:gd name="adj" fmla="val 2143"/>
            </a:avLst>
          </a:prstGeom>
          <a:solidFill>
            <a:srgbClr val="1B2530"/>
          </a:solidFill>
          <a:ln w="12700">
            <a:solidFill>
              <a:srgbClr val="1B253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412480" y="2286000"/>
            <a:ext cx="30449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98 00 00 00</a:t>
            </a:r>
            <a:endParaRPr lang="en-US" sz="5900" dirty="0"/>
          </a:p>
        </p:txBody>
      </p:sp>
      <p:sp>
        <p:nvSpPr>
          <p:cNvPr id="15" name="Text 13"/>
          <p:cNvSpPr txBox="1"/>
          <p:nvPr/>
        </p:nvSpPr>
        <p:spPr>
          <a:xfrm>
            <a:off x="8503920" y="4297680"/>
            <a:ext cx="28620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152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Watch it change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1463040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the breakpoint; Resume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7066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2688336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RIGHT for about a second; Pause</a:t>
            </a:r>
            <a:endParaRPr lang="en-US" sz="21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931920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3913632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 the same address again</a:t>
            </a:r>
            <a:endParaRPr lang="en-US" sz="21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157216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5138928"/>
            <a:ext cx="64465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 0x40800acc: frames, buttons, box_x are three consecutive words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8092440" y="1463040"/>
            <a:ext cx="3550615" cy="1143000"/>
          </a:xfrm>
          <a:prstGeom prst="roundRect">
            <a:avLst>
              <a:gd name="adj" fmla="val 6400"/>
            </a:avLst>
          </a:prstGeom>
          <a:solidFill>
            <a:srgbClr val="1B2530"/>
          </a:solidFill>
          <a:ln w="12700">
            <a:solidFill>
              <a:srgbClr val="1B253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21040" y="1600200"/>
            <a:ext cx="3093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8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8321040" y="2084832"/>
            <a:ext cx="3093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5 min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092440" y="2788920"/>
            <a:ext cx="3550615" cy="3429000"/>
          </a:xfrm>
          <a:prstGeom prst="roundRect">
            <a:avLst>
              <a:gd name="adj" fmla="val 2133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21040" y="2880360"/>
            <a:ext cx="3093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result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321040" y="3246120"/>
            <a:ext cx="3093415" cy="2862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0x40800acc: frames (it grows by one per frame: 3b, 3c, 3d...), then buttons (0 when nothing is held), then box_x, which grew by 2 per frame held.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 your understanding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11094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box_x shows 'e8 00 00 00'. For how many frames was RIGHT held since 152?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288036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343814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297180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232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210148" y="288036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393028" y="343814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033108" y="297180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548640" y="466344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52212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475488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6210148" y="466344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93028" y="52212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7033108" y="475488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b="1" dirty="0">
                <a:solidFill>
                  <a:srgbClr val="6FCF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8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83464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Scripted control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debugger as an instrument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 the device and pause it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1463040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device URL shown by PRG32-QT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7066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234440" y="2688336"/>
            <a:ext cx="6537960" cy="470154"/>
          </a:xfrm>
          <a:prstGeom prst="roundRect">
            <a:avLst>
              <a:gd name="adj" fmla="val 15559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417320" y="2798064"/>
            <a:ext cx="61722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runtime --url http://HOST:PORT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931920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234440" y="3913632"/>
            <a:ext cx="6537960" cy="470154"/>
          </a:xfrm>
          <a:prstGeom prst="roundRect">
            <a:avLst>
              <a:gd name="adj" fmla="val 15559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417320" y="4023360"/>
            <a:ext cx="61722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debug enable --url http://HOST:PORT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157216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234440" y="5138928"/>
            <a:ext cx="6537960" cy="470154"/>
          </a:xfrm>
          <a:prstGeom prst="roundRect">
            <a:avLst>
              <a:gd name="adj" fmla="val 15559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417320" y="5248656"/>
            <a:ext cx="61722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debug pause --url http://HOST:PORT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092440" y="1463040"/>
            <a:ext cx="3550615" cy="1143000"/>
          </a:xfrm>
          <a:prstGeom prst="roundRect">
            <a:avLst>
              <a:gd name="adj" fmla="val 6400"/>
            </a:avLst>
          </a:prstGeom>
          <a:solidFill>
            <a:srgbClr val="1B2530"/>
          </a:solidFill>
          <a:ln w="12700">
            <a:solidFill>
              <a:srgbClr val="1B253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21040" y="1600200"/>
            <a:ext cx="3093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9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8321040" y="2084832"/>
            <a:ext cx="3093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4 min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092440" y="2788920"/>
            <a:ext cx="3550615" cy="3429000"/>
          </a:xfrm>
          <a:prstGeom prst="roundRect">
            <a:avLst>
              <a:gd name="adj" fmla="val 2133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321040" y="2880360"/>
            <a:ext cx="3093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result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8321040" y="3246120"/>
            <a:ext cx="3093415" cy="2862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with "firmware_version": "qt-0.4.1", "cart_abi_minor": 6 and the loaded cartridge; then the game freezes.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and read from a script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234440" y="1463040"/>
            <a:ext cx="6537960" cy="470154"/>
          </a:xfrm>
          <a:prstGeom prst="roundRect">
            <a:avLst>
              <a:gd name="adj" fmla="val 15559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417320" y="1572768"/>
            <a:ext cx="61722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debug step --url http://HOST:PORT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7066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234440" y="2688336"/>
            <a:ext cx="6537960" cy="470154"/>
          </a:xfrm>
          <a:prstGeom prst="roundRect">
            <a:avLst>
              <a:gd name="adj" fmla="val 15559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417320" y="2798064"/>
            <a:ext cx="61722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debug state --url http://HOST:PORT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931920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3913632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pc and a0 in the reply</a:t>
            </a:r>
            <a:endParaRPr lang="en-US" sz="21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157216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234440" y="5138928"/>
            <a:ext cx="6537960" cy="470154"/>
          </a:xfrm>
          <a:prstGeom prst="roundRect">
            <a:avLst>
              <a:gd name="adj" fmla="val 15559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417320" y="5248656"/>
            <a:ext cx="61722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debug resume --url http://HOST:PORT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092440" y="1463040"/>
            <a:ext cx="3550615" cy="1143000"/>
          </a:xfrm>
          <a:prstGeom prst="roundRect">
            <a:avLst>
              <a:gd name="adj" fmla="val 6400"/>
            </a:avLst>
          </a:prstGeom>
          <a:solidFill>
            <a:srgbClr val="1B2530"/>
          </a:solidFill>
          <a:ln w="12700">
            <a:solidFill>
              <a:srgbClr val="1B253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21040" y="1600200"/>
            <a:ext cx="3093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10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8321040" y="2084832"/>
            <a:ext cx="3093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5 min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092440" y="2788920"/>
            <a:ext cx="3550615" cy="3429000"/>
          </a:xfrm>
          <a:prstGeom prst="roundRect">
            <a:avLst>
              <a:gd name="adj" fmla="val 2133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321040" y="2880360"/>
            <a:ext cx="3093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result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8321040" y="3246120"/>
            <a:ext cx="3093415" cy="2862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step retires one instruction; state returns pc, paused, phase (update or draw), speed, breakpoints, the 32 registers and a memory dump as JSON.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Discussion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463040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claim from the lecture did you verify with your own eyes?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71119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2692908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the first code in Update not yours?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94106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3922776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can this debugger not tell you about the real board?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17093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5152644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would you automate a check that a function preserves s0?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can now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463040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and debug a cartridge in PRG32-QT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30124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2282952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entry trampoline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12115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3102864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 return value in a0 and follow a branch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94106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3922776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an address from a register and inspect memory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476097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4742688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 a little-endian word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558088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5562600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 the debugger from the command line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 and reading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364328" cy="4754880"/>
          </a:xfrm>
          <a:prstGeom prst="roundRect">
            <a:avLst>
              <a:gd name="adj" fmla="val 153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91640"/>
            <a:ext cx="4815688" cy="548640"/>
          </a:xfrm>
          <a:prstGeom prst="roundRect">
            <a:avLst>
              <a:gd name="adj" fmla="val 13333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the next session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468880"/>
            <a:ext cx="472424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Assembly track: use this debugger in every lab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up the a0 table and the box_x reading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PRG32-QT docs/DEBUGGING.md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6278728" y="1463040"/>
            <a:ext cx="5364328" cy="4754880"/>
          </a:xfrm>
          <a:prstGeom prst="roundRect">
            <a:avLst>
              <a:gd name="adj" fmla="val 153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53048" y="1691640"/>
            <a:ext cx="4815688" cy="548640"/>
          </a:xfrm>
          <a:prstGeom prst="roundRect">
            <a:avLst>
              <a:gd name="adj" fmla="val 13333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and sources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6598768" y="2468880"/>
            <a:ext cx="472424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Textbook, Chapter 4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labs/04-prg32qt/probe.S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PRG32-QT docs/DEBUGGING.md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PRG32 docs/software/api.md (debugger API)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Debugger Lab: Watch a Register Change - lab</dc:title>
  <dc:subject>Chapter 4</dc:subject>
  <dc:creator>Playing with RISC-V (PRG32 textbook)</dc:creator>
  <cp:lastModifiedBy>Playing with RISC-V (PRG32 textbook)</cp:lastModifiedBy>
  <cp:revision>1</cp:revision>
  <dcterms:created xsi:type="dcterms:W3CDTF">2026-10-05T16:03:39Z</dcterms:created>
  <dcterms:modified xsi:type="dcterms:W3CDTF">2026-10-05T16:03:39Z</dcterms:modified>
</cp:coreProperties>
</file>