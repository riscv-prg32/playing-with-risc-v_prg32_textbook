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479c7b5c-654d-c4c1-3cac-dd29bb3f516f}">
          <p14:sldIdLst>
            <p14:sldId id="256"/>
            <p14:sldId id="257"/>
            <p14:sldId id="258"/>
            <p14:sldId id="259"/>
          </p14:sldIdLst>
        </p14:section>
        <p14:section name="Step 1" id="{35d18c67-7807-1b00-4186-f21412437c29}">
          <p14:sldIdLst>
            <p14:sldId id="260"/>
            <p14:sldId id="261"/>
            <p14:sldId id="262"/>
            <p14:sldId id="263"/>
            <p14:sldId id="264"/>
          </p14:sldIdLst>
        </p14:section>
        <p14:section name="Step 2" id="{4d015997-2ed1-437c-473e-8fe52bb766b3}">
          <p14:sldIdLst>
            <p14:sldId id="265"/>
            <p14:sldId id="266"/>
            <p14:sldId id="267"/>
          </p14:sldIdLst>
        </p14:section>
        <p14:section name="Step 3" id="{195f217e-39ba-54fd-96aa-3323d0a675b4}">
          <p14:sldIdLst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Step 4" id="{a8182293-b0e2-cb2a-0288-7a1b1436e3cf}">
          <p14:sldIdLst>
            <p14:sldId id="275"/>
            <p14:sldId id="276"/>
            <p14:sldId id="277"/>
            <p14:sldId id="278"/>
            <p14:sldId id="279"/>
            <p14:sldId id="280"/>
          </p14:sldIdLst>
        </p14:section>
        <p14:section name="Tune and review" id="{4c0a50a2-27c1-e1a8-02db-95712402e2ab}">
          <p14:sldIdLst>
            <p14:sldId id="281"/>
            <p14:sldId id="282"/>
            <p14:sldId id="283"/>
            <p14:sldId id="284"/>
          </p14:sldIdLst>
        </p14:section>
        <p14:section name="Closing" id="{ec125f14-67ef-b820-2014-1d14f8847b37}">
          <p14:sldIdLst>
            <p14:sldId id="28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support for Chapter 7 of the textbook. Practical, step-by-step session: learners work at their machines; keep each step to its time box. Preparation: Working toolchain. Students need their input.S from Lab 2 (paddle movement and clamp). Reference: examples/asm_graphics_game/pong_skeleton.S.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objectives; return to this slide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Total: 45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examples/asm_graphics_game/paddle_draw.S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B. Nothing prevents state from holding an illegal value: that is what the clamp is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examples/asm_graphics_game/ball_motion.S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examples/asm_graphics_game/ball_motion.S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B. State keeps changing off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examples/asm_graphics_game/collision_detection.S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examples/asm_graphics_game/collision_detection.S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Playing with RISC-V  |  Chapter 7: Graphics, Collision, and the Frame  |  Lab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31520"/>
            <a:ext cx="218724" cy="218724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" y="731520"/>
            <a:ext cx="218724" cy="21872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" y="969264"/>
            <a:ext cx="218724" cy="218724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" y="969264"/>
            <a:ext cx="218724" cy="21872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07008"/>
            <a:ext cx="218724" cy="218724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9202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  |  LABORATORY  |  45 MINUTES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37744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Assembly Lab 3: Pong in Four Steps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2519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frame, paddle, ball, collision: build, run, and verify after every step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5778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computer architecture students (RISC-V assembly track)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9436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8F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Playing with RISC-V: Assembly, C, and Retro Games on the PRG32 Platform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a frame from state with prg32_gfx_clear and prg32_gfx_rect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522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44693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a paddle in pixels with a correct clamp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49117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430829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 a ball with velocity and wall bounces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3011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4414723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guarded paddle collision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41690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539861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each step before starting the next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of the session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2419706" cy="822960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737360"/>
            <a:ext cx="241970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10'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014066" y="1737360"/>
            <a:ext cx="1926620" cy="82296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014066" y="1737360"/>
            <a:ext cx="19266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8'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986406" y="1737360"/>
            <a:ext cx="2912791" cy="822960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86406" y="1737360"/>
            <a:ext cx="291279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12'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944917" y="1737360"/>
            <a:ext cx="2419706" cy="82296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944917" y="1737360"/>
            <a:ext cx="241970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10'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410342" y="1737360"/>
            <a:ext cx="1186993" cy="822960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410342" y="1737360"/>
            <a:ext cx="118699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5'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3017520"/>
            <a:ext cx="2036003" cy="3200400"/>
          </a:xfrm>
          <a:prstGeom prst="roundRect">
            <a:avLst>
              <a:gd name="adj" fmla="val 359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749040"/>
            <a:ext cx="167024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frame and paddle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813243" y="3017520"/>
            <a:ext cx="2036003" cy="3200400"/>
          </a:xfrm>
          <a:prstGeom prst="roundRect">
            <a:avLst>
              <a:gd name="adj" fmla="val 359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996123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2996123" y="3749040"/>
            <a:ext cx="167024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paddle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077846" y="3017520"/>
            <a:ext cx="2036003" cy="3200400"/>
          </a:xfrm>
          <a:prstGeom prst="roundRect">
            <a:avLst>
              <a:gd name="adj" fmla="val 359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60726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260726" y="3749040"/>
            <a:ext cx="167024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 and walls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342449" y="3017520"/>
            <a:ext cx="2036003" cy="3200400"/>
          </a:xfrm>
          <a:prstGeom prst="roundRect">
            <a:avLst>
              <a:gd name="adj" fmla="val 359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525329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525329" y="3749040"/>
            <a:ext cx="167024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607052" y="3017520"/>
            <a:ext cx="2036003" cy="3200400"/>
          </a:xfrm>
          <a:prstGeom prst="roundRect">
            <a:avLst>
              <a:gd name="adj" fmla="val 359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789932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789932" y="3749040"/>
            <a:ext cx="167024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and review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contract for this lab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steps; each ends with something you can see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69290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start a step until the previous one is verified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922776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to Git after each working step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515264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fall behind, load the reference for that step and continue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6FC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blank frame, then a paddle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black screen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work/pong/pong.S with prefix pong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68833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functions that return; build and run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3913632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frame and a clear to draw (previous lecture)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513892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run again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4 min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92440" y="2834640"/>
            <a:ext cx="3550615" cy="3383280"/>
          </a:xfrm>
          <a:prstGeom prst="roundRect">
            <a:avLst>
              <a:gd name="adj" fmla="val 216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971800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3429000"/>
            <a:ext cx="309341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black 320 by 200 viewport. The skeleton runs.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paddle draw call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  t0, paddle_x          </a:t>
            </a:r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address of the paddle position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lw   a0, 0(t0)             </a:t>
            </a:r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a0 = x  (a value read from memory)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   a1, 188               </a:t>
            </a:r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a1 = y  (near the bottom)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   a2, 64                </a:t>
            </a:r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a2 = width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   a3, 8                 </a:t>
            </a:r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a3 = height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   a4, 65535             </a:t>
            </a:r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a4 = white (RGB565 0xffff)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 prg32_gfx_rect        </a:t>
            </a:r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draw the paddle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0" y="1463040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6276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600200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'paddle_x: .word 128' to .data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0" y="3115056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32796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3252216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after the clear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29600" y="4767072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493166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904232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epilogue last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the paddle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variable and the draw code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68833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run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3913632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initial paddle_x to 0, then to 256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513892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colour to one you compute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5 min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92440" y="2834640"/>
            <a:ext cx="3550615" cy="3383280"/>
          </a:xfrm>
          <a:prstGeom prst="roundRect">
            <a:avLst>
              <a:gd name="adj" fmla="val 216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971800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3429000"/>
            <a:ext cx="309341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white bar near the bottom, at the left edge for 0 and touching the right edge for 256.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understanding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paddle_x = 300 the paddle is drawn how?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at all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210148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93028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033108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Partly off the right edge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Wrapped to the left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210148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93028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033108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cartridge is rejected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6FC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paddle follows the joystick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 your Lab 2 code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the input-test body from input.S into pong_update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68833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game_x to paddle_x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3913632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step from 1 to 4 pixels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513892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clamp maximum from 39 to 256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6 min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92440" y="2834640"/>
            <a:ext cx="3550615" cy="3383280"/>
          </a:xfrm>
          <a:prstGeom prst="roundRect">
            <a:avLst>
              <a:gd name="adj" fmla="val 216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971800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3429000"/>
            <a:ext cx="309341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paddle slides left and right and stops exactly at both edges.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 the limits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1487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LEFT until it stops: is any part off screen?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11505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3096768"/>
            <a:ext cx="6446520" cy="1487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RIGHT until it stops: does it touch the edge exactly?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74878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730496"/>
            <a:ext cx="6446520" cy="1487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PRG32-QT, read paddle_x from memory at each end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4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3 min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92440" y="2834640"/>
            <a:ext cx="3550615" cy="3383280"/>
          </a:xfrm>
          <a:prstGeom prst="roundRect">
            <a:avLst>
              <a:gd name="adj" fmla="val 216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2971800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3429000"/>
            <a:ext cx="309341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at the left; 256 (0x100) at the right.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6FC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ball with velocity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Draw a still ball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ball_x: .word 156 and ball_y: .word 40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11505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309676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draw, add a second rect: 8 by 8, colour 65504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74878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73049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run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5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4 min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92440" y="2834640"/>
            <a:ext cx="3550615" cy="3383280"/>
          </a:xfrm>
          <a:prstGeom prst="roundRect">
            <a:avLst>
              <a:gd name="adj" fmla="val 216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2971800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3429000"/>
            <a:ext cx="309341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yellow square above the paddle.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Horizontal motion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--- BALL X MOVEMENT ---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t1, ball_x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t2, 0(t1)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t2 = ball x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t3, ball_dx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t4, 0(t3)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t4 = ball dx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  t2, t2, t4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x = x + dx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Check Left Edge (x &lt; 0)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bgez t2, check_right_edge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t2, 0 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clamp to left edge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neg  t4, t4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reverse direction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    save_ball_x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check_right_edge: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t5, 312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320 - ball width (8)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ble  t2, t5, save_ball_x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mv   t2, t5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clamp to right edge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neg  t4, t4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reverse direction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save_ball_x: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t2, 0(t1)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store new x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0" y="1463040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6276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600200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ball_dx: .word 2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0" y="3115056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32796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3252216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after the paddle code in update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29600" y="4767072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493166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904232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must be unique in your file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Bounce left and right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ball_dx and the x-motion block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68833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run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3913632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frames from wall to wall, or time it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513892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ever stick to a wall? Why not?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6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5 min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92440" y="2834640"/>
            <a:ext cx="3550615" cy="3383280"/>
          </a:xfrm>
          <a:prstGeom prst="roundRect">
            <a:avLst>
              <a:gd name="adj" fmla="val 216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971800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3429000"/>
            <a:ext cx="309341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ball travels horizontally and bounces off both sides: 312 pixels at 2 per frame, about 5 seconds at 30 frames per second.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Vertical motion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--- BALL Y MOVEMENT ---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t1, ball_y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t2, 0(t1)       </a:t>
            </a:r>
            <a:pPr indent="0" marL="0">
              <a:buNone/>
            </a:pPr>
            <a:r>
              <a:rPr lang="en-US" sz="15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t2 = ball 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t3, ball_dy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t4, 0(t3)       </a:t>
            </a:r>
            <a:pPr indent="0" marL="0">
              <a:buNone/>
            </a:pPr>
            <a:r>
              <a:rPr lang="en-US" sz="15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t4 = ball dy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  t2, t2, t4      </a:t>
            </a:r>
            <a:pPr indent="0" marL="0">
              <a:buNone/>
            </a:pPr>
            <a:r>
              <a:rPr lang="en-US" sz="15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y = y + dy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5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Check Top Edge (y &lt; 0)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bgez t2, save_ball_y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t2, 0           </a:t>
            </a:r>
            <a:pPr indent="0" marL="0">
              <a:buNone/>
            </a:pPr>
            <a:r>
              <a:rPr lang="en-US" sz="15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clamp to top edge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neg  t4, t4          </a:t>
            </a:r>
            <a:pPr indent="0" marL="0">
              <a:buNone/>
            </a:pPr>
            <a:r>
              <a:rPr lang="en-US" sz="15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reverse direction (bounce down)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save_ball_y: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t2, 0(t1)       </a:t>
            </a:r>
            <a:pPr indent="0" marL="0">
              <a:buNone/>
            </a:pPr>
            <a:r>
              <a:rPr lang="en-US" sz="15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store new 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0" y="1463040"/>
            <a:ext cx="3413455" cy="2276856"/>
          </a:xfrm>
          <a:prstGeom prst="roundRect">
            <a:avLst>
              <a:gd name="adj" fmla="val 321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6276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600200"/>
            <a:ext cx="2544775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ball_dy: .word 2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0" y="3941064"/>
            <a:ext cx="3413455" cy="2276856"/>
          </a:xfrm>
          <a:prstGeom prst="roundRect">
            <a:avLst>
              <a:gd name="adj" fmla="val 321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410565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4078224"/>
            <a:ext cx="2544775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top edge bounces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the y axis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ball_dy and the y-motion block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68833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run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3913632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what happens at the bottom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513892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what the game needs next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7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4 min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92440" y="2834640"/>
            <a:ext cx="3550615" cy="3383280"/>
          </a:xfrm>
          <a:prstGeom prst="roundRect">
            <a:avLst>
              <a:gd name="adj" fmla="val 216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971800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3429000"/>
            <a:ext cx="309341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diagonal ball that bounces off three walls and disappears through the bottom.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understanding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ball leaves through the bottom and never returns. Why 'never'?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cartridge crashed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210148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93028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033108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ball_y keeps growing; nothing brings it back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QEMU stopped drawing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210148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93028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033108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 became zero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6FC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4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 with the paddle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 the eight arguments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  t0, ball_x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lw   a0, 0(t0)     </a:t>
            </a:r>
            <a:pPr indent="0" marL="0">
              <a:buNone/>
            </a:pPr>
            <a:r>
              <a:rPr lang="en-US" sz="15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a0 = ball x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  t0, ball_y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lw   a1, 0(t0)     </a:t>
            </a:r>
            <a:pPr indent="0" marL="0">
              <a:buNone/>
            </a:pPr>
            <a:r>
              <a:rPr lang="en-US" sz="15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a1 = ball y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   a2, 8         </a:t>
            </a:r>
            <a:pPr indent="0" marL="0">
              <a:buNone/>
            </a:pPr>
            <a:r>
              <a:rPr lang="en-US" sz="15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a2 = ball width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   a3, 8         </a:t>
            </a:r>
            <a:pPr indent="0" marL="0">
              <a:buNone/>
            </a:pPr>
            <a:r>
              <a:rPr lang="en-US" sz="15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a3 = ball height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  t0, paddle_x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lw   a4, 0(t0)     </a:t>
            </a:r>
            <a:pPr indent="0" marL="0">
              <a:buNone/>
            </a:pPr>
            <a:r>
              <a:rPr lang="en-US" sz="15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a4 = paddle x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   a5, 188       </a:t>
            </a:r>
            <a:pPr indent="0" marL="0">
              <a:buNone/>
            </a:pPr>
            <a:r>
              <a:rPr lang="en-US" sz="15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a5 = paddle y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   a6, 64        </a:t>
            </a:r>
            <a:pPr indent="0" marL="0">
              <a:buNone/>
            </a:pPr>
            <a:r>
              <a:rPr lang="en-US" sz="15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a6 = paddle width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   a7, 8         </a:t>
            </a:r>
            <a:pPr indent="0" marL="0">
              <a:buNone/>
            </a:pPr>
            <a:r>
              <a:rPr lang="en-US" sz="15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a7 = paddle height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 prg32_sprite_hitbox  </a:t>
            </a:r>
            <a:pPr indent="0" marL="0">
              <a:buNone/>
            </a:pPr>
            <a:r>
              <a:rPr lang="en-US" sz="15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a0 = non-zero if overlapping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8229600" y="1463040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6276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600200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 first, then paddle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0" y="3115056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32796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3252216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 must match your draw calls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29600" y="4767072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493166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904232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 returns the answer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 before you react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hitbox call at the end of update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11505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309676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now, on overlap set ball_dy to -2 directly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74878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730496"/>
            <a:ext cx="6446520" cy="1487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run: keep the ball alive for ten bounces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8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6 min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92440" y="2834640"/>
            <a:ext cx="3550615" cy="3383280"/>
          </a:xfrm>
          <a:prstGeom prst="roundRect">
            <a:avLst>
              <a:gd name="adj" fmla="val 216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2971800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3429000"/>
            <a:ext cx="309341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ball bounces off the paddle. Setting the direction, not negating it, cannot double-bounce.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guarded bounce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reverse direction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  t0, ball_dy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lw   t1, 0(t0)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blez t1, no_overlap  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only bounce if ball is moving down (t1 &gt; 0)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neg  t1, t1          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Reverse dy natively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   t1, 0(t0)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229600" y="1463040"/>
            <a:ext cx="3413455" cy="2276856"/>
          </a:xfrm>
          <a:prstGeom prst="roundRect">
            <a:avLst>
              <a:gd name="adj" fmla="val 321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6276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600200"/>
            <a:ext cx="2544775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your direct assignment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0" y="3941064"/>
            <a:ext cx="3413455" cy="2276856"/>
          </a:xfrm>
          <a:prstGeom prst="roundRect">
            <a:avLst>
              <a:gd name="adj" fmla="val 321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410565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4078224"/>
            <a:ext cx="2544775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blez is the guard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negate with a guard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direct assignment with the guarded negate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68833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run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3913632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the blez and move the paddle into the ball from the side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513892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the guard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9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5 min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92440" y="2834640"/>
            <a:ext cx="3550615" cy="3383280"/>
          </a:xfrm>
          <a:prstGeom prst="roundRect">
            <a:avLst>
              <a:gd name="adj" fmla="val 216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971800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3429000"/>
            <a:ext cx="309341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guard: clean bounces. Without: the ball can jitter inside the paddle.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Restart a lost ball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1487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collision code, test whether ball_y &gt; 200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11505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3096768"/>
            <a:ext cx="6446520" cy="1487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so, reset ball_x, ball_y to their start values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74878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73049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play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10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4 min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92440" y="2834640"/>
            <a:ext cx="3550615" cy="3383280"/>
          </a:xfrm>
          <a:prstGeom prst="roundRect">
            <a:avLst>
              <a:gd name="adj" fmla="val 216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2971800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3429000"/>
            <a:ext cx="309341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missed ball reappears at the top: a playable game.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6FC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Tune and review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feel right; make it yours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Tune one parameter at a time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Paddle speed: try 2, 4, 8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68833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 speed: try dx 3, dy 2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3913632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Paddle width: change it in draw AND in the hitbox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513892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the values you prefer and why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11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4 min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92440" y="2834640"/>
            <a:ext cx="3550615" cy="3383280"/>
          </a:xfrm>
          <a:prstGeom prst="roundRect">
            <a:avLst>
              <a:gd name="adj" fmla="val 216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971800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3429000"/>
            <a:ext cx="309341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noticeably different game for each value. Changing the width in only one place makes collisions disagree with the picture.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questions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values appear in more than one place in your file?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69290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would .equ remove that duplication?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922776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registers are live across your calls?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515264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smallest change that adds a score?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can now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a frame from state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522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44693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and rescale working code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49117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430829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 with velocity and bounces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3011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4414723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guarded collision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41690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539861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game in verified increments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 and reading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next session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repeated numbers with .equ constants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Chapter 8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your Pong: the capstone extends it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278728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53048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and sources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598768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Textbook, Chapter 7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examples/asm_graphics_game/pong_skeleton.S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C: Pong in graphics assembly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Assembly Lab 3: Pong in Four Steps - lab</dc:title>
  <dc:subject>Chapter 7</dc:subject>
  <dc:creator>Playing with RISC-V (PRG32 textbook)</dc:creator>
  <cp:lastModifiedBy>Playing with RISC-V (PRG32 textbook)</cp:lastModifiedBy>
  <cp:revision>1</cp:revision>
  <dcterms:created xsi:type="dcterms:W3CDTF">2026-10-05T08:18:06Z</dcterms:created>
  <dcterms:modified xsi:type="dcterms:W3CDTF">2026-10-05T08:18:06Z</dcterms:modified>
</cp:coreProperties>
</file>