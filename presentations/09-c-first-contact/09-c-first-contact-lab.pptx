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f7b5e174-9bfe-f6e2-9cef-208d02d61b84}">
          <p14:sldIdLst>
            <p14:sldId id="256"/>
            <p14:sldId id="257"/>
            <p14:sldId id="258"/>
            <p14:sldId id="259"/>
          </p14:sldIdLst>
        </p14:section>
        <p14:section name="Skeleton" id="{2baa0779-ea7a-e284-1bcb-21b846c77bfb}">
          <p14:sldIdLst>
            <p14:sldId id="260"/>
            <p14:sldId id="261"/>
            <p14:sldId id="262"/>
            <p14:sldId id="263"/>
          </p14:sldIdLst>
        </p14:section>
        <p14:section name="State and draw" id="{701206ff-836b-5a04-0e10-8310de0abd10}">
          <p14:sldIdLst>
            <p14:sldId id="264"/>
            <p14:sldId id="265"/>
            <p14:sldId id="266"/>
            <p14:sldId id="267"/>
          </p14:sldIdLst>
        </p14:section>
        <p14:section name="Paddle" id="{2e4cc65e-c18d-ce00-f95c-297507fc2640}">
          <p14:sldIdLst>
            <p14:sldId id="268"/>
            <p14:sldId id="269"/>
            <p14:sldId id="270"/>
          </p14:sldIdLst>
        </p14:section>
        <p14:section name="Ball" id="{ee83876b-492e-c45d-9254-79ccf7108ba2}">
          <p14:sldIdLst>
            <p14:sldId id="271"/>
            <p14:sldId id="272"/>
            <p14:sldId id="273"/>
          </p14:sldIdLst>
        </p14:section>
        <p14:section name="Collision" id="{97cc7e02-a84f-ebff-100f-7e04016edd03}">
          <p14:sldIdLst>
            <p14:sldId id="274"/>
            <p14:sldId id="275"/>
            <p14:sldId id="276"/>
            <p14:sldId id="277"/>
          </p14:sldIdLst>
        </p14:section>
        <p14:section name="Score" id="{8ab59220-5032-ae77-e667-792d93b5ae3b}">
          <p14:sldIdLst>
            <p14:sldId id="278"/>
            <p14:sldId id="279"/>
            <p14:sldId id="280"/>
            <p14:sldId id="281"/>
            <p14:sldId id="282"/>
            <p14:sldId id="283"/>
          </p14:sldIdLst>
        </p14:section>
        <p14:section name="Closing" id="{0f3e014a-e5a6-42fa-6ed0-c23d514bfd0e}">
          <p14:sldIdLst>
            <p14:sldId id="28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support for Chapter 9 of the textbook. Practical, step-by-step session: learners work at their machines; keep each step to its time box. Preparation: Working toolchain. Step files: labs/09-c-first-contact/step1..6 (master: labs/masters/pong_c.master.c).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objectives; return to this slide at the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Total: 45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labs/09-c-first-contact/step1_skeleton.c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Screenshot: this step, built and run: labs/09-c-first-contact/expected/step1_skeleton.png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labs/09-c-first-contact/step2_state_draw.c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Screenshot: this step, built and run: labs/09-c-first-contact/expected/step2_state_draw.png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B. File-scope variables live for the whole run; static keeps their names private to the 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labs/09-c-first-contact/step3_paddle.c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Screenshot: this step, built and run: labs/09-c-first-contact/expected/step3_paddle.png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labs/09-c-first-contact/step4_ball.c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Screenshot: this step, built and run: labs/09-c-first-contact/expected/step4_ball.png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labs/09-c-first-contact/step5_collision.c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Screenshot: this step, built and run: labs/09-c-first-contact/expected/step5_collision.png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labs/09-c-first-contact/step6_score.c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Screenshot: this step, built and run: labs/09-c-first-contact/expected/step6_score.png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B. Verified: a zero-width rectangle draws nothing.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Playing with RISC-V  |  Chapter 9: Functions, Variables, Game Loop  |  Lab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731520"/>
            <a:ext cx="218724" cy="218724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" y="731520"/>
            <a:ext cx="218724" cy="21872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" y="969264"/>
            <a:ext cx="218724" cy="218724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4128" y="969264"/>
            <a:ext cx="218724" cy="21872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207008"/>
            <a:ext cx="218724" cy="218724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9202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9  |  LABORATORY  |  45 MINUTES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377440"/>
            <a:ext cx="110944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 Lab 1: Pong, One Function at a Time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2519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verified steps from three empty functions to a scoring game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5778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 computer programming students (C track)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9436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8F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Playing with RISC-V: Assembly, C, and Retro Games on the PRG32 Platform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run a C cartridge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012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282952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state in file-scope variables and initialise it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12115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10286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and clamp a paddle from the input mask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922776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 a ball and bounce it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76097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474268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function's result as a condition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58088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556260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an event exactly once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of the session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1433535" cy="822960"/>
          </a:xfrm>
          <a:prstGeom prst="rect">
            <a:avLst/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737360"/>
            <a:ext cx="1433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6'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27895" y="1737360"/>
            <a:ext cx="1926620" cy="82296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27895" y="1737360"/>
            <a:ext cx="19266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8'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000236" y="1737360"/>
            <a:ext cx="1926620" cy="822960"/>
          </a:xfrm>
          <a:prstGeom prst="rect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000236" y="1737360"/>
            <a:ext cx="19266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8'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972576" y="1737360"/>
            <a:ext cx="1926620" cy="82296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72576" y="1737360"/>
            <a:ext cx="19266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8'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944917" y="1737360"/>
            <a:ext cx="1926620" cy="822960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944917" y="1737360"/>
            <a:ext cx="19266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8'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9917257" y="1737360"/>
            <a:ext cx="1680078" cy="822960"/>
          </a:xfrm>
          <a:prstGeom prst="rect">
            <a:avLst/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917257" y="1737360"/>
            <a:ext cx="16800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7'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48640" y="3017520"/>
            <a:ext cx="1658569" cy="3200400"/>
          </a:xfrm>
          <a:prstGeom prst="roundRect">
            <a:avLst>
              <a:gd name="adj" fmla="val 441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3749040"/>
            <a:ext cx="1292809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2435809" y="3017520"/>
            <a:ext cx="1658569" cy="3200400"/>
          </a:xfrm>
          <a:prstGeom prst="roundRect">
            <a:avLst>
              <a:gd name="adj" fmla="val 441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618689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2618689" y="3749040"/>
            <a:ext cx="1292809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and draw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322978" y="3017520"/>
            <a:ext cx="1658569" cy="3200400"/>
          </a:xfrm>
          <a:prstGeom prst="roundRect">
            <a:avLst>
              <a:gd name="adj" fmla="val 441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05858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505858" y="3749040"/>
            <a:ext cx="1292809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Paddle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210148" y="3017520"/>
            <a:ext cx="1658569" cy="3200400"/>
          </a:xfrm>
          <a:prstGeom prst="roundRect">
            <a:avLst>
              <a:gd name="adj" fmla="val 441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393028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393028" y="3749040"/>
            <a:ext cx="1292809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8097317" y="3017520"/>
            <a:ext cx="1658569" cy="3200400"/>
          </a:xfrm>
          <a:prstGeom prst="roundRect">
            <a:avLst>
              <a:gd name="adj" fmla="val 441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280197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8280197" y="3749040"/>
            <a:ext cx="1292809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Collision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9984486" y="3017520"/>
            <a:ext cx="1658569" cy="3200400"/>
          </a:xfrm>
          <a:prstGeom prst="roundRect">
            <a:avLst>
              <a:gd name="adj" fmla="val 441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167366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B23A48"/>
          </a:solidFill>
          <a:ln>
            <a:solidFill>
              <a:srgbClr val="B23A4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10167366" y="3749040"/>
            <a:ext cx="1292809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every step works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is a complete file in labs/: read what is new, then run it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6522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446934"/>
            <a:ext cx="10362895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textbook folder: labs/run.sh STEP_FILE PREFIX builds and starts it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49117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430829"/>
            <a:ext cx="10362895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PRG32_HOME to your PRG32 checkout; set PRG32_URL to run on a board or PRG32-QT, otherwise QEMU starts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433011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4414723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screenshot on each slide is that exact file, built and executed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41690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539861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each step: change one thing, predict, run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6FCF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Skeleton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1: three empty functions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40664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949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C Lab 1: Pong, one function at a time. */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&lt;stdint.h&gt;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"prg32.h"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pong_c_init(void) {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pong_c_update(void) {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pong_c_draw(void) {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0" y="1463040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94192" y="162763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1600200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prg32.h declares the runtime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0" y="3115056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94192" y="32796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3252216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prefix pong_c names the game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229600" y="4767072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94192" y="493166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15400" y="4904232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main: the runtime owns the loop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step 1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234440" y="1463040"/>
            <a:ext cx="6537960" cy="470154"/>
          </a:xfrm>
          <a:prstGeom prst="roundRect">
            <a:avLst>
              <a:gd name="adj" fmla="val 15559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17320" y="1572768"/>
            <a:ext cx="6172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labs/run.sh 09-c-first-contact/step1_skeleton.c pong_c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688336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build log: code= ?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3913632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 pong_c_draw to pong_draw and build again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5138928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error; restore the name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092440" y="1463040"/>
            <a:ext cx="3550615" cy="731520"/>
          </a:xfrm>
          <a:prstGeom prst="roundRect">
            <a:avLst>
              <a:gd name="adj" fmla="val 100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1463040"/>
            <a:ext cx="3093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  |  about 5 min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092440" y="2377440"/>
            <a:ext cx="3550615" cy="3840480"/>
          </a:xfrm>
          <a:prstGeom prst="roundRect">
            <a:avLst>
              <a:gd name="adj" fmla="val 2060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2468880"/>
            <a:ext cx="3093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400" dirty="0"/>
          </a:p>
        </p:txBody>
      </p:sp>
      <p:pic>
        <p:nvPicPr>
          <p:cNvPr id="16" name="Image 0" descr="A black screen, code=2604: the same size as an empty assembly cartridge. With the wrong name the builder cannot find the draw entry point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2834640"/>
            <a:ext cx="3093415" cy="1933385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8321040" y="4859465"/>
            <a:ext cx="3093415" cy="12487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black screen, code=2604: the same size as an empty assembly cartridge. With the wrong name the builder cannot find the draw entry point.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2604 bytes for three empty functions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6492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code is a few bytes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111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692908"/>
            <a:ext cx="6492240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builder adds a stub for each of the 139 runtime functions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922776"/>
            <a:ext cx="6492240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cartridge does not link against the C library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709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5152644"/>
            <a:ext cx="6492240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printf, no malloc: nothing is behind your file but prg32.h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8229600" y="1463040"/>
            <a:ext cx="3413455" cy="4754880"/>
          </a:xfrm>
          <a:prstGeom prst="roundRect">
            <a:avLst>
              <a:gd name="adj" fmla="val 2143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412480" y="2286000"/>
            <a:ext cx="30449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2604</a:t>
            </a:r>
            <a:endParaRPr lang="en-US" sz="6000" dirty="0"/>
          </a:p>
        </p:txBody>
      </p:sp>
      <p:sp>
        <p:nvSpPr>
          <p:cNvPr id="13" name="Text 11"/>
          <p:cNvSpPr txBox="1"/>
          <p:nvPr/>
        </p:nvSpPr>
        <p:spPr>
          <a:xfrm>
            <a:off x="8503920" y="4297680"/>
            <a:ext cx="28620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bytes, almost all stubs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6FCF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 and draw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2: state, init, draw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08660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6294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int paddle_x;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int ball_x;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int ball_y;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int ball_dx; </a:t>
            </a:r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horizontal velocity, pixels per frame */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int ball_dy; </a:t>
            </a:r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vertical velocity */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pong_c_init(void) 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paddle_x = 128;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ball_x = 156;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ball_y = 96;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ball_dx = 2;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ball_dy = 1;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pong_c_update(void) 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pong_c_draw(void) 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prg32_gfx_clear(PRG32_COLOR_BLACK);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prg32_gfx_rect(paddle_x, 188, 64, 8, PRG32_COLOR_WHITE);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prg32_gfx_rect(ball_x, ball_y, 8, 8, PRG32_COLOR_YELLOW);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863840" y="1417320"/>
            <a:ext cx="3824935" cy="2424875"/>
          </a:xfrm>
          <a:prstGeom prst="rect">
            <a:avLst/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pic>
        <p:nvPicPr>
          <p:cNvPr id="6" name="Image 0" descr="Five file-scope variables are the whole game state. init sets them once; draw paints from them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0" y="1463040"/>
            <a:ext cx="3733495" cy="233343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909560" y="3887915"/>
            <a:ext cx="37334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Screenshot: this step, built and run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909560" y="4207955"/>
            <a:ext cx="3733495" cy="2009965"/>
          </a:xfrm>
          <a:prstGeom prst="roundRect">
            <a:avLst>
              <a:gd name="adj" fmla="val 3639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92440" y="4317683"/>
            <a:ext cx="3367735" cy="179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file-scope variables are the whole game state. init sets them once; draw paints from them.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step 2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234440" y="1463040"/>
            <a:ext cx="6537960" cy="702564"/>
          </a:xfrm>
          <a:prstGeom prst="roundRect">
            <a:avLst>
              <a:gd name="adj" fmla="val 10412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17320" y="1572768"/>
            <a:ext cx="6172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labs/run.sh 09-c-first-contact/step2_state_draw.c pong_c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688336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paddle_x in init to 0, then 256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3913632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prg32_gfx_clear to the END of draw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5138928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it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092440" y="1463040"/>
            <a:ext cx="3550615" cy="731520"/>
          </a:xfrm>
          <a:prstGeom prst="roundRect">
            <a:avLst>
              <a:gd name="adj" fmla="val 100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1463040"/>
            <a:ext cx="3093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  |  about 6 min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092440" y="2377440"/>
            <a:ext cx="3550615" cy="3840480"/>
          </a:xfrm>
          <a:prstGeom prst="roundRect">
            <a:avLst>
              <a:gd name="adj" fmla="val 2060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2468880"/>
            <a:ext cx="3093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400" dirty="0"/>
          </a:p>
        </p:txBody>
      </p:sp>
      <p:pic>
        <p:nvPicPr>
          <p:cNvPr id="16" name="Image 0" descr="A white paddle and a yellow ball. With clear last, the screen is black: it paints over what was drawn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2834640"/>
            <a:ext cx="3093415" cy="1933385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8321040" y="4859465"/>
            <a:ext cx="3093415" cy="12487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white paddle and a yellow ball. With clear last, the screen is black: it paints over what was drawn.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 understanding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are the variables declared outside every function?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faster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210148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93028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033108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that they keep their values between frames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compiler requires it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210148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93028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033108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that other cartridges can read them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6FCF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Paddle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3: input and clamp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08660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6294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pong_c_update(void)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uint32_t input = prg32_input_read();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(input &amp; PRG32_BTN_LEFT)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paddle_x -= 3;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(input &amp; PRG32_BTN_RIGHT)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paddle_x += 3;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(paddle_x &lt; 0)   { paddle_x = 0; }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(paddle_x &gt; 256) { paddle_x = 256; } </a:t>
            </a:r>
            <a:pPr indent="0" marL="0">
              <a:buNone/>
            </a:pPr>
            <a:r>
              <a:rPr lang="en-US" sz="11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320 - 64-wide paddle */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863840" y="1417320"/>
            <a:ext cx="3824935" cy="2424875"/>
          </a:xfrm>
          <a:prstGeom prst="rect">
            <a:avLst/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pic>
        <p:nvPicPr>
          <p:cNvPr id="6" name="Image 0" descr="One call returns every button. &amp; tests one bit. Two ifs keep paddle_x within 0..256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0" y="1463040"/>
            <a:ext cx="3733495" cy="233343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909560" y="3887915"/>
            <a:ext cx="37334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Screenshot: this step, built and run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909560" y="4207955"/>
            <a:ext cx="3733495" cy="2009965"/>
          </a:xfrm>
          <a:prstGeom prst="roundRect">
            <a:avLst>
              <a:gd name="adj" fmla="val 3639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92440" y="4317683"/>
            <a:ext cx="3367735" cy="179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call returns every button. &amp; tests one bit. Two ifs keep paddle_x within 0..256.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step 3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234440" y="1463040"/>
            <a:ext cx="6537960" cy="470154"/>
          </a:xfrm>
          <a:prstGeom prst="roundRect">
            <a:avLst>
              <a:gd name="adj" fmla="val 15559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17320" y="1572768"/>
            <a:ext cx="6172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labs/run.sh 09-c-first-contact/step3_paddle.c pong_c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688336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RIGHT to the edge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3913632"/>
            <a:ext cx="6446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3 to 8: does it still stop exactly at the edge?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5138928"/>
            <a:ext cx="6446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&amp; by == in the LEFT test; hold LEFT and A together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092440" y="1463040"/>
            <a:ext cx="3550615" cy="731520"/>
          </a:xfrm>
          <a:prstGeom prst="roundRect">
            <a:avLst>
              <a:gd name="adj" fmla="val 100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1463040"/>
            <a:ext cx="3093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3  |  about 6 min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092440" y="2377440"/>
            <a:ext cx="3550615" cy="3840480"/>
          </a:xfrm>
          <a:prstGeom prst="roundRect">
            <a:avLst>
              <a:gd name="adj" fmla="val 2060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2468880"/>
            <a:ext cx="3093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400" dirty="0"/>
          </a:p>
        </p:txBody>
      </p:sp>
      <p:pic>
        <p:nvPicPr>
          <p:cNvPr id="16" name="Image 0" descr="The paddle stops at 256 at any speed, because the clamp runs after the move (screenshot: RIGHT for 30 frames, x = 218). With == the test fails as soon as a second button is held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2834640"/>
            <a:ext cx="3093415" cy="1933385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8321040" y="4859465"/>
            <a:ext cx="3093415" cy="12487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paddle stops at 256 at any speed, because the clamp runs after the move (screenshot: RIGHT for 30 frames, x = 218). With == the test fails as soon as a second button is held.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6FCF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Ball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4: velocity and bounce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08660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6294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ball_x += ball_dx;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ball_y += ball_dy;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(ball_x &lt; 0 || ball_x &gt; 312) { </a:t>
            </a:r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320 - 8-wide ball */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ball_dx = -ball_dx;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(ball_y &lt; 0 || ball_y &gt; 192) { </a:t>
            </a:r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200 - 8-high ball */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ball_dy = -ball_dy;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863840" y="1417320"/>
            <a:ext cx="3824935" cy="2424875"/>
          </a:xfrm>
          <a:prstGeom prst="rect">
            <a:avLst/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pic>
        <p:nvPicPr>
          <p:cNvPr id="6" name="Image 0" descr="Position += velocity, every frame. || means or. A unary minus reverses direction at each wall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0" y="1463040"/>
            <a:ext cx="3733495" cy="233343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909560" y="3887915"/>
            <a:ext cx="37334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Screenshot: this step, built and run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909560" y="4207955"/>
            <a:ext cx="3733495" cy="2009965"/>
          </a:xfrm>
          <a:prstGeom prst="roundRect">
            <a:avLst>
              <a:gd name="adj" fmla="val 3639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92440" y="4317683"/>
            <a:ext cx="3367735" cy="179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+= velocity, every frame. || means or. A unary minus reverses direction at each wall.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step 4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234440" y="1463040"/>
            <a:ext cx="6537960" cy="470154"/>
          </a:xfrm>
          <a:prstGeom prst="roundRect">
            <a:avLst>
              <a:gd name="adj" fmla="val 15559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17320" y="1572768"/>
            <a:ext cx="6172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labs/run.sh 09-c-first-contact/step4_ball.c pong_c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688336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one horizontal crossing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3913632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ball_dx = 0 in init: predict, then run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5138928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ball_dx = 5: watch the right edge closely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092440" y="1463040"/>
            <a:ext cx="3550615" cy="731520"/>
          </a:xfrm>
          <a:prstGeom prst="roundRect">
            <a:avLst>
              <a:gd name="adj" fmla="val 100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1463040"/>
            <a:ext cx="3093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4  |  about 6 min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092440" y="2377440"/>
            <a:ext cx="3550615" cy="3840480"/>
          </a:xfrm>
          <a:prstGeom prst="roundRect">
            <a:avLst>
              <a:gd name="adj" fmla="val 2060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2468880"/>
            <a:ext cx="3093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400" dirty="0"/>
          </a:p>
        </p:txBody>
      </p:sp>
      <p:pic>
        <p:nvPicPr>
          <p:cNvPr id="16" name="Image 0" descr="About 5 seconds per crossing (312 pixels at 2 per frame). With 5 the ball can overshoot by a few pixels before turning: no clamp here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2834640"/>
            <a:ext cx="3093415" cy="1933385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8321040" y="4859465"/>
            <a:ext cx="3093415" cy="12487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5 seconds per crossing (312 pixels at 2 per frame). With 5 the ball can overshoot by a few pixels before turning: no clamp here.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6FCF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Collision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5: one call, one decision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08660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6294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(ball_y &lt; 0) 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ball_dy = -ball_dy;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(ball_y &gt; 200) { </a:t>
            </a:r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missed: start the round again */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pong_c_init();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(prg32_sprite_hitbox(ball_x, ball_y, 8, 8,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paddle_x, 188, 64, 8)) 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ball_dy = -1; </a:t>
            </a:r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assign, do not negate: safe to repeat */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863840" y="1417320"/>
            <a:ext cx="3824935" cy="2424875"/>
          </a:xfrm>
          <a:prstGeom prst="rect">
            <a:avLst/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pic>
        <p:nvPicPr>
          <p:cNvPr id="6" name="Image 0" descr="The bottom no longer bounces: a miss restarts the round. The hitbox result is used directly as the condition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0" y="1463040"/>
            <a:ext cx="3733495" cy="233343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909560" y="3887915"/>
            <a:ext cx="37334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Screenshot: this step, built and run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909560" y="4207955"/>
            <a:ext cx="3733495" cy="2009965"/>
          </a:xfrm>
          <a:prstGeom prst="roundRect">
            <a:avLst>
              <a:gd name="adj" fmla="val 3639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92440" y="4317683"/>
            <a:ext cx="3367735" cy="179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bottom no longer bounces: a miss restarts the round. The hitbox result is used directly as the condition.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step 5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234440" y="1463040"/>
            <a:ext cx="6537960" cy="702564"/>
          </a:xfrm>
          <a:prstGeom prst="roundRect">
            <a:avLst>
              <a:gd name="adj" fmla="val 10412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17320" y="1572768"/>
            <a:ext cx="6172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labs/run.sh 09-c-first-contact/step5_collision.c pong_c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688336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ball alive for ten bounces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3913632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 on purpose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5138928"/>
            <a:ext cx="6446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'ball_dy = -1' to 'ball_dy = -ball_dy' and hit the ball with the paddle's side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092440" y="1463040"/>
            <a:ext cx="3550615" cy="731520"/>
          </a:xfrm>
          <a:prstGeom prst="roundRect">
            <a:avLst>
              <a:gd name="adj" fmla="val 100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1463040"/>
            <a:ext cx="3093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5  |  about 6 min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092440" y="2377440"/>
            <a:ext cx="3550615" cy="3840480"/>
          </a:xfrm>
          <a:prstGeom prst="roundRect">
            <a:avLst>
              <a:gd name="adj" fmla="val 2060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2468880"/>
            <a:ext cx="3093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400" dirty="0"/>
          </a:p>
        </p:txBody>
      </p:sp>
      <p:pic>
        <p:nvPicPr>
          <p:cNvPr id="16" name="Image 0" descr="A real game. With negation the ball can jitter inside the paddle; assigning -1 is safe to repeat on every overlapping frame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2834640"/>
            <a:ext cx="3093415" cy="1933385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8321040" y="4859465"/>
            <a:ext cx="3093415" cy="12487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game. With negation the ball can jitter inside the paddle; assigning -1 is safe to repeat on every overlapping frame.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Assign or negate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ball_dy = -1;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Idempotent: doing it twice changes nothing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while the ball overlaps for several frames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 the speed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278728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53048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ball_dy = -ball_dy;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598768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Flips on every overlapping frame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 guard: if (ball_dy &gt; 0)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speed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6FCF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6: count once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08660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6294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(prg32_sprite_hitbox(ball_x, ball_y, 8, 8,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paddle_x, 188, 64, 8))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(ball_dy &gt; 0)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score += 1; </a:t>
            </a:r>
            <a:pPr indent="0" marL="0">
              <a:buNone/>
            </a:pPr>
            <a:r>
              <a:rPr lang="en-US" sz="11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count only while moving down: once per hit */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ball_dy = -1; </a:t>
            </a:r>
            <a:pPr indent="0" marL="0">
              <a:buNone/>
            </a:pPr>
            <a:r>
              <a:rPr lang="en-US" sz="11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assign, do not negate: safe to repeat */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863840" y="1417320"/>
            <a:ext cx="3824935" cy="2424875"/>
          </a:xfrm>
          <a:prstGeom prst="rect">
            <a:avLst/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pic>
        <p:nvPicPr>
          <p:cNvPr id="6" name="Image 0" descr="The ball may overlap the paddle for several frames. ball_dy &gt; 0 is true only on the first: one hit, one point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0" y="1463040"/>
            <a:ext cx="3733495" cy="233343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909560" y="3887915"/>
            <a:ext cx="37334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Screenshot: this step, built and run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909560" y="4207955"/>
            <a:ext cx="3733495" cy="2009965"/>
          </a:xfrm>
          <a:prstGeom prst="roundRect">
            <a:avLst>
              <a:gd name="adj" fmla="val 3639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92440" y="4317683"/>
            <a:ext cx="3367735" cy="179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ball may overlap the paddle for several frames. ball_dy &gt; 0 is true only on the first: one hit, one point.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step 6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234440" y="1463040"/>
            <a:ext cx="6537960" cy="470154"/>
          </a:xfrm>
          <a:prstGeom prst="roundRect">
            <a:avLst>
              <a:gd name="adj" fmla="val 15559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17320" y="1572768"/>
            <a:ext cx="6172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labs/run.sh 09-c-first-contact/step6_score.c pong_c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688336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five points: the bar is 20 pixels long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3913632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the 'if (ball_dy &gt; 0)' around score += 1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5138928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fast does the bar grow now?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092440" y="1463040"/>
            <a:ext cx="3550615" cy="731520"/>
          </a:xfrm>
          <a:prstGeom prst="roundRect">
            <a:avLst>
              <a:gd name="adj" fmla="val 100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1463040"/>
            <a:ext cx="3093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6  |  about 6 min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092440" y="2377440"/>
            <a:ext cx="3550615" cy="3840480"/>
          </a:xfrm>
          <a:prstGeom prst="roundRect">
            <a:avLst>
              <a:gd name="adj" fmla="val 2060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2468880"/>
            <a:ext cx="3093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400" dirty="0"/>
          </a:p>
        </p:txBody>
      </p:sp>
      <p:pic>
        <p:nvPicPr>
          <p:cNvPr id="16" name="Image 0" descr="+4 pixels per hit. Without the guard the bar jumps by several points per hit: every overlapping frame count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2834640"/>
            <a:ext cx="3093415" cy="1933385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8321040" y="4859465"/>
            <a:ext cx="3093415" cy="12487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 pixels per hit. Without the guard the bar jumps by several points per hit: every overlapping frame counts.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 understanding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does 'score * 4' as a rectangle width do when score is 0?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Crashes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210148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93028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033108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Draws nothing: a rectangle of width 0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Draws a full-width bar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210148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93028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033108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Draws one pixel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built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6492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 lines of C; 2952 bytes of cartridge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6522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446934"/>
            <a:ext cx="6492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variables of state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49117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430829"/>
            <a:ext cx="6492240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update: input, paddle, ball, walls, collision, score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433011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4414723"/>
            <a:ext cx="6492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draw: clear, paddle, ball, title, bar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41690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5398618"/>
            <a:ext cx="6492240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assembly version of the same game is 139 lines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8229600" y="1463040"/>
            <a:ext cx="3413455" cy="4754880"/>
          </a:xfrm>
          <a:prstGeom prst="roundRect">
            <a:avLst>
              <a:gd name="adj" fmla="val 2143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12480" y="2286000"/>
            <a:ext cx="30449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</a:t>
            </a:r>
            <a:endParaRPr lang="en-US" sz="6000" dirty="0"/>
          </a:p>
        </p:txBody>
      </p:sp>
      <p:sp>
        <p:nvSpPr>
          <p:cNvPr id="15" name="Text 13"/>
          <p:cNvSpPr txBox="1"/>
          <p:nvPr/>
        </p:nvSpPr>
        <p:spPr>
          <a:xfrm>
            <a:off x="8503920" y="4297680"/>
            <a:ext cx="28620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C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can now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run a C cartridge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012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282952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state at file scope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12115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10286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input with &amp; and clamp with if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922776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 with velocity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76097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474268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return value as a condition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58088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556260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a counter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 and reading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next session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Chapter 10: arrays, structs, tile maps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repeated numbers with #define constants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lab starts from this game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278728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53048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and sources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598768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Textbook, Chapter 9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labs/09-c-first-contact/ and labs/masters/pong_c.master.c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 docs/learn/tutorial_c_game.md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 Lab 1: Pong, One Function at a Time - lab</dc:title>
  <dc:subject>Chapter 9</dc:subject>
  <dc:creator>Playing with RISC-V (PRG32 textbook)</dc:creator>
  <cp:lastModifiedBy>Playing with RISC-V (PRG32 textbook)</cp:lastModifiedBy>
  <cp:revision>1</cp:revision>
  <dcterms:created xsi:type="dcterms:W3CDTF">2026-10-05T15:40:34Z</dcterms:created>
  <dcterms:modified xsi:type="dcterms:W3CDTF">2026-10-05T15:40:34Z</dcterms:modified>
</cp:coreProperties>
</file>