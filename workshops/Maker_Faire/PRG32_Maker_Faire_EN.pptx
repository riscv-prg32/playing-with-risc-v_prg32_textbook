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</p:sldIdLst>
  <p:notesMasterIdLst>
    <p:notesMasterId r:id="rId6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1cfae969-7843-0f1d-8808-810cd7bd7086}">
          <p14:sldIdLst>
            <p14:sldId id="256"/>
            <p14:sldId id="257"/>
            <p14:sldId id="258"/>
          </p14:sldIdLst>
        </p14:section>
        <p14:section name="Part 1: welcome to the PRG32 universe" id="{d77d59d9-8d8b-3aa6-ed6a-847757193704}">
          <p14:sldIdLst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</p14:sldIdLst>
        </p14:section>
        <p14:section name="Hands-on 1: your first cartridge" id="{fcb62386-1309-5091-a58f-00f7bfba17f6}">
          <p14:sldIdLst>
            <p14:sldId id="271"/>
            <p14:sldId id="272"/>
            <p14:sldId id="273"/>
            <p14:sldId id="274"/>
            <p14:sldId id="275"/>
            <p14:sldId id="276"/>
            <p14:sldId id="277"/>
          </p14:sldIdLst>
        </p14:section>
        <p14:section name="Part 2: programming games in assembly" id="{51319c1c-6009-8da5-8b75-b018893538ab}">
          <p14:sldIdLst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</p14:sldIdLst>
        </p14:section>
        <p14:section name="Hands-on 2: a game in assembly" id="{019f8c08-3ec7-faf3-7947-27568b412811}">
          <p14:sldIdLst>
            <p14:sldId id="286"/>
            <p14:sldId id="287"/>
            <p14:sldId id="288"/>
            <p14:sldId id="289"/>
            <p14:sldId id="290"/>
            <p14:sldId id="291"/>
            <p14:sldId id="292"/>
            <p14:sldId id="293"/>
            <p14:sldId id="294"/>
          </p14:sldIdLst>
        </p14:section>
        <p14:section name="Part 3: from assembly to C" id="{a5cb4001-edff-7ae6-2876-877ab92055b5}">
          <p14:sldIdLst>
            <p14:sldId id="295"/>
            <p14:sldId id="296"/>
            <p14:sldId id="297"/>
            <p14:sldId id="298"/>
            <p14:sldId id="299"/>
            <p14:sldId id="300"/>
            <p14:sldId id="301"/>
            <p14:sldId id="302"/>
          </p14:sldIdLst>
        </p14:section>
        <p14:section name="Hands-on 3: C and assembly together" id="{1a175324-e157-4064-2a0a-40a58a63d008}">
          <p14:sldIdLst>
            <p14:sldId id="303"/>
            <p14:sldId id="304"/>
            <p14:sldId id="305"/>
            <p14:sldId id="306"/>
            <p14:sldId id="307"/>
            <p14:sldId id="308"/>
            <p14:sldId id="309"/>
          </p14:sldIdLst>
        </p14:section>
        <p14:section name="Where to go from here" id="{f9f57ead-f767-62d2-0ef9-4240dc3944dd}">
          <p14:sldIdLst>
            <p14:sldId id="310"/>
            <p14:sldId id="311"/>
            <p14:sldId id="312"/>
          </p14:sldIdLst>
        </p14:section>
        <p14:section name="Closing" id="{d6fd81f1-3909-674e-be74-639a39b8a308}">
          <p14:sldIdLst>
            <p14:sldId id="31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notesMaster" Target="notesMasters/notesMaster1.xml"/><Relationship Id="rId61" Type="http://schemas.openxmlformats.org/officeDocument/2006/relationships/presProps" Target="presProps.xml"/><Relationship Id="rId62" Type="http://schemas.openxmlformats.org/officeDocument/2006/relationships/viewProps" Target="viewProps.xml"/><Relationship Id="rId63" Type="http://schemas.openxmlformats.org/officeDocument/2006/relationships/theme" Target="theme/theme1.xml"/><Relationship Id="rId6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Workshop for 15-30 participants in pairs: 30 PRG32 kits, 15 preconfigured laptops (PRG32 checkout, ESP-IDF active, PRG32_HOME set, this folder copied). Each kit runs its own Wi-Fi network; set PRG32_URL=http://192.168.4.1 on the laptop joined to it. Every step is a complete file started with ./run.sh PART STEP. All screenshots in the slides come from actually building and running that step.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State the objectives; return to this slide at the end.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Total: 150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Orders of magnitude as cited in the textbook (HiPEAC 2026, EuroHPC JU). Keyword: digital sovereignty.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Compute, move, decide: there is nothing else.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I-type: imm=1, rs1=x6, funct3=0, rd=x6, opcode=0x13.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workshops/Maker_Faire/part1/step2_text.S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Screenshot: this step, built and run: workshops/Maker_Faire/part1/expected/step2_text.png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Screenshot: this step, built and run: workshops/Maker_Faire/part1/expected/step3_two_lines.png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workshops/Maker_Faire/part1/step4_sprite_button.S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0x18 = 00011000, 0xff = 11111111: draw the rows on squared paper first.
Screenshot: this step, built and run: workshops/Maker_Faire/part1/expected/step4_sprite_button.png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Verified in the lab material: removing the ra save makes the cartridge loop forever; PRG32-QT reports 'instruction budget exhausted'.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branch tests the opposite condition and jumps over the body.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andi isolates one bit; beqz skips when it is zero. Never compare with ==: several buttons may be held.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workshops/Maker_Faire/part2/step2_move.S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Screenshot: this step, built and run: workshops/Maker_Faire/part2/expected/step2_move.png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workshops/Maker_Faire/part2/step3_ball.S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workshops/Maker_Faire/part2/step4_collision.S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Screenshot: this step, built and run: workshops/Maker_Faire/part2/expected/step4_collision.png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workshops/Maker_Faire/part2/step5_score.S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workshops/Maker_Faire/part2/step6_sound.S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Screenshot: this step, built and run: workshops/Maker_Faire/part2/expected/step6_sound.png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 does not hide the machine: it describes it more comfortably.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Shape of the code emitted by prg32/cartridge/build_cartridge.py; the offset shown (104) is illustrative: 20 + index * 4.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workshops/Maker_Faire/part3/step1_c_calls_asm.c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cartridge builder takes one source file, so the assembly module is embedded as a top-level asm block in the C file.
Source: workshops/Maker_Faire/part3/step1_c_calls_asm.c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Screenshot: this step, built and run: workshops/Maker_Faire/part3/expected/step1_c_calls_asm.png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workshops/Maker_Faire/part3/step2_bricks.c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Screenshot: this step, built and run: workshops/Maker_Faire/part3/expected/step3_complete.png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Run the command from the PRG32 folder with the full path to the cartridge, or copy the .prg32 file on a USB stick.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1908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PRG32 - Retro games on RISC-V  |  Maker Faire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B2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731520"/>
            <a:ext cx="218724" cy="218724"/>
          </a:xfrm>
          <a:prstGeom prst="rect">
            <a:avLst/>
          </a:prstGeom>
          <a:solidFill>
            <a:srgbClr val="2F7D4F"/>
          </a:solidFill>
          <a:ln w="12700">
            <a:solidFill>
              <a:srgbClr val="2F7D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" y="731520"/>
            <a:ext cx="218724" cy="21872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6384" y="969264"/>
            <a:ext cx="218724" cy="218724"/>
          </a:xfrm>
          <a:prstGeom prst="rect">
            <a:avLst/>
          </a:prstGeom>
          <a:solidFill>
            <a:srgbClr val="2F7D4F"/>
          </a:solidFill>
          <a:ln w="12700">
            <a:solidFill>
              <a:srgbClr val="2F7D4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24128" y="969264"/>
            <a:ext cx="218724" cy="21872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207008"/>
            <a:ext cx="218724" cy="218724"/>
          </a:xfrm>
          <a:prstGeom prst="rect">
            <a:avLst/>
          </a:prstGeom>
          <a:solidFill>
            <a:srgbClr val="2F7D4F"/>
          </a:solidFill>
          <a:ln w="12700">
            <a:solidFill>
              <a:srgbClr val="2F7D4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192024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MAKER FAIRE  |  WORKSHOP  |  2.5 HOURS  |  THREE PARTS OF 20' + 30'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377440"/>
            <a:ext cx="11094415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One When Future Tech Is Tough: Mastering Retro Games with PRG32</a:t>
            </a:r>
            <a:endParaRPr lang="en-US" sz="4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2519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retro game development platform for learning and mastering the European RISC-V processor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557784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Audience: students, makers, electronics enthusiasts, hobbyist programmers, educators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94360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8FA3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Performance Scientific Computing SmartLab - University of Naples "Parthenope"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 the fundamentals of the RISC-V instruction set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46522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446934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simple assembly programs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449117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430829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 software with graphics, controllers and audio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433011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4414723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 how C and assembly cooperate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41690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1280160" y="539861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and run a complete retro game cartridge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 of the session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1433535" cy="822960"/>
          </a:xfrm>
          <a:prstGeom prst="rect">
            <a:avLst/>
          </a:prstGeom>
          <a:solidFill>
            <a:srgbClr val="2E4A62"/>
          </a:solidFill>
          <a:ln w="12700">
            <a:solidFill>
              <a:srgbClr val="2E4A6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737360"/>
            <a:ext cx="1433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20'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27895" y="1737360"/>
            <a:ext cx="2173163" cy="82296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27895" y="1737360"/>
            <a:ext cx="217316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30'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246778" y="1737360"/>
            <a:ext cx="1433535" cy="822960"/>
          </a:xfrm>
          <a:prstGeom prst="rect">
            <a:avLst/>
          </a:prstGeom>
          <a:solidFill>
            <a:srgbClr val="6B4FA0"/>
          </a:solidFill>
          <a:ln w="12700">
            <a:solidFill>
              <a:srgbClr val="6B4FA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246778" y="1737360"/>
            <a:ext cx="1433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20'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5726034" y="1737360"/>
            <a:ext cx="2173163" cy="82296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726034" y="1737360"/>
            <a:ext cx="217316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30'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7944917" y="1737360"/>
            <a:ext cx="1433535" cy="822960"/>
          </a:xfrm>
          <a:prstGeom prst="rect">
            <a:avLst/>
          </a:prstGeom>
          <a:solidFill>
            <a:srgbClr val="2F7D4F"/>
          </a:solidFill>
          <a:ln w="12700">
            <a:solidFill>
              <a:srgbClr val="2F7D4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944917" y="1737360"/>
            <a:ext cx="1433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20'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9424172" y="1737360"/>
            <a:ext cx="2173163" cy="822960"/>
          </a:xfrm>
          <a:prstGeom prst="rect">
            <a:avLst/>
          </a:prstGeom>
          <a:solidFill>
            <a:srgbClr val="B23A48"/>
          </a:solidFill>
          <a:ln w="12700">
            <a:solidFill>
              <a:srgbClr val="B23A4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424172" y="1737360"/>
            <a:ext cx="217316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30'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548640" y="3017520"/>
            <a:ext cx="1658569" cy="3200400"/>
          </a:xfrm>
          <a:prstGeom prst="roundRect">
            <a:avLst>
              <a:gd name="adj" fmla="val 441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31520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731520" y="3749040"/>
            <a:ext cx="1292809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1: welcome to the PRG32 universe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2435809" y="3017520"/>
            <a:ext cx="1658569" cy="3200400"/>
          </a:xfrm>
          <a:prstGeom prst="roundRect">
            <a:avLst>
              <a:gd name="adj" fmla="val 441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618689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2618689" y="3749040"/>
            <a:ext cx="1292809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Hands-on: your first cartridge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4322978" y="3017520"/>
            <a:ext cx="1658569" cy="3200400"/>
          </a:xfrm>
          <a:prstGeom prst="roundRect">
            <a:avLst>
              <a:gd name="adj" fmla="val 441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505858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4505858" y="3749040"/>
            <a:ext cx="1292809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2: programming games in assembly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6210148" y="3017520"/>
            <a:ext cx="1658569" cy="3200400"/>
          </a:xfrm>
          <a:prstGeom prst="roundRect">
            <a:avLst>
              <a:gd name="adj" fmla="val 441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393028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6393028" y="3749040"/>
            <a:ext cx="1292809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Hands-on: a game in assembly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8097317" y="3017520"/>
            <a:ext cx="1658569" cy="3200400"/>
          </a:xfrm>
          <a:prstGeom prst="roundRect">
            <a:avLst>
              <a:gd name="adj" fmla="val 441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280197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8280197" y="3749040"/>
            <a:ext cx="1292809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3: from assembly to C</a:t>
            </a:r>
            <a:endParaRPr lang="en-US" sz="1800" dirty="0"/>
          </a:p>
        </p:txBody>
      </p:sp>
      <p:sp>
        <p:nvSpPr>
          <p:cNvPr id="30" name="Shape 28"/>
          <p:cNvSpPr/>
          <p:nvPr/>
        </p:nvSpPr>
        <p:spPr>
          <a:xfrm>
            <a:off x="9984486" y="3017520"/>
            <a:ext cx="1658569" cy="3200400"/>
          </a:xfrm>
          <a:prstGeom prst="roundRect">
            <a:avLst>
              <a:gd name="adj" fmla="val 441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10167366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B23A48"/>
          </a:solidFill>
          <a:ln>
            <a:solidFill>
              <a:srgbClr val="B23A4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10167366" y="3749040"/>
            <a:ext cx="1292809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Hands-on: C and assembly together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6FCF9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Part 1: welcome to the PRG32 universe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Presentation, 20 minutes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168250" cy="168250"/>
          </a:xfrm>
          <a:prstGeom prst="rect">
            <a:avLst/>
          </a:prstGeom>
          <a:solidFill>
            <a:srgbClr val="2F7D4F"/>
          </a:solidFill>
          <a:ln w="12700">
            <a:solidFill>
              <a:srgbClr val="2F7D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31520" y="640080"/>
            <a:ext cx="168250" cy="16825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822960"/>
            <a:ext cx="168250" cy="168250"/>
          </a:xfrm>
          <a:prstGeom prst="rect">
            <a:avLst/>
          </a:prstGeom>
          <a:solidFill>
            <a:srgbClr val="2F7D4F"/>
          </a:solidFill>
          <a:ln w="12700">
            <a:solidFill>
              <a:srgbClr val="2F7D4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554480"/>
            <a:ext cx="11094415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do retro video games have in common with Europe's future processors?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448056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reward people who know what really happens inside the machine.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RISC-V matters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9164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Proprietary architectures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246888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instruction set belongs to a company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 processor needs a licence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roadmap is decided elsewhere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6278728" y="146304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53048" y="169164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RISC-V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6598768" y="246888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open standard, born at Berkeley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Anyone may design a processor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Extensible by design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microcontrollers to supercomputers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European open hardware ecosystem</a:t>
            </a:r>
            <a:endParaRPr lang="en-US" sz="3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4415" cy="914400"/>
        </p:xfrm>
        <a:graphic>
          <a:graphicData uri="http://schemas.openxmlformats.org/drawingml/2006/table">
            <a:tbl>
              <a:tblPr/>
              <a:tblGrid>
                <a:gridCol w="7006999"/>
                <a:gridCol w="4087416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Fact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Figure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Global semiconductor market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about 700 billion USD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Europe's current share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about one tenth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European Chips Act target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fifth by 2030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DARE (EuroHPC): European processors on RISC-V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about 240 million EUR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PRG32 educational philosophy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541004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9164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325880" y="1645920"/>
            <a:ext cx="44042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 by making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423160"/>
            <a:ext cx="486140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theory lecture first: build it, then understand why it works.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6233008" y="1463040"/>
            <a:ext cx="541004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61608" y="169164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7010248" y="1645920"/>
            <a:ext cx="44042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Immediate feedback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6507328" y="2423160"/>
            <a:ext cx="486140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instruction produces something on screen. If it is wrong, you can see it.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548640" y="3977640"/>
            <a:ext cx="541004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77240" y="420624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325880" y="4160520"/>
            <a:ext cx="44042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Incremental challenges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4937760"/>
            <a:ext cx="486140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thing at a time: every step is a complete program that works.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6233008" y="3977640"/>
            <a:ext cx="541004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61608" y="420624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7010248" y="4160520"/>
            <a:ext cx="44042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pairs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6507328" y="4937760"/>
            <a:ext cx="486140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drives, one reads; swap at every step.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a retro console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8-bit consoles were simple enough to understand completely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1119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69290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few kilobytes, a few colours: constraints force understanding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410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922776"/>
            <a:ext cx="10362895" cy="1065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game contains everything: state, input, arithmetic, decisions, time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7093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5152644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 brings that simplicity back on a modern, open processor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PRG32 hardware</a:t>
            </a:r>
            <a:endParaRPr lang="en-US" sz="3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4415" cy="914400"/>
        </p:xfrm>
        <a:graphic>
          <a:graphicData uri="http://schemas.openxmlformats.org/drawingml/2006/table">
            <a:tbl>
              <a:tblPr/>
              <a:tblGrid>
                <a:gridCol w="3795458"/>
                <a:gridCol w="7298957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Component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Details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ESP32-C6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RISC-V RV32IMAC at 160 MHz, 512 KB RAM, Wi-Fi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ILI9341 display (SPI)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320 x 240, RGB565; games use 320 x 200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Joystick and buttons (GPIO)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directions, A, B, Start/Select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Audio (I2S)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MAX98357A; 8-voice mixer, 22,050 Hz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Cartridge memory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 KiB; our games use about 3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Memory-mapped hardware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6492240" cy="8193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the processor, a peripheral is a memory address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46522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446934"/>
            <a:ext cx="6492240" cy="8193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buttons = reading a register: each button is one bit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449117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430829"/>
            <a:ext cx="6492240" cy="8193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Drawing = writing numbers into an area of memory, the framebuffer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433011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4414723"/>
            <a:ext cx="6492240" cy="8193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PRG32 runtime does those reads and writes for us, behind 139 functions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41690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1280160" y="5398618"/>
            <a:ext cx="64922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is why input arrives as a bit mask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8229600" y="1463040"/>
            <a:ext cx="3413455" cy="4754880"/>
          </a:xfrm>
          <a:prstGeom prst="roundRect">
            <a:avLst>
              <a:gd name="adj" fmla="val 2143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412480" y="2286000"/>
            <a:ext cx="30449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64,000</a:t>
            </a:r>
            <a:endParaRPr lang="en-US" sz="6000" dirty="0"/>
          </a:p>
        </p:txBody>
      </p:sp>
      <p:sp>
        <p:nvSpPr>
          <p:cNvPr id="15" name="Text 13"/>
          <p:cNvSpPr txBox="1"/>
          <p:nvPr/>
        </p:nvSpPr>
        <p:spPr>
          <a:xfrm>
            <a:off x="8503920" y="4297680"/>
            <a:ext cx="286207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bytes of framebuffer: one byte per pixel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development workflow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920240"/>
            <a:ext cx="1853123" cy="1737360"/>
          </a:xfrm>
          <a:prstGeom prst="roundRect">
            <a:avLst>
              <a:gd name="adj" fmla="val 4211"/>
            </a:avLst>
          </a:prstGeom>
          <a:solidFill>
            <a:srgbClr val="2E4A62"/>
          </a:solidFill>
          <a:ln w="12700">
            <a:solidFill>
              <a:srgbClr val="2E4A6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58368" y="2103120"/>
            <a:ext cx="163366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658368" y="2834640"/>
            <a:ext cx="163366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.S or .c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2474915" y="2633472"/>
            <a:ext cx="310896" cy="310896"/>
          </a:xfrm>
          <a:prstGeom prst="rightArrow">
            <a:avLst/>
          </a:prstGeom>
          <a:solidFill>
            <a:srgbClr val="C9D2D8"/>
          </a:solidFill>
          <a:ln w="12700">
            <a:solidFill>
              <a:srgbClr val="C9D2D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58963" y="1920240"/>
            <a:ext cx="1853123" cy="1737360"/>
          </a:xfrm>
          <a:prstGeom prst="roundRect">
            <a:avLst>
              <a:gd name="adj" fmla="val 4211"/>
            </a:avLst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968691" y="2103120"/>
            <a:ext cx="163366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RISC-V toolchain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2968691" y="2834640"/>
            <a:ext cx="163366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the laptop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785238" y="2633472"/>
            <a:ext cx="310896" cy="310896"/>
          </a:xfrm>
          <a:prstGeom prst="rightArrow">
            <a:avLst/>
          </a:prstGeom>
          <a:solidFill>
            <a:srgbClr val="C9D2D8"/>
          </a:solidFill>
          <a:ln w="12700">
            <a:solidFill>
              <a:srgbClr val="C9D2D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69286" y="1920240"/>
            <a:ext cx="1853123" cy="1737360"/>
          </a:xfrm>
          <a:prstGeom prst="roundRect">
            <a:avLst>
              <a:gd name="adj" fmla="val 4211"/>
            </a:avLst>
          </a:prstGeom>
          <a:solidFill>
            <a:srgbClr val="6B4FA0"/>
          </a:solidFill>
          <a:ln w="12700">
            <a:solidFill>
              <a:srgbClr val="6B4FA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279014" y="2103120"/>
            <a:ext cx="163366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Cartridge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5279014" y="2834640"/>
            <a:ext cx="163366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.prg32 file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7095561" y="2633472"/>
            <a:ext cx="310896" cy="310896"/>
          </a:xfrm>
          <a:prstGeom prst="rightArrow">
            <a:avLst/>
          </a:prstGeom>
          <a:solidFill>
            <a:srgbClr val="C9D2D8"/>
          </a:solidFill>
          <a:ln w="12700">
            <a:solidFill>
              <a:srgbClr val="C9D2D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479609" y="1920240"/>
            <a:ext cx="1853123" cy="1737360"/>
          </a:xfrm>
          <a:prstGeom prst="roundRect">
            <a:avLst>
              <a:gd name="adj" fmla="val 4211"/>
            </a:avLst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589337" y="2103120"/>
            <a:ext cx="163366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Wi-Fi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7589337" y="2834640"/>
            <a:ext cx="163366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the kit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9405884" y="2633472"/>
            <a:ext cx="310896" cy="310896"/>
          </a:xfrm>
          <a:prstGeom prst="rightArrow">
            <a:avLst/>
          </a:prstGeom>
          <a:solidFill>
            <a:srgbClr val="C9D2D8"/>
          </a:solidFill>
          <a:ln w="12700">
            <a:solidFill>
              <a:srgbClr val="C9D2D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789932" y="1920240"/>
            <a:ext cx="1853123" cy="1737360"/>
          </a:xfrm>
          <a:prstGeom prst="roundRect">
            <a:avLst>
              <a:gd name="adj" fmla="val 4211"/>
            </a:avLst>
          </a:prstGeom>
          <a:solidFill>
            <a:srgbClr val="2F7D4F"/>
          </a:solidFill>
          <a:ln w="12700">
            <a:solidFill>
              <a:srgbClr val="2F7D4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899660" y="2103120"/>
            <a:ext cx="163366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 / update / draw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9899660" y="2834640"/>
            <a:ext cx="163366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game runs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548640" y="4114800"/>
            <a:ext cx="11094415" cy="2103120"/>
          </a:xfrm>
          <a:prstGeom prst="roundRect">
            <a:avLst>
              <a:gd name="adj" fmla="val 347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68680" y="4251960"/>
            <a:ext cx="1045433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firmware stays on the console. Only the cartridge is rebuilt and uploaded: a few seconds per iteration.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cartridge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8229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98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+0</a:t>
            </a:r>
            <a:endParaRPr lang="en-US" sz="1398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1463040"/>
            <a:ext cx="3291840" cy="429768"/>
          </a:xfrm>
          <a:prstGeom prst="rect">
            <a:avLst/>
          </a:prstGeom>
          <a:solidFill>
            <a:srgbClr val="2E4A62"/>
          </a:solidFill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98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PRG2</a:t>
            </a:r>
            <a:endParaRPr lang="en-US" sz="1598" dirty="0"/>
          </a:p>
        </p:txBody>
      </p:sp>
      <p:sp>
        <p:nvSpPr>
          <p:cNvPr id="5" name="Text 3"/>
          <p:cNvSpPr txBox="1"/>
          <p:nvPr/>
        </p:nvSpPr>
        <p:spPr>
          <a:xfrm>
            <a:off x="4937760" y="1463040"/>
            <a:ext cx="114300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98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bytes</a:t>
            </a:r>
            <a:endParaRPr lang="en-US" sz="1398" dirty="0"/>
          </a:p>
        </p:txBody>
      </p:sp>
      <p:sp>
        <p:nvSpPr>
          <p:cNvPr id="6" name="Text 4"/>
          <p:cNvSpPr txBox="1"/>
          <p:nvPr/>
        </p:nvSpPr>
        <p:spPr>
          <a:xfrm>
            <a:off x="6126480" y="1463040"/>
            <a:ext cx="5516575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98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 signature</a:t>
            </a:r>
            <a:endParaRPr lang="en-US" sz="1598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956816"/>
            <a:ext cx="8229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98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+4</a:t>
            </a:r>
            <a:endParaRPr lang="en-US" sz="1398" dirty="0"/>
          </a:p>
        </p:txBody>
      </p:sp>
      <p:sp>
        <p:nvSpPr>
          <p:cNvPr id="8" name="Text 6"/>
          <p:cNvSpPr txBox="1"/>
          <p:nvPr/>
        </p:nvSpPr>
        <p:spPr>
          <a:xfrm>
            <a:off x="1508760" y="1956816"/>
            <a:ext cx="3291840" cy="429768"/>
          </a:xfrm>
          <a:prstGeom prst="rect">
            <a:avLst/>
          </a:prstGeom>
          <a:solidFill>
            <a:srgbClr val="0E7C86"/>
          </a:solidFill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98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ABI version</a:t>
            </a:r>
            <a:endParaRPr lang="en-US" sz="1598" dirty="0"/>
          </a:p>
        </p:txBody>
      </p:sp>
      <p:sp>
        <p:nvSpPr>
          <p:cNvPr id="9" name="Text 7"/>
          <p:cNvSpPr txBox="1"/>
          <p:nvPr/>
        </p:nvSpPr>
        <p:spPr>
          <a:xfrm>
            <a:off x="4937760" y="1956816"/>
            <a:ext cx="114300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98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bytes</a:t>
            </a:r>
            <a:endParaRPr lang="en-US" sz="1398" dirty="0"/>
          </a:p>
        </p:txBody>
      </p:sp>
      <p:sp>
        <p:nvSpPr>
          <p:cNvPr id="10" name="Text 8"/>
          <p:cNvSpPr txBox="1"/>
          <p:nvPr/>
        </p:nvSpPr>
        <p:spPr>
          <a:xfrm>
            <a:off x="6126480" y="1956816"/>
            <a:ext cx="5516575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98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function table it expects</a:t>
            </a:r>
            <a:endParaRPr lang="en-US" sz="1598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2450592"/>
            <a:ext cx="8229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98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+8</a:t>
            </a:r>
            <a:endParaRPr lang="en-US" sz="1398" dirty="0"/>
          </a:p>
        </p:txBody>
      </p:sp>
      <p:sp>
        <p:nvSpPr>
          <p:cNvPr id="12" name="Text 10"/>
          <p:cNvSpPr txBox="1"/>
          <p:nvPr/>
        </p:nvSpPr>
        <p:spPr>
          <a:xfrm>
            <a:off x="1508760" y="2450592"/>
            <a:ext cx="3291840" cy="429768"/>
          </a:xfrm>
          <a:prstGeom prst="rect">
            <a:avLst/>
          </a:prstGeom>
          <a:solidFill>
            <a:srgbClr val="6B4FA0"/>
          </a:solidFill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98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sizes, address</a:t>
            </a:r>
            <a:endParaRPr lang="en-US" sz="1598" dirty="0"/>
          </a:p>
        </p:txBody>
      </p:sp>
      <p:sp>
        <p:nvSpPr>
          <p:cNvPr id="13" name="Text 11"/>
          <p:cNvSpPr txBox="1"/>
          <p:nvPr/>
        </p:nvSpPr>
        <p:spPr>
          <a:xfrm>
            <a:off x="4937760" y="2450592"/>
            <a:ext cx="114300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98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bytes</a:t>
            </a:r>
            <a:endParaRPr lang="en-US" sz="1398" dirty="0"/>
          </a:p>
        </p:txBody>
      </p:sp>
      <p:sp>
        <p:nvSpPr>
          <p:cNvPr id="14" name="Text 12"/>
          <p:cNvSpPr txBox="1"/>
          <p:nvPr/>
        </p:nvSpPr>
        <p:spPr>
          <a:xfrm>
            <a:off x="6126480" y="2450592"/>
            <a:ext cx="5516575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98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to load it and how large it is</a:t>
            </a:r>
            <a:endParaRPr lang="en-US" sz="1598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2944368"/>
            <a:ext cx="8229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98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+24</a:t>
            </a:r>
            <a:endParaRPr lang="en-US" sz="1398" dirty="0"/>
          </a:p>
        </p:txBody>
      </p:sp>
      <p:sp>
        <p:nvSpPr>
          <p:cNvPr id="16" name="Text 14"/>
          <p:cNvSpPr txBox="1"/>
          <p:nvPr/>
        </p:nvSpPr>
        <p:spPr>
          <a:xfrm>
            <a:off x="1508760" y="2944368"/>
            <a:ext cx="3291840" cy="429768"/>
          </a:xfrm>
          <a:prstGeom prst="rect">
            <a:avLst/>
          </a:prstGeom>
          <a:solidFill>
            <a:srgbClr val="C7791B"/>
          </a:solidFill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98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init / update / draw</a:t>
            </a:r>
            <a:endParaRPr lang="en-US" sz="1598" dirty="0"/>
          </a:p>
        </p:txBody>
      </p:sp>
      <p:sp>
        <p:nvSpPr>
          <p:cNvPr id="17" name="Text 15"/>
          <p:cNvSpPr txBox="1"/>
          <p:nvPr/>
        </p:nvSpPr>
        <p:spPr>
          <a:xfrm>
            <a:off x="4937760" y="2944368"/>
            <a:ext cx="114300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98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bytes</a:t>
            </a:r>
            <a:endParaRPr lang="en-US" sz="1398" dirty="0"/>
          </a:p>
        </p:txBody>
      </p:sp>
      <p:sp>
        <p:nvSpPr>
          <p:cNvPr id="18" name="Text 16"/>
          <p:cNvSpPr txBox="1"/>
          <p:nvPr/>
        </p:nvSpPr>
        <p:spPr>
          <a:xfrm>
            <a:off x="6126480" y="2944368"/>
            <a:ext cx="5516575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98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game's entry points</a:t>
            </a:r>
            <a:endParaRPr lang="en-US" sz="1598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3438144"/>
            <a:ext cx="8229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98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+36</a:t>
            </a:r>
            <a:endParaRPr lang="en-US" sz="1398" dirty="0"/>
          </a:p>
        </p:txBody>
      </p:sp>
      <p:sp>
        <p:nvSpPr>
          <p:cNvPr id="20" name="Text 18"/>
          <p:cNvSpPr txBox="1"/>
          <p:nvPr/>
        </p:nvSpPr>
        <p:spPr>
          <a:xfrm>
            <a:off x="1508760" y="3438144"/>
            <a:ext cx="3291840" cy="429768"/>
          </a:xfrm>
          <a:prstGeom prst="rect">
            <a:avLst/>
          </a:prstGeom>
          <a:solidFill>
            <a:srgbClr val="2F7D4F"/>
          </a:solidFill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98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CRC32</a:t>
            </a:r>
            <a:endParaRPr lang="en-US" sz="1598" dirty="0"/>
          </a:p>
        </p:txBody>
      </p:sp>
      <p:sp>
        <p:nvSpPr>
          <p:cNvPr id="21" name="Text 19"/>
          <p:cNvSpPr txBox="1"/>
          <p:nvPr/>
        </p:nvSpPr>
        <p:spPr>
          <a:xfrm>
            <a:off x="4937760" y="3438144"/>
            <a:ext cx="114300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98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bytes</a:t>
            </a:r>
            <a:endParaRPr lang="en-US" sz="1398" dirty="0"/>
          </a:p>
        </p:txBody>
      </p:sp>
      <p:sp>
        <p:nvSpPr>
          <p:cNvPr id="22" name="Text 20"/>
          <p:cNvSpPr txBox="1"/>
          <p:nvPr/>
        </p:nvSpPr>
        <p:spPr>
          <a:xfrm>
            <a:off x="6126480" y="3438144"/>
            <a:ext cx="5516575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98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integrity</a:t>
            </a:r>
            <a:endParaRPr lang="en-US" sz="1598" dirty="0"/>
          </a:p>
        </p:txBody>
      </p:sp>
      <p:sp>
        <p:nvSpPr>
          <p:cNvPr id="23" name="Text 21"/>
          <p:cNvSpPr txBox="1"/>
          <p:nvPr/>
        </p:nvSpPr>
        <p:spPr>
          <a:xfrm>
            <a:off x="548640" y="3931920"/>
            <a:ext cx="8229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98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+40</a:t>
            </a:r>
            <a:endParaRPr lang="en-US" sz="1398" dirty="0"/>
          </a:p>
        </p:txBody>
      </p:sp>
      <p:sp>
        <p:nvSpPr>
          <p:cNvPr id="24" name="Text 22"/>
          <p:cNvSpPr txBox="1"/>
          <p:nvPr/>
        </p:nvSpPr>
        <p:spPr>
          <a:xfrm>
            <a:off x="1508760" y="3931920"/>
            <a:ext cx="3291840" cy="429768"/>
          </a:xfrm>
          <a:prstGeom prst="rect">
            <a:avLst/>
          </a:prstGeom>
          <a:solidFill>
            <a:srgbClr val="B23A48"/>
          </a:solidFill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98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</a:t>
            </a:r>
            <a:endParaRPr lang="en-US" sz="1598" dirty="0"/>
          </a:p>
        </p:txBody>
      </p:sp>
      <p:sp>
        <p:nvSpPr>
          <p:cNvPr id="25" name="Text 23"/>
          <p:cNvSpPr txBox="1"/>
          <p:nvPr/>
        </p:nvSpPr>
        <p:spPr>
          <a:xfrm>
            <a:off x="4937760" y="3931920"/>
            <a:ext cx="114300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98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 bytes</a:t>
            </a:r>
            <a:endParaRPr lang="en-US" sz="1398" dirty="0"/>
          </a:p>
        </p:txBody>
      </p:sp>
      <p:sp>
        <p:nvSpPr>
          <p:cNvPr id="26" name="Text 24"/>
          <p:cNvSpPr txBox="1"/>
          <p:nvPr/>
        </p:nvSpPr>
        <p:spPr>
          <a:xfrm>
            <a:off x="6126480" y="3931920"/>
            <a:ext cx="5516575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98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menu shows</a:t>
            </a:r>
            <a:endParaRPr lang="en-US" sz="1598" dirty="0"/>
          </a:p>
        </p:txBody>
      </p:sp>
      <p:sp>
        <p:nvSpPr>
          <p:cNvPr id="27" name="Text 25"/>
          <p:cNvSpPr txBox="1"/>
          <p:nvPr/>
        </p:nvSpPr>
        <p:spPr>
          <a:xfrm>
            <a:off x="548640" y="4425696"/>
            <a:ext cx="8229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98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+72</a:t>
            </a:r>
            <a:endParaRPr lang="en-US" sz="1398" dirty="0"/>
          </a:p>
        </p:txBody>
      </p:sp>
      <p:sp>
        <p:nvSpPr>
          <p:cNvPr id="28" name="Text 26"/>
          <p:cNvSpPr txBox="1"/>
          <p:nvPr/>
        </p:nvSpPr>
        <p:spPr>
          <a:xfrm>
            <a:off x="1508760" y="4425696"/>
            <a:ext cx="3291840" cy="429768"/>
          </a:xfrm>
          <a:prstGeom prst="rect">
            <a:avLst/>
          </a:prstGeom>
          <a:solidFill>
            <a:srgbClr val="2E4A62"/>
          </a:solidFill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98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ABI hash, required features</a:t>
            </a:r>
            <a:endParaRPr lang="en-US" sz="1498" dirty="0"/>
          </a:p>
        </p:txBody>
      </p:sp>
      <p:sp>
        <p:nvSpPr>
          <p:cNvPr id="29" name="Text 27"/>
          <p:cNvSpPr txBox="1"/>
          <p:nvPr/>
        </p:nvSpPr>
        <p:spPr>
          <a:xfrm>
            <a:off x="4937760" y="4425696"/>
            <a:ext cx="114300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98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 bytes</a:t>
            </a:r>
            <a:endParaRPr lang="en-US" sz="1398" dirty="0"/>
          </a:p>
        </p:txBody>
      </p:sp>
      <p:sp>
        <p:nvSpPr>
          <p:cNvPr id="30" name="Text 28"/>
          <p:cNvSpPr txBox="1"/>
          <p:nvPr/>
        </p:nvSpPr>
        <p:spPr>
          <a:xfrm>
            <a:off x="6126480" y="4425696"/>
            <a:ext cx="5516575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98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incompatible cartridge is refused</a:t>
            </a:r>
            <a:endParaRPr lang="en-US" sz="1598" dirty="0"/>
          </a:p>
        </p:txBody>
      </p:sp>
      <p:sp>
        <p:nvSpPr>
          <p:cNvPr id="31" name="Text 29"/>
          <p:cNvSpPr txBox="1"/>
          <p:nvPr/>
        </p:nvSpPr>
        <p:spPr>
          <a:xfrm>
            <a:off x="548640" y="4919472"/>
            <a:ext cx="8229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endParaRPr lang="en-US" sz="1398" dirty="0"/>
          </a:p>
        </p:txBody>
      </p:sp>
      <p:sp>
        <p:nvSpPr>
          <p:cNvPr id="32" name="Text 30"/>
          <p:cNvSpPr txBox="1"/>
          <p:nvPr/>
        </p:nvSpPr>
        <p:spPr>
          <a:xfrm>
            <a:off x="1508760" y="4919472"/>
            <a:ext cx="3291840" cy="429768"/>
          </a:xfrm>
          <a:prstGeom prst="rect">
            <a:avLst/>
          </a:prstGeom>
          <a:solidFill>
            <a:srgbClr val="0E7C86"/>
          </a:solidFill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98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code and data</a:t>
            </a:r>
            <a:endParaRPr lang="en-US" sz="1598" dirty="0"/>
          </a:p>
        </p:txBody>
      </p:sp>
      <p:sp>
        <p:nvSpPr>
          <p:cNvPr id="33" name="Text 31"/>
          <p:cNvSpPr txBox="1"/>
          <p:nvPr/>
        </p:nvSpPr>
        <p:spPr>
          <a:xfrm>
            <a:off x="4937760" y="4919472"/>
            <a:ext cx="114300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98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~3 KiB</a:t>
            </a:r>
            <a:endParaRPr lang="en-US" sz="1398" dirty="0"/>
          </a:p>
        </p:txBody>
      </p:sp>
      <p:sp>
        <p:nvSpPr>
          <p:cNvPr id="34" name="Text 32"/>
          <p:cNvSpPr txBox="1"/>
          <p:nvPr/>
        </p:nvSpPr>
        <p:spPr>
          <a:xfrm>
            <a:off x="6126480" y="4919472"/>
            <a:ext cx="5516575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98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RISC-V instructions: ours</a:t>
            </a:r>
            <a:endParaRPr lang="en-US" sz="1598" dirty="0"/>
          </a:p>
        </p:txBody>
      </p:sp>
      <p:sp>
        <p:nvSpPr>
          <p:cNvPr id="35" name="Shape 33"/>
          <p:cNvSpPr/>
          <p:nvPr/>
        </p:nvSpPr>
        <p:spPr>
          <a:xfrm>
            <a:off x="548640" y="5458968"/>
            <a:ext cx="11094415" cy="758952"/>
          </a:xfrm>
          <a:prstGeom prst="roundRect">
            <a:avLst>
              <a:gd name="adj" fmla="val 9639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822960" y="5532120"/>
            <a:ext cx="10545775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100-byte header. Of those 3 KiB, about 2.5 are the 139 small stubs that reach the console's functions.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Assembly language fundamentals</a:t>
            </a:r>
            <a:endParaRPr lang="en-US" sz="30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4415" cy="914400"/>
        </p:xfrm>
        <a:graphic>
          <a:graphicData uri="http://schemas.openxmlformats.org/drawingml/2006/table">
            <a:tbl>
              <a:tblPr/>
              <a:tblGrid>
                <a:gridCol w="5547208"/>
                <a:gridCol w="554720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Instruction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does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li a0, 5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puts 5 in register a0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la t0, x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puts the address of x in t0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lw t1, 0(t0)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loads a word from memory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addi t1, t1, 1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t1 = t1 + 1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sw t1, 0(t0)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stores a word to memory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call f / ret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calls f / returns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 instruction is a 32-bit number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764792"/>
            <a:ext cx="332030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31..20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148840"/>
            <a:ext cx="3320301" cy="1051560"/>
          </a:xfrm>
          <a:prstGeom prst="rect">
            <a:avLst/>
          </a:prstGeom>
          <a:solidFill>
            <a:srgbClr val="2E4A62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immediate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291840"/>
            <a:ext cx="3320301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000000000001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977640"/>
            <a:ext cx="332030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bit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3868941" y="1764792"/>
            <a:ext cx="19435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19..15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3868941" y="2148840"/>
            <a:ext cx="1943529" cy="1051560"/>
          </a:xfrm>
          <a:prstGeom prst="rect">
            <a:avLst/>
          </a:prstGeom>
          <a:solidFill>
            <a:srgbClr val="0E7C86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rs1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3868941" y="3291840"/>
            <a:ext cx="194352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00110 (t1)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868941" y="3977640"/>
            <a:ext cx="194352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bit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5812469" y="1764792"/>
            <a:ext cx="155016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14..12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5812469" y="2148840"/>
            <a:ext cx="1550165" cy="1051560"/>
          </a:xfrm>
          <a:prstGeom prst="rect">
            <a:avLst/>
          </a:prstGeom>
          <a:solidFill>
            <a:srgbClr val="6B4FA0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funct3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5812469" y="3291840"/>
            <a:ext cx="155016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000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5812469" y="3977640"/>
            <a:ext cx="155016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bit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7362635" y="1764792"/>
            <a:ext cx="19435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11..7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7362635" y="2148840"/>
            <a:ext cx="1943529" cy="1051560"/>
          </a:xfrm>
          <a:prstGeom prst="rect">
            <a:avLst/>
          </a:prstGeom>
          <a:solidFill>
            <a:srgbClr val="C7791B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rd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7362635" y="3291840"/>
            <a:ext cx="194352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00110 (t1)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7362635" y="3977640"/>
            <a:ext cx="194352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bit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9306163" y="1764792"/>
            <a:ext cx="23368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6..0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9306163" y="2148840"/>
            <a:ext cx="2336892" cy="1051560"/>
          </a:xfrm>
          <a:prstGeom prst="rect">
            <a:avLst/>
          </a:prstGeom>
          <a:solidFill>
            <a:srgbClr val="2F7D4F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opcode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9306163" y="3291840"/>
            <a:ext cx="23368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0010011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9306163" y="3977640"/>
            <a:ext cx="23368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bit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48640" y="4480560"/>
            <a:ext cx="11094415" cy="1737360"/>
          </a:xfrm>
          <a:prstGeom prst="roundRect">
            <a:avLst>
              <a:gd name="adj" fmla="val 421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22960" y="4590288"/>
            <a:ext cx="10545775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 t1, t1, 1 in its 32-bit form is 0x00130313. RISC-V also has 16-bit compressed forms of the most common instructions.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6FCF9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Hands-on 1: your first cartridge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minutes, in pairs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Explore the environment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1463040"/>
            <a:ext cx="64465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the PRG32 kit and join the laptop to its Wi-Fi network</a:t>
            </a:r>
            <a:endParaRPr lang="en-US" sz="2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066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1234440" y="2688336"/>
            <a:ext cx="6537960" cy="470154"/>
          </a:xfrm>
          <a:prstGeom prst="roundRect">
            <a:avLst>
              <a:gd name="adj" fmla="val 15559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417320" y="2798064"/>
            <a:ext cx="61722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 PRG32_URL=http://192.168.4.1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931920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1234440" y="3913632"/>
            <a:ext cx="6537960" cy="470154"/>
          </a:xfrm>
          <a:prstGeom prst="roundRect">
            <a:avLst>
              <a:gd name="adj" fmla="val 15559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417320" y="4023360"/>
            <a:ext cx="61722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workshops/Maker_Faire &amp;&amp; ls part1 part2 part3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15721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234440" y="5138928"/>
            <a:ext cx="64465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the PRG32 folder run: python3 -m prg32 doctor</a:t>
            </a:r>
            <a:endParaRPr lang="en-US" sz="2100" dirty="0"/>
          </a:p>
        </p:txBody>
      </p:sp>
      <p:sp>
        <p:nvSpPr>
          <p:cNvPr id="13" name="Shape 11"/>
          <p:cNvSpPr/>
          <p:nvPr/>
        </p:nvSpPr>
        <p:spPr>
          <a:xfrm>
            <a:off x="8092440" y="1463040"/>
            <a:ext cx="3550615" cy="1143000"/>
          </a:xfrm>
          <a:prstGeom prst="roundRect">
            <a:avLst>
              <a:gd name="adj" fmla="val 64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321040" y="1600200"/>
            <a:ext cx="3093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1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8321040" y="2084832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5 min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8092440" y="2788920"/>
            <a:ext cx="3550615" cy="3429000"/>
          </a:xfrm>
          <a:prstGeom prst="roundRect">
            <a:avLst>
              <a:gd name="adj" fmla="val 213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321040" y="2880360"/>
            <a:ext cx="3093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result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8321040" y="3246120"/>
            <a:ext cx="3093415" cy="2862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folders of steps. doctor reports OK for the ESP-IDF toolchain, the RISC-V compiler, and the partition table.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1.2: text on the screen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708660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662940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hello_world_draw: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-16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ra, 12(sp)  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this function calls others: save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ra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a0, BLACK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prg32_gfx_clear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a0, 32      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x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a1, 40      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y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a2, title   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address of the string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a3, CYAN    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foreground colour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a4, BLACK   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background colour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prg32_gfx_text8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ra, 12(sp)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7863840" y="1417320"/>
            <a:ext cx="3824935" cy="2424875"/>
          </a:xfrm>
          <a:prstGeom prst="rect">
            <a:avLst/>
          </a:prstGeom>
          <a:solidFill>
            <a:srgbClr val="2E4A62"/>
          </a:solidFill>
          <a:ln w="12700">
            <a:solidFill>
              <a:srgbClr val="2E4A62"/>
            </a:solidFill>
            <a:prstDash val="solid"/>
          </a:ln>
        </p:spPr>
      </p:sp>
      <p:pic>
        <p:nvPicPr>
          <p:cNvPr id="6" name="Image 0" descr="Three exported labels; draw saves ra, clears the screen and writes a string with five arguments in a0..a4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09560" y="1463040"/>
            <a:ext cx="3733495" cy="2333435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909560" y="3887915"/>
            <a:ext cx="37334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Screenshot: this step, built and run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7909560" y="4207955"/>
            <a:ext cx="3733495" cy="2009965"/>
          </a:xfrm>
          <a:prstGeom prst="roundRect">
            <a:avLst>
              <a:gd name="adj" fmla="val 3639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092440" y="4317683"/>
            <a:ext cx="3367735" cy="17905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exported labels; draw saves ra, clears the screen and writes a string with five arguments in a0..a4.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 and run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1234440" y="1463040"/>
            <a:ext cx="6537960" cy="470154"/>
          </a:xfrm>
          <a:prstGeom prst="roundRect">
            <a:avLst>
              <a:gd name="adj" fmla="val 15559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417320" y="1572768"/>
            <a:ext cx="61722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./run.sh 1 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7066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1234440" y="2688336"/>
            <a:ext cx="6537960" cy="470154"/>
          </a:xfrm>
          <a:prstGeom prst="roundRect">
            <a:avLst>
              <a:gd name="adj" fmla="val 15559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417320" y="2798064"/>
            <a:ext cx="61722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./run.sh 1 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931920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3913632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code_size printed by the script</a:t>
            </a:r>
            <a:endParaRPr lang="en-US" sz="21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15721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234440" y="5138928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the text and its x, y; run again</a:t>
            </a:r>
            <a:endParaRPr lang="en-US" sz="2100" dirty="0"/>
          </a:p>
        </p:txBody>
      </p:sp>
      <p:sp>
        <p:nvSpPr>
          <p:cNvPr id="13" name="Shape 11"/>
          <p:cNvSpPr/>
          <p:nvPr/>
        </p:nvSpPr>
        <p:spPr>
          <a:xfrm>
            <a:off x="8092440" y="1463040"/>
            <a:ext cx="3550615" cy="731520"/>
          </a:xfrm>
          <a:prstGeom prst="roundRect">
            <a:avLst>
              <a:gd name="adj" fmla="val 100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321040" y="1463040"/>
            <a:ext cx="3093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2  |  about 8 min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8092440" y="2377440"/>
            <a:ext cx="3550615" cy="3840480"/>
          </a:xfrm>
          <a:prstGeom prst="roundRect">
            <a:avLst>
              <a:gd name="adj" fmla="val 2060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0" y="2468880"/>
            <a:ext cx="3093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result</a:t>
            </a:r>
            <a:endParaRPr lang="en-US" sz="1400" dirty="0"/>
          </a:p>
        </p:txBody>
      </p:sp>
      <p:pic>
        <p:nvPicPr>
          <p:cNvPr id="17" name="Image 0" descr="Step 1: a black screen. Step 2: HELLO WORLD in cyan. code_size about 2660 bytes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21040" y="2834640"/>
            <a:ext cx="3093415" cy="1933385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8321040" y="4859465"/>
            <a:ext cx="3093415" cy="12487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1: a black screen. Step 2: HELLO WORLD in cyan. code_size about 2660 bytes.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Modify text and graphics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1234440" y="1463040"/>
            <a:ext cx="6537960" cy="470154"/>
          </a:xfrm>
          <a:prstGeom prst="roundRect">
            <a:avLst>
              <a:gd name="adj" fmla="val 15559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417320" y="1572768"/>
            <a:ext cx="61722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./run.sh 1 3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7066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2688336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CYAN to 0xF800 (red) in its .equ line</a:t>
            </a:r>
            <a:endParaRPr lang="en-US" sz="21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931920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234440" y="3913632"/>
            <a:ext cx="64465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 an RGB565 colour yourself: 5 bits red, 6 green, 5 blue</a:t>
            </a:r>
            <a:endParaRPr lang="en-US" sz="21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515721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234440" y="5138928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 third line of text 24 pixels lower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8092440" y="1463040"/>
            <a:ext cx="3550615" cy="731520"/>
          </a:xfrm>
          <a:prstGeom prst="roundRect">
            <a:avLst>
              <a:gd name="adj" fmla="val 100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321040" y="1463040"/>
            <a:ext cx="3093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3  |  about 7 min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8092440" y="2377440"/>
            <a:ext cx="3550615" cy="3840480"/>
          </a:xfrm>
          <a:prstGeom prst="roundRect">
            <a:avLst>
              <a:gd name="adj" fmla="val 2060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21040" y="2468880"/>
            <a:ext cx="3093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result</a:t>
            </a:r>
            <a:endParaRPr lang="en-US" sz="1400" dirty="0"/>
          </a:p>
        </p:txBody>
      </p:sp>
      <p:pic>
        <p:nvPicPr>
          <p:cNvPr id="16" name="Image 0" descr="Two lines of text; then three, in your colours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21040" y="2834640"/>
            <a:ext cx="3093415" cy="1933385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8321040" y="4859465"/>
            <a:ext cx="3093415" cy="12487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lines of text; then three, in your colours.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1.4: a sprite and a button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708660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662940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4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An 8x8 sprite: one byte per row, one bit per pixel.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a0, 152               </a:t>
            </a:r>
            <a:pPr indent="0" marL="0">
              <a:buNone/>
            </a:pPr>
            <a:r>
              <a:rPr lang="en-US" sz="14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x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a1, 96                </a:t>
            </a:r>
            <a:pPr indent="0" marL="0">
              <a:buNone/>
            </a:pPr>
            <a:r>
              <a:rPr lang="en-US" sz="14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y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a2, ship              </a:t>
            </a:r>
            <a:pPr indent="0" marL="0">
              <a:buNone/>
            </a:pPr>
            <a:r>
              <a:rPr lang="en-US" sz="14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address of the 8 bytes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a3, CYAN              </a:t>
            </a:r>
            <a:pPr indent="0" marL="0">
              <a:buNone/>
            </a:pPr>
            <a:r>
              <a:rPr lang="en-US" sz="14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foreground: cyan...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buttons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t1, 0(t0)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andi t1, t1, BTN_A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beqz t1, 1f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a3, YELLOW            </a:t>
            </a:r>
            <a:pPr indent="0" marL="0">
              <a:buNone/>
            </a:pPr>
            <a:r>
              <a:rPr lang="en-US" sz="14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...yellow while A is held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1:  li   a4, BLACK             </a:t>
            </a:r>
            <a:pPr indent="0" marL="0">
              <a:buNone/>
            </a:pPr>
            <a:r>
              <a:rPr lang="en-US" sz="14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background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prg32_sprite_draw_8x8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863840" y="1417320"/>
            <a:ext cx="3824935" cy="2424875"/>
          </a:xfrm>
          <a:prstGeom prst="rect">
            <a:avLst/>
          </a:prstGeom>
          <a:solidFill>
            <a:srgbClr val="2E4A62"/>
          </a:solidFill>
          <a:ln w="12700">
            <a:solidFill>
              <a:srgbClr val="2E4A62"/>
            </a:solidFill>
            <a:prstDash val="solid"/>
          </a:ln>
        </p:spPr>
      </p:sp>
      <p:pic>
        <p:nvPicPr>
          <p:cNvPr id="6" name="Image 0" descr="Eight bytes, one bit per pixel. andi isolates the A button's bit: the sprite turns yellow while A is held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09560" y="1463040"/>
            <a:ext cx="3733495" cy="2333435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909560" y="3887915"/>
            <a:ext cx="37334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Screenshot: this step, built and run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7909560" y="4207955"/>
            <a:ext cx="3733495" cy="2009965"/>
          </a:xfrm>
          <a:prstGeom prst="roundRect">
            <a:avLst>
              <a:gd name="adj" fmla="val 3639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092440" y="4317683"/>
            <a:ext cx="3367735" cy="17905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Eight bytes, one bit per pixel. andi isolates the A button's bit: the sprite turns yellow while A is held.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Buttons and display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1234440" y="1463040"/>
            <a:ext cx="6537960" cy="470154"/>
          </a:xfrm>
          <a:prstGeom prst="roundRect">
            <a:avLst>
              <a:gd name="adj" fmla="val 15559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417320" y="1572768"/>
            <a:ext cx="61722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./run.sh 1 4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7066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2688336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 A: the sprite changes colour</a:t>
            </a:r>
            <a:endParaRPr lang="en-US" sz="21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931920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234440" y="3913632"/>
            <a:ext cx="64465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BTN_A (0x10) to 0x20: which button responds now?</a:t>
            </a:r>
            <a:endParaRPr lang="en-US" sz="21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515721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234440" y="5138928"/>
            <a:ext cx="64465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Redraw the sprite: edit the eight bytes after 'ship:'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8092440" y="1463040"/>
            <a:ext cx="3550615" cy="731520"/>
          </a:xfrm>
          <a:prstGeom prst="roundRect">
            <a:avLst>
              <a:gd name="adj" fmla="val 100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321040" y="1463040"/>
            <a:ext cx="3093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4  |  about 10 min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8092440" y="2377440"/>
            <a:ext cx="3550615" cy="3840480"/>
          </a:xfrm>
          <a:prstGeom prst="roundRect">
            <a:avLst>
              <a:gd name="adj" fmla="val 2060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21040" y="2468880"/>
            <a:ext cx="3093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result</a:t>
            </a:r>
            <a:endParaRPr lang="en-US" sz="1400" dirty="0"/>
          </a:p>
        </p:txBody>
      </p:sp>
      <p:pic>
        <p:nvPicPr>
          <p:cNvPr id="16" name="Image 0" descr="A cyan sprite, yellow while A is held (screenshot). 0x20 is button B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21040" y="2834640"/>
            <a:ext cx="3093415" cy="1933385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8321040" y="4859465"/>
            <a:ext cx="3093415" cy="12487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cyan sprite, yellow while A is held (screenshot). 0x20 is button B.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6FCF9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Part 2: programming games in assembly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Presentation, 20 minutes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RISC-V registers</a:t>
            </a:r>
            <a:endParaRPr lang="en-US" sz="30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4415" cy="914400"/>
        </p:xfrm>
        <a:graphic>
          <a:graphicData uri="http://schemas.openxmlformats.org/drawingml/2006/table">
            <a:tbl>
              <a:tblPr/>
              <a:tblGrid>
                <a:gridCol w="2311336"/>
                <a:gridCol w="5084940"/>
                <a:gridCol w="369813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Register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Role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Survives a call?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a0 - a7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arguments; a0 also the result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t0 - t6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temporaries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s0 - s11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saved values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ra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return address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no: save it yourself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sp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stack pointer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yes; 16-byte aligned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Functions and the calling convention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920240"/>
            <a:ext cx="2464994" cy="4114800"/>
          </a:xfrm>
          <a:prstGeom prst="roundRect">
            <a:avLst>
              <a:gd name="adj" fmla="val 296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506817" y="1645920"/>
            <a:ext cx="548640" cy="548640"/>
          </a:xfrm>
          <a:prstGeom prst="roundRect">
            <a:avLst>
              <a:gd name="adj" fmla="val 13333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331720"/>
            <a:ext cx="209923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Prologue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3291840"/>
            <a:ext cx="2099234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 sp, sp, -16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 ra, 12(sp)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3077642" y="3831336"/>
            <a:ext cx="283464" cy="292608"/>
          </a:xfrm>
          <a:prstGeom prst="rightArrow">
            <a:avLst/>
          </a:prstGeom>
          <a:solidFill>
            <a:srgbClr val="C9D2D8"/>
          </a:solidFill>
          <a:ln w="12700">
            <a:solidFill>
              <a:srgbClr val="C9D2D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25114" y="1920240"/>
            <a:ext cx="2464994" cy="4114800"/>
          </a:xfrm>
          <a:prstGeom prst="roundRect">
            <a:avLst>
              <a:gd name="adj" fmla="val 296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383291" y="1645920"/>
            <a:ext cx="548640" cy="548640"/>
          </a:xfrm>
          <a:prstGeom prst="roundRect">
            <a:avLst>
              <a:gd name="adj" fmla="val 13333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3607994" y="2331720"/>
            <a:ext cx="209923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Arguments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3607994" y="3291840"/>
            <a:ext cx="2099234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a0, a1, a2... in order</a:t>
            </a:r>
            <a:endParaRPr lang="en-US" sz="1900" dirty="0"/>
          </a:p>
        </p:txBody>
      </p:sp>
      <p:sp>
        <p:nvSpPr>
          <p:cNvPr id="12" name="Shape 10"/>
          <p:cNvSpPr/>
          <p:nvPr/>
        </p:nvSpPr>
        <p:spPr>
          <a:xfrm>
            <a:off x="5954116" y="3831336"/>
            <a:ext cx="283464" cy="292608"/>
          </a:xfrm>
          <a:prstGeom prst="rightArrow">
            <a:avLst/>
          </a:prstGeom>
          <a:solidFill>
            <a:srgbClr val="C9D2D8"/>
          </a:solidFill>
          <a:ln w="12700">
            <a:solidFill>
              <a:srgbClr val="C9D2D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301588" y="1920240"/>
            <a:ext cx="2464994" cy="4114800"/>
          </a:xfrm>
          <a:prstGeom prst="roundRect">
            <a:avLst>
              <a:gd name="adj" fmla="val 296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259765" y="1645920"/>
            <a:ext cx="548640" cy="548640"/>
          </a:xfrm>
          <a:prstGeom prst="roundRect">
            <a:avLst>
              <a:gd name="adj" fmla="val 13333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6484468" y="2331720"/>
            <a:ext cx="209923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</a:t>
            </a:r>
            <a:endParaRPr lang="en-US" sz="1900" dirty="0"/>
          </a:p>
        </p:txBody>
      </p:sp>
      <p:sp>
        <p:nvSpPr>
          <p:cNvPr id="16" name="Text 14"/>
          <p:cNvSpPr txBox="1"/>
          <p:nvPr/>
        </p:nvSpPr>
        <p:spPr>
          <a:xfrm>
            <a:off x="6484468" y="3291840"/>
            <a:ext cx="2099234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writes the return address into ra</a:t>
            </a:r>
            <a:endParaRPr lang="en-US" sz="1900" dirty="0"/>
          </a:p>
        </p:txBody>
      </p:sp>
      <p:sp>
        <p:nvSpPr>
          <p:cNvPr id="17" name="Shape 15"/>
          <p:cNvSpPr/>
          <p:nvPr/>
        </p:nvSpPr>
        <p:spPr>
          <a:xfrm>
            <a:off x="8830589" y="3831336"/>
            <a:ext cx="283464" cy="292608"/>
          </a:xfrm>
          <a:prstGeom prst="rightArrow">
            <a:avLst/>
          </a:prstGeom>
          <a:solidFill>
            <a:srgbClr val="C9D2D8"/>
          </a:solidFill>
          <a:ln w="12700">
            <a:solidFill>
              <a:srgbClr val="C9D2D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178061" y="1920240"/>
            <a:ext cx="2464994" cy="4114800"/>
          </a:xfrm>
          <a:prstGeom prst="roundRect">
            <a:avLst>
              <a:gd name="adj" fmla="val 296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0136238" y="1645920"/>
            <a:ext cx="548640" cy="548640"/>
          </a:xfrm>
          <a:prstGeom prst="roundRect">
            <a:avLst>
              <a:gd name="adj" fmla="val 13333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9360941" y="2331720"/>
            <a:ext cx="209923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Epilogue</a:t>
            </a:r>
            <a:endParaRPr lang="en-US" sz="1900" dirty="0"/>
          </a:p>
        </p:txBody>
      </p:sp>
      <p:sp>
        <p:nvSpPr>
          <p:cNvPr id="21" name="Text 19"/>
          <p:cNvSpPr txBox="1"/>
          <p:nvPr/>
        </p:nvSpPr>
        <p:spPr>
          <a:xfrm>
            <a:off x="9360941" y="3291840"/>
            <a:ext cx="2099234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lw ra, 12(sp)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 sp, sp, 16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Conditions and loops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9164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condition is a forward branch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246888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andi t3, a0, 1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beqz t3, 1f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 t2, t2, -4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6278728" y="146304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53048" y="169164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loop is a backward branch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6598768" y="246888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 s0, 0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loop:  ...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 s0, s0, 1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blt s0, t0, loop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Sprites and rectangles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prg32_gfx_rect(x, y, w, h, color): five registers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1119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69290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prg32_sprite_draw_8x8(x, y, bits, foreground, background)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410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922776"/>
            <a:ext cx="10362895" cy="1065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prg32_sprite_hitbox: eight arguments, answers whether two rectangles overlap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7093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5152644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Coordinates come from state; sizes are constants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Input is a bit mask</a:t>
            </a:r>
            <a:endParaRPr lang="en-US" sz="300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4415" cy="914400"/>
        </p:xfrm>
        <a:graphic>
          <a:graphicData uri="http://schemas.openxmlformats.org/drawingml/2006/table">
            <a:tbl>
              <a:tblPr/>
              <a:tblGrid>
                <a:gridCol w="3698138"/>
                <a:gridCol w="3698138"/>
                <a:gridCol w="369813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Button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Value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Binary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LEFT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0x01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0000 0001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RIGHT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0x02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0000 0010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0x04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0000 0100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DOWN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0x08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0000 1000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0x10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0001 0000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0x20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0010 0000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Timing: the game loop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920240"/>
            <a:ext cx="2430704" cy="1737360"/>
          </a:xfrm>
          <a:prstGeom prst="roundRect">
            <a:avLst>
              <a:gd name="adj" fmla="val 4211"/>
            </a:avLst>
          </a:prstGeom>
          <a:solidFill>
            <a:srgbClr val="2E4A62"/>
          </a:solidFill>
          <a:ln w="12700">
            <a:solidFill>
              <a:srgbClr val="2E4A6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58368" y="2103120"/>
            <a:ext cx="22112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658368" y="2834640"/>
            <a:ext cx="22112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once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052496" y="2633472"/>
            <a:ext cx="310896" cy="310896"/>
          </a:xfrm>
          <a:prstGeom prst="rightArrow">
            <a:avLst/>
          </a:prstGeom>
          <a:solidFill>
            <a:srgbClr val="C9D2D8"/>
          </a:solidFill>
          <a:ln w="12700">
            <a:solidFill>
              <a:srgbClr val="C9D2D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36544" y="1920240"/>
            <a:ext cx="2430704" cy="1737360"/>
          </a:xfrm>
          <a:prstGeom prst="roundRect">
            <a:avLst>
              <a:gd name="adj" fmla="val 4211"/>
            </a:avLst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546272" y="2103120"/>
            <a:ext cx="22112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input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3546272" y="2834640"/>
            <a:ext cx="22112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buttons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940400" y="2633472"/>
            <a:ext cx="310896" cy="310896"/>
          </a:xfrm>
          <a:prstGeom prst="rightArrow">
            <a:avLst/>
          </a:prstGeom>
          <a:solidFill>
            <a:srgbClr val="C9D2D8"/>
          </a:solidFill>
          <a:ln w="12700">
            <a:solidFill>
              <a:srgbClr val="C9D2D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324448" y="1920240"/>
            <a:ext cx="2430704" cy="1737360"/>
          </a:xfrm>
          <a:prstGeom prst="roundRect">
            <a:avLst>
              <a:gd name="adj" fmla="val 4211"/>
            </a:avLst>
          </a:prstGeom>
          <a:solidFill>
            <a:srgbClr val="6B4FA0"/>
          </a:solidFill>
          <a:ln w="12700">
            <a:solidFill>
              <a:srgbClr val="6B4FA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34176" y="2103120"/>
            <a:ext cx="22112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6434176" y="2834640"/>
            <a:ext cx="22112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state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8828303" y="2633472"/>
            <a:ext cx="310896" cy="310896"/>
          </a:xfrm>
          <a:prstGeom prst="rightArrow">
            <a:avLst/>
          </a:prstGeom>
          <a:solidFill>
            <a:srgbClr val="C9D2D8"/>
          </a:solidFill>
          <a:ln w="12700">
            <a:solidFill>
              <a:srgbClr val="C9D2D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212351" y="1920240"/>
            <a:ext cx="2430704" cy="1737360"/>
          </a:xfrm>
          <a:prstGeom prst="roundRect">
            <a:avLst>
              <a:gd name="adj" fmla="val 4211"/>
            </a:avLst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322079" y="2103120"/>
            <a:ext cx="22112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9322079" y="2834640"/>
            <a:ext cx="22112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 state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548640" y="4114800"/>
            <a:ext cx="11094415" cy="2103120"/>
          </a:xfrm>
          <a:prstGeom prst="roundRect">
            <a:avLst>
              <a:gd name="adj" fmla="val 347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68680" y="4251960"/>
            <a:ext cx="1045433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30 frames per second: 33 ms for update plus draw. A speed of 2 means 2 pixels per frame, 60 pixels per second.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Motion: position plus velocity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6492240" cy="1065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numbers per axis: position and signed velocity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1119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692908"/>
            <a:ext cx="64922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frame: x = x + dx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410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922776"/>
            <a:ext cx="6492240" cy="1065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an edge: clamp to the edge and flip the sign (neg)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7093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5152644"/>
            <a:ext cx="64922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 = screen size minus object size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8229600" y="1463040"/>
            <a:ext cx="3413455" cy="4754880"/>
          </a:xfrm>
          <a:prstGeom prst="roundRect">
            <a:avLst>
              <a:gd name="adj" fmla="val 2143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412480" y="2286000"/>
            <a:ext cx="30449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320 - 8</a:t>
            </a:r>
            <a:endParaRPr lang="en-US" sz="6000" dirty="0"/>
          </a:p>
        </p:txBody>
      </p:sp>
      <p:sp>
        <p:nvSpPr>
          <p:cNvPr id="13" name="Text 11"/>
          <p:cNvSpPr txBox="1"/>
          <p:nvPr/>
        </p:nvSpPr>
        <p:spPr>
          <a:xfrm>
            <a:off x="8503920" y="4297680"/>
            <a:ext cx="286207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312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6FCF9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Hands-on 2: a game in assembly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minutes: movement, collisions, scoring, sound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2.2: player movement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708660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662940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--- paddle: move with LEFT / RIGHT, clamp to the screen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t1, paddle_x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t2, 0(t1)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andi t3, a0, 1             </a:t>
            </a:r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LEFT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beqz t3, 1f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t2, t2, -PADDLE_SPEED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1:  andi t3, a0, 2             </a:t>
            </a:r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RIGHT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beqz t3, 2f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t2, t2, PADDLE_SPEED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2:  bgez t2, 3f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t2, 0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3:  li   t3, PADDLE_MAX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ble  t2, t3, 4f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mv   t2, t3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863840" y="1417320"/>
            <a:ext cx="3824935" cy="2424875"/>
          </a:xfrm>
          <a:prstGeom prst="rect">
            <a:avLst/>
          </a:prstGeom>
          <a:solidFill>
            <a:srgbClr val="2E4A62"/>
          </a:solidFill>
          <a:ln w="12700">
            <a:solidFill>
              <a:srgbClr val="2E4A62"/>
            </a:solidFill>
            <a:prstDash val="solid"/>
          </a:ln>
        </p:spPr>
      </p:sp>
      <p:pic>
        <p:nvPicPr>
          <p:cNvPr id="6" name="Image 0" descr="Load, modify, store. Two bit tests, then two checks keep the paddle between 0 and 256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09560" y="1463040"/>
            <a:ext cx="3733495" cy="2333435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909560" y="3887915"/>
            <a:ext cx="37334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Screenshot: this step, built and run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7909560" y="4207955"/>
            <a:ext cx="3733495" cy="2009965"/>
          </a:xfrm>
          <a:prstGeom prst="roundRect">
            <a:avLst>
              <a:gd name="adj" fmla="val 3639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092440" y="4317683"/>
            <a:ext cx="3367735" cy="17905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Load, modify, store. Two bit tests, then two checks keep the paddle between 0 and 256.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Try the movement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1234440" y="1463040"/>
            <a:ext cx="6537960" cy="470154"/>
          </a:xfrm>
          <a:prstGeom prst="roundRect">
            <a:avLst>
              <a:gd name="adj" fmla="val 15559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417320" y="1572768"/>
            <a:ext cx="61722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./run.sh 2 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7066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1234440" y="2688336"/>
            <a:ext cx="6537960" cy="470154"/>
          </a:xfrm>
          <a:prstGeom prst="roundRect">
            <a:avLst>
              <a:gd name="adj" fmla="val 15559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417320" y="2798064"/>
            <a:ext cx="61722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./run.sh 2 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931920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3913632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 RIGHT up to the edge</a:t>
            </a:r>
            <a:endParaRPr lang="en-US" sz="21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15721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234440" y="5138928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PADDLE_SPEED from 4 to 12</a:t>
            </a:r>
            <a:endParaRPr lang="en-US" sz="2100" dirty="0"/>
          </a:p>
        </p:txBody>
      </p:sp>
      <p:sp>
        <p:nvSpPr>
          <p:cNvPr id="13" name="Shape 11"/>
          <p:cNvSpPr/>
          <p:nvPr/>
        </p:nvSpPr>
        <p:spPr>
          <a:xfrm>
            <a:off x="8092440" y="1463040"/>
            <a:ext cx="3550615" cy="731520"/>
          </a:xfrm>
          <a:prstGeom prst="roundRect">
            <a:avLst>
              <a:gd name="adj" fmla="val 100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321040" y="1463040"/>
            <a:ext cx="3093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5  |  about 5 min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8092440" y="2377440"/>
            <a:ext cx="3550615" cy="3840480"/>
          </a:xfrm>
          <a:prstGeom prst="roundRect">
            <a:avLst>
              <a:gd name="adj" fmla="val 2060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0" y="2468880"/>
            <a:ext cx="3093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result</a:t>
            </a:r>
            <a:endParaRPr lang="en-US" sz="1400" dirty="0"/>
          </a:p>
        </p:txBody>
      </p:sp>
      <p:pic>
        <p:nvPicPr>
          <p:cNvPr id="17" name="Image 0" descr="The paddle follows the joystick and stops at x = 256 (screenshot: RIGHT for 30 frames)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21040" y="2834640"/>
            <a:ext cx="3093415" cy="1933385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8321040" y="4859465"/>
            <a:ext cx="3093415" cy="12487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paddle follows the joystick and stops at x = 256 (screenshot: RIGHT for 30 frames).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2.3: the ball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708660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662940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4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--- ball x: add velocity, bounce off the side walls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t1, ball_x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t2, 0(t1)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t3, ball_dx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t4, 0(t3)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  t2, t2, t4            </a:t>
            </a:r>
            <a:pPr indent="0" marL="0">
              <a:buNone/>
            </a:pPr>
            <a:r>
              <a:rPr lang="en-US" sz="14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x = x + dx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bgez t2, 5f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t2, 0                 </a:t>
            </a:r>
            <a:pPr indent="0" marL="0">
              <a:buNone/>
            </a:pPr>
            <a:r>
              <a:rPr lang="en-US" sz="14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clamp to the left edge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neg  t4, t4                </a:t>
            </a:r>
            <a:pPr indent="0" marL="0">
              <a:buNone/>
            </a:pPr>
            <a:r>
              <a:rPr lang="en-US" sz="14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and reverse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5:  li   t5, BALL_MAX_X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ble  t2, t5, 6f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mv   t2, t5                </a:t>
            </a:r>
            <a:pPr indent="0" marL="0">
              <a:buNone/>
            </a:pPr>
            <a:r>
              <a:rPr lang="en-US" sz="14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clamp to the right edge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neg  t4, t4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6:  sw   t2, 0(t1)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863840" y="1417320"/>
            <a:ext cx="3824935" cy="2424875"/>
          </a:xfrm>
          <a:prstGeom prst="rect">
            <a:avLst/>
          </a:prstGeom>
          <a:solidFill>
            <a:srgbClr val="2E4A62"/>
          </a:solidFill>
          <a:ln w="12700">
            <a:solidFill>
              <a:srgbClr val="2E4A62"/>
            </a:solidFill>
            <a:prstDash val="solid"/>
          </a:ln>
        </p:spPr>
      </p:sp>
      <p:pic>
        <p:nvPicPr>
          <p:cNvPr id="6" name="Image 0" descr="x = x + dx; at each side wall the ball is clamped to the edge and dx is flipped with neg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09560" y="1463040"/>
            <a:ext cx="3733495" cy="2333435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909560" y="3887915"/>
            <a:ext cx="37334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Screenshot: this step, built and run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7909560" y="4207955"/>
            <a:ext cx="3733495" cy="2009965"/>
          </a:xfrm>
          <a:prstGeom prst="roundRect">
            <a:avLst>
              <a:gd name="adj" fmla="val 3639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092440" y="4317683"/>
            <a:ext cx="3367735" cy="17905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 = x + dx; at each side wall the ball is clamped to the edge and dx is flipped with neg.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2.4: collision detection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708660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662940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--- paddle collision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ball_x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a0, 0(t0)   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a0..a3: the ball rectangle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ball_y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a1, 0(t0)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a2, BALL_SIZE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a3, BALL_SIZE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paddle_x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a4, 0(t0)   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a4..a7: the paddle rectangle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a5, PADDLE_Y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a6, PADDLE_W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a7, PADDLE_H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prg32_sprite_hitbox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a0 = non-zero if they overlap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beqz a0, update_done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ball_dy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t1, 0(t0)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blez t1, update_done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guard: bounce only while moving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down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neg  t1, t1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t1, 0(t0)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7863840" y="1417320"/>
            <a:ext cx="3824935" cy="2424875"/>
          </a:xfrm>
          <a:prstGeom prst="rect">
            <a:avLst/>
          </a:prstGeom>
          <a:solidFill>
            <a:srgbClr val="2E4A62"/>
          </a:solidFill>
          <a:ln w="12700">
            <a:solidFill>
              <a:srgbClr val="2E4A62"/>
            </a:solidFill>
            <a:prstDash val="solid"/>
          </a:ln>
        </p:spPr>
      </p:sp>
      <p:pic>
        <p:nvPicPr>
          <p:cNvPr id="6" name="Image 0" descr="Ball in a0-a3, paddle in a4-a7. blez: bounce only while moving down, so one hit counts once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09560" y="1463040"/>
            <a:ext cx="3733495" cy="2333435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909560" y="3887915"/>
            <a:ext cx="37334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Screenshot: this step, built and run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7909560" y="4207955"/>
            <a:ext cx="3733495" cy="2009965"/>
          </a:xfrm>
          <a:prstGeom prst="roundRect">
            <a:avLst>
              <a:gd name="adj" fmla="val 3639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092440" y="4317683"/>
            <a:ext cx="3367735" cy="17905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Ball in a0-a3, paddle in a4-a7. blez: bounce only while moving down, so one hit counts once.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Try ball and collision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1234440" y="1463040"/>
            <a:ext cx="6537960" cy="470154"/>
          </a:xfrm>
          <a:prstGeom prst="roundRect">
            <a:avLst>
              <a:gd name="adj" fmla="val 15559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417320" y="1572768"/>
            <a:ext cx="61722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./run.sh 2 3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7066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1234440" y="2688336"/>
            <a:ext cx="6537960" cy="470154"/>
          </a:xfrm>
          <a:prstGeom prst="roundRect">
            <a:avLst>
              <a:gd name="adj" fmla="val 15559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417320" y="2798064"/>
            <a:ext cx="61722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./run.sh 2 4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931920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3913632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the ball alive for five bounces</a:t>
            </a:r>
            <a:endParaRPr lang="en-US" sz="21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15721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234440" y="5138928"/>
            <a:ext cx="64465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Delete the blez line and hit the ball from the side; then restore it</a:t>
            </a:r>
            <a:endParaRPr lang="en-US" sz="2100" dirty="0"/>
          </a:p>
        </p:txBody>
      </p:sp>
      <p:sp>
        <p:nvSpPr>
          <p:cNvPr id="13" name="Shape 11"/>
          <p:cNvSpPr/>
          <p:nvPr/>
        </p:nvSpPr>
        <p:spPr>
          <a:xfrm>
            <a:off x="8092440" y="1463040"/>
            <a:ext cx="3550615" cy="731520"/>
          </a:xfrm>
          <a:prstGeom prst="roundRect">
            <a:avLst>
              <a:gd name="adj" fmla="val 100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321040" y="1463040"/>
            <a:ext cx="3093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6  |  about 8 min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8092440" y="2377440"/>
            <a:ext cx="3550615" cy="3840480"/>
          </a:xfrm>
          <a:prstGeom prst="roundRect">
            <a:avLst>
              <a:gd name="adj" fmla="val 2060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0" y="2468880"/>
            <a:ext cx="3093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result</a:t>
            </a:r>
            <a:endParaRPr lang="en-US" sz="1400" dirty="0"/>
          </a:p>
        </p:txBody>
      </p:sp>
      <p:pic>
        <p:nvPicPr>
          <p:cNvPr id="17" name="Image 0" descr="With step 4 the paddle returns the ball; without blez the ball can jitter inside the paddle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21040" y="2834640"/>
            <a:ext cx="3093415" cy="1933385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8321040" y="4859465"/>
            <a:ext cx="3093415" cy="12487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step 4 the paddle returns the ball; without blez the ball can jitter inside the paddle.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2.5: scoring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708660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662940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--- score: a bar 4 pixels long per point, at most 312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score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t1, 0(t0)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slli a2, t1, 2   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width = score * 4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t2, 312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ble  a2, t2, 1f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mv   a2, t2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1:  li   a0, 4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a1, 4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a3, 6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a4, GREEN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prg32_gfx_rect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7863840" y="1417320"/>
            <a:ext cx="3824935" cy="2424875"/>
          </a:xfrm>
          <a:prstGeom prst="rect">
            <a:avLst/>
          </a:prstGeom>
          <a:solidFill>
            <a:srgbClr val="2E4A62"/>
          </a:solidFill>
          <a:ln w="12700">
            <a:solidFill>
              <a:srgbClr val="2E4A62"/>
            </a:solidFill>
            <a:prstDash val="solid"/>
          </a:ln>
        </p:spPr>
      </p:sp>
      <p:pic>
        <p:nvPicPr>
          <p:cNvPr id="6" name="Image 0" descr="New state (score), new rule (+1 inside the guard), new picture: a bar score x 4 wide, using slli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09560" y="1463040"/>
            <a:ext cx="3733495" cy="2333435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909560" y="3887915"/>
            <a:ext cx="37334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Screenshot: this step, built and run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7909560" y="4207955"/>
            <a:ext cx="3733495" cy="2009965"/>
          </a:xfrm>
          <a:prstGeom prst="roundRect">
            <a:avLst>
              <a:gd name="adj" fmla="val 3639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092440" y="4317683"/>
            <a:ext cx="3367735" cy="17905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state (score), new rule (+1 inside the guard), new picture: a bar score x 4 wide, using slli.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37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2.6: sound effects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708660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662940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a0, 0       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channel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a1, 0       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instrument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a2, 72      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MIDI note 72 = C5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a3, 255     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volume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a4, 60      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milliseconds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prg32_audio_note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 registers are dead after this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call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7863840" y="1417320"/>
            <a:ext cx="3824935" cy="2424875"/>
          </a:xfrm>
          <a:prstGeom prst="rect">
            <a:avLst/>
          </a:prstGeom>
          <a:solidFill>
            <a:srgbClr val="2E4A62"/>
          </a:solidFill>
          <a:ln w="12700">
            <a:solidFill>
              <a:srgbClr val="2E4A62"/>
            </a:solidFill>
            <a:prstDash val="solid"/>
          </a:ln>
        </p:spPr>
      </p:sp>
      <p:pic>
        <p:nvPicPr>
          <p:cNvPr id="6" name="Image 0" descr="prg32_audio_note(channel, instrument, MIDI note, volume, ms). After the call the t registers are dead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09560" y="1463040"/>
            <a:ext cx="3733495" cy="2333435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909560" y="3887915"/>
            <a:ext cx="37334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Screenshot: this step, built and run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7909560" y="4207955"/>
            <a:ext cx="3733495" cy="2009965"/>
          </a:xfrm>
          <a:prstGeom prst="roundRect">
            <a:avLst>
              <a:gd name="adj" fmla="val 3639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092440" y="4317683"/>
            <a:ext cx="3367735" cy="17905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prg32_audio_note(channel, instrument, MIDI note, volume, ms). After the call the t registers are dead.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38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Try scoring and sound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1234440" y="1463040"/>
            <a:ext cx="6537960" cy="470154"/>
          </a:xfrm>
          <a:prstGeom prst="roundRect">
            <a:avLst>
              <a:gd name="adj" fmla="val 15559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417320" y="1572768"/>
            <a:ext cx="61722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./run.sh 2 5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7066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1234440" y="2688336"/>
            <a:ext cx="6537960" cy="470154"/>
          </a:xfrm>
          <a:prstGeom prst="roundRect">
            <a:avLst>
              <a:gd name="adj" fmla="val 15559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417320" y="2798064"/>
            <a:ext cx="61722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./run.sh 2 6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931920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3913632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note 72 to 84, then to 60</a:t>
            </a:r>
            <a:endParaRPr lang="en-US" sz="21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15721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234440" y="5138928"/>
            <a:ext cx="64465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the bar grow 8 pixels per point: which instruction changes?</a:t>
            </a:r>
            <a:endParaRPr lang="en-US" sz="2100" dirty="0"/>
          </a:p>
        </p:txBody>
      </p:sp>
      <p:sp>
        <p:nvSpPr>
          <p:cNvPr id="13" name="Shape 11"/>
          <p:cNvSpPr/>
          <p:nvPr/>
        </p:nvSpPr>
        <p:spPr>
          <a:xfrm>
            <a:off x="8092440" y="1463040"/>
            <a:ext cx="3550615" cy="731520"/>
          </a:xfrm>
          <a:prstGeom prst="roundRect">
            <a:avLst>
              <a:gd name="adj" fmla="val 100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321040" y="1463040"/>
            <a:ext cx="3093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7  |  about 10 min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8092440" y="2377440"/>
            <a:ext cx="3550615" cy="3840480"/>
          </a:xfrm>
          <a:prstGeom prst="roundRect">
            <a:avLst>
              <a:gd name="adj" fmla="val 2060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0" y="2468880"/>
            <a:ext cx="3093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result</a:t>
            </a:r>
            <a:endParaRPr lang="en-US" sz="1400" dirty="0"/>
          </a:p>
        </p:txBody>
      </p:sp>
      <p:pic>
        <p:nvPicPr>
          <p:cNvPr id="17" name="Image 0" descr="A growing green bar and a note at every bounce. slli a2, t1, 3 multiplies by 8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21040" y="2834640"/>
            <a:ext cx="3093415" cy="1933385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8321040" y="4859465"/>
            <a:ext cx="3093415" cy="12487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growing green bar and a note at every bounce. slli a2, t1, 3 multiplies by 8.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39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6FCF9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Part 3: from assembly to C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Presentation, 20 minutes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40</a:t>
            </a:fld>
            <a:endParaRPr 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combine C and assembly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9164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for structure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246888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Variables, arrays, loops in a few lines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Readable by others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compiler chooses registers and stack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Almost all of the game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6278728" y="146304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53048" y="169164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Assembly where it matters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6598768" y="246888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control of what executes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Small, critical routines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to special instructions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Understanding what the compiler does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41</a:t>
            </a:fld>
            <a:endParaRPr lang="en-US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same rule, two languages</a:t>
            </a:r>
            <a:endParaRPr lang="en-US" sz="3000" dirty="0"/>
          </a:p>
        </p:txBody>
      </p:sp>
      <p:graphicFrame>
        <p:nvGraphicFramePr>
          <p:cNvPr id="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4415" cy="914400"/>
        </p:xfrm>
        <a:graphic>
          <a:graphicData uri="http://schemas.openxmlformats.org/drawingml/2006/table">
            <a:tbl>
              <a:tblPr/>
              <a:tblGrid>
                <a:gridCol w="5547208"/>
                <a:gridCol w="554720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Assembly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input = prg32_input_read();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call prg32_input_read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if (input &amp; PRG32_BTN_LEFT)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andi t3, a0, 1 / beqz t3, 1f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paddle_x -= 4;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lw / addi -4 / sw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prg32_gfx_rect(x, y, w, h, c);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a0..a4, call prg32_gfx_rect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42</a:t>
            </a:fld>
            <a:endParaRPr lang="en-US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they meet: the calling convention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 function and an assembly routine are the same thing to the processor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46522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446934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Arguments in a0, a1, a2...; result in a0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449117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430829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 pointer (&amp;ball_x) is an address in a register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433011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4414723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callee preserves s0-s11 and sp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41690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1280160" y="539861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 declaration is enough: int ball_step_asm(int *, int *, int);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43</a:t>
            </a:fld>
            <a:endParaRPr lang="en-US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PRG32 runtime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920240"/>
            <a:ext cx="1853123" cy="1737360"/>
          </a:xfrm>
          <a:prstGeom prst="roundRect">
            <a:avLst>
              <a:gd name="adj" fmla="val 4211"/>
            </a:avLst>
          </a:prstGeom>
          <a:solidFill>
            <a:srgbClr val="2E4A62"/>
          </a:solidFill>
          <a:ln w="12700">
            <a:solidFill>
              <a:srgbClr val="2E4A6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58368" y="2103120"/>
            <a:ext cx="163366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cartridge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658368" y="2834640"/>
            <a:ext cx="163366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+ assembly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2474915" y="2633472"/>
            <a:ext cx="310896" cy="310896"/>
          </a:xfrm>
          <a:prstGeom prst="rightArrow">
            <a:avLst/>
          </a:prstGeom>
          <a:solidFill>
            <a:srgbClr val="C9D2D8"/>
          </a:solidFill>
          <a:ln w="12700">
            <a:solidFill>
              <a:srgbClr val="C9D2D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58963" y="1920240"/>
            <a:ext cx="1853123" cy="1737360"/>
          </a:xfrm>
          <a:prstGeom prst="roundRect">
            <a:avLst>
              <a:gd name="adj" fmla="val 4211"/>
            </a:avLst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968691" y="2103120"/>
            <a:ext cx="163366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Stubs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2968691" y="2834640"/>
            <a:ext cx="163366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139 entries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785238" y="2633472"/>
            <a:ext cx="310896" cy="310896"/>
          </a:xfrm>
          <a:prstGeom prst="rightArrow">
            <a:avLst/>
          </a:prstGeom>
          <a:solidFill>
            <a:srgbClr val="C9D2D8"/>
          </a:solidFill>
          <a:ln w="12700">
            <a:solidFill>
              <a:srgbClr val="C9D2D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69286" y="1920240"/>
            <a:ext cx="1853123" cy="1737360"/>
          </a:xfrm>
          <a:prstGeom prst="roundRect">
            <a:avLst>
              <a:gd name="adj" fmla="val 4211"/>
            </a:avLst>
          </a:prstGeom>
          <a:solidFill>
            <a:srgbClr val="6B4FA0"/>
          </a:solidFill>
          <a:ln w="12700">
            <a:solidFill>
              <a:srgbClr val="6B4FA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279014" y="2103120"/>
            <a:ext cx="163366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ABI table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5279014" y="2834640"/>
            <a:ext cx="163366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 1.6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7095561" y="2633472"/>
            <a:ext cx="310896" cy="310896"/>
          </a:xfrm>
          <a:prstGeom prst="rightArrow">
            <a:avLst/>
          </a:prstGeom>
          <a:solidFill>
            <a:srgbClr val="C9D2D8"/>
          </a:solidFill>
          <a:ln w="12700">
            <a:solidFill>
              <a:srgbClr val="C9D2D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479609" y="1920240"/>
            <a:ext cx="1853123" cy="1737360"/>
          </a:xfrm>
          <a:prstGeom prst="roundRect">
            <a:avLst>
              <a:gd name="adj" fmla="val 4211"/>
            </a:avLst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589337" y="2103120"/>
            <a:ext cx="163366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Firmware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7589337" y="2834640"/>
            <a:ext cx="163366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display, input, audio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9405884" y="2633472"/>
            <a:ext cx="310896" cy="310896"/>
          </a:xfrm>
          <a:prstGeom prst="rightArrow">
            <a:avLst/>
          </a:prstGeom>
          <a:solidFill>
            <a:srgbClr val="C9D2D8"/>
          </a:solidFill>
          <a:ln w="12700">
            <a:solidFill>
              <a:srgbClr val="C9D2D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789932" y="1920240"/>
            <a:ext cx="1853123" cy="1737360"/>
          </a:xfrm>
          <a:prstGeom prst="roundRect">
            <a:avLst>
              <a:gd name="adj" fmla="val 4211"/>
            </a:avLst>
          </a:prstGeom>
          <a:solidFill>
            <a:srgbClr val="2F7D4F"/>
          </a:solidFill>
          <a:ln w="12700">
            <a:solidFill>
              <a:srgbClr val="2F7D4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899660" y="2103120"/>
            <a:ext cx="163366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ESP32-C6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9899660" y="2834640"/>
            <a:ext cx="163366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RISC-V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548640" y="4114800"/>
            <a:ext cx="11094415" cy="2103120"/>
          </a:xfrm>
          <a:prstGeom prst="roundRect">
            <a:avLst>
              <a:gd name="adj" fmla="val 347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68680" y="4251960"/>
            <a:ext cx="1045433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cartridge does not know the firmware's addresses: it calls entry number N of a table. That is why the same file runs on the board, in QEMU and in PRG32-QT.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44</a:t>
            </a:fld>
            <a:endParaRPr lang="en-US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Inside a stub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740664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69494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prg32_gfx_rect:                # one of 139 generated stubs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__prg32_abi       # where the table pointer was saved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t0, 0(t0)             # t0 = address of the ABI table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t1, 104(t0)           # t1 = table entry for this function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jr   t1                    # jump there; arguments untouched in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a0..a7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prg32_entry_update:            # what the console really calls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-16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ra, 12(sp)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__prg32_abi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a0, 0(t0)             # the console passes the table in a0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pong_update           # your function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ra, 12(sp)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16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8229600" y="1463040"/>
            <a:ext cx="341345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394192" y="162763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915400" y="1600200"/>
            <a:ext cx="254477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Generated by the cartridge builder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229600" y="3115056"/>
            <a:ext cx="341345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394192" y="32796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915400" y="3252216"/>
            <a:ext cx="254477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few instructions per function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229600" y="4767072"/>
            <a:ext cx="341345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94192" y="493166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915400" y="4904232"/>
            <a:ext cx="254477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update is called through a trampoline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45</a:t>
            </a:fld>
            <a:endParaRPr lang="en-US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Modular game architecture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541004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9164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325880" y="1645920"/>
            <a:ext cx="44042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423160"/>
            <a:ext cx="486140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few named variables: all the game remembers.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6233008" y="1463040"/>
            <a:ext cx="541004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61608" y="169164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7010248" y="1645920"/>
            <a:ext cx="44042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6507328" y="2423160"/>
            <a:ext cx="486140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update: small functions, one responsibility each.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548640" y="3977640"/>
            <a:ext cx="541004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77240" y="420624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325880" y="4160520"/>
            <a:ext cx="44042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Rendering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4937760"/>
            <a:ext cx="486140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draw: reads state, never changes it.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6233008" y="3977640"/>
            <a:ext cx="541004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61608" y="420624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7010248" y="4160520"/>
            <a:ext cx="44042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 modules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6507328" y="4937760"/>
            <a:ext cx="486140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Assembly routines behind a C declaration.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46</a:t>
            </a:fld>
            <a:endParaRPr lang="en-US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Cartridge packaging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1065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python3 -m prg32 cartridge build SOURCE --portable --entry-prefix ...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1119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69290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cartridge summary: sizes, ABI, import model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410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922776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esp32c6 upload-and-run --url ...: to the kit over Wi-Fi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7093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5152644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Optional: icon, credits and publication on the Cartridge Store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47</a:t>
            </a:fld>
            <a:endParaRPr lang="en-US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6FCF9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Hands-on 3: C and assembly together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minutes: migrate, integrate, complete, exchange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48</a:t>
            </a:fld>
            <a:endParaRPr lang="en-US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3.1: the assembly module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708660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662940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__asm__(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   .text\n"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   .globl ball_step_asm\n"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"ball_step_asm:\n"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   lw   t0, 0(a0)\n"        </a:t>
            </a:r>
            <a:pPr indent="0" marL="0">
              <a:buNone/>
            </a:pPr>
            <a:r>
              <a:rPr lang="en-US" sz="10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/* t0 = *position      (a0 = 1st argument) */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   lw   t1, 0(a1)\n"        </a:t>
            </a:r>
            <a:pPr indent="0" marL="0">
              <a:buNone/>
            </a:pPr>
            <a:r>
              <a:rPr lang="en-US" sz="10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/* t1 = *velocity      (a1 = 2nd argument) */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   add  t0, t0, t1\n"       </a:t>
            </a:r>
            <a:pPr indent="0" marL="0">
              <a:buNone/>
            </a:pPr>
            <a:r>
              <a:rPr lang="en-US" sz="10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/* position += velocity                    */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   li   t2, 0\n"            </a:t>
            </a:r>
            <a:pPr indent="0" marL="0">
              <a:buNone/>
            </a:pPr>
            <a:r>
              <a:rPr lang="en-US" sz="10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/* t2 = bounced? no                        */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   bgez t0, 1f\n"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   li   t0, 0\n"            </a:t>
            </a:r>
            <a:pPr indent="0" marL="0">
              <a:buNone/>
            </a:pPr>
            <a:r>
              <a:rPr lang="en-US" sz="10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/* below 0: clamp...                       */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   neg  t1, t1\n"           </a:t>
            </a:r>
            <a:pPr indent="0" marL="0">
              <a:buNone/>
            </a:pPr>
            <a:r>
              <a:rPr lang="en-US" sz="10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/* ...and reverse                          */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   li   t2, 1\n"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"1:  ble  t0, a2, 2f\n"       </a:t>
            </a:r>
            <a:pPr indent="0" marL="0">
              <a:buNone/>
            </a:pPr>
            <a:r>
              <a:rPr lang="en-US" sz="10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/* a2 = max            (3rd argument)      */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   mv   t0, a2\n"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   neg  t1, t1\n"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   li   t2, 1\n"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"2:  sw   t0, 0(a0)\n"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   sw   t1, 0(a1)\n"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   mv   a0, t2\n"           </a:t>
            </a:r>
            <a:pPr indent="0" marL="0">
              <a:buNone/>
            </a:pPr>
            <a:r>
              <a:rPr lang="en-US" sz="10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/* return value goes back in a0            */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7863840" y="1417320"/>
            <a:ext cx="3824935" cy="2424875"/>
          </a:xfrm>
          <a:prstGeom prst="rect">
            <a:avLst/>
          </a:prstGeom>
          <a:solidFill>
            <a:srgbClr val="2E4A62"/>
          </a:solidFill>
          <a:ln w="12700">
            <a:solidFill>
              <a:srgbClr val="2E4A62"/>
            </a:solidFill>
            <a:prstDash val="solid"/>
          </a:ln>
        </p:spPr>
      </p:sp>
      <p:pic>
        <p:nvPicPr>
          <p:cNvPr id="6" name="Image 0" descr="The ball physics stays in assembly: a0 and a1 are two addresses, a2 the limit, the result returns in a0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09560" y="1463040"/>
            <a:ext cx="3733495" cy="2333435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909560" y="3887915"/>
            <a:ext cx="37334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Screenshot: this step, built and run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7909560" y="4207955"/>
            <a:ext cx="3733495" cy="2009965"/>
          </a:xfrm>
          <a:prstGeom prst="roundRect">
            <a:avLst>
              <a:gd name="adj" fmla="val 3639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092440" y="4317683"/>
            <a:ext cx="3367735" cy="17905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ball physics stays in assembly: a0 and a1 are two addresses, a2 the limit, the result returns in a0.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49</a:t>
            </a:fld>
            <a:endParaRPr lang="en-US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3.1: C calls assembly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740664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69494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void mixed_update(void) {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uint32_t input = prg32_input_read();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(input &amp; PRG32_BTN_LEFT)  { paddle_x -= 4; }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(input &amp; PRG32_BTN_RIGHT) { paddle_x += 4; }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(paddle_x &lt; 0) { paddle_x = 0; }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(paddle_x &gt; PRG32_GAME_W - PADDLE_W) { paddle_x =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PRG32_GAME_W - PADDLE_W; }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/* C calls assembly: pass two addresses and a limit */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ball_step_asm(&amp;ball_x, &amp;ball_dx, PRG32_GAME_W - BALL_SIZE);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ball_step_asm(&amp;ball_y, &amp;ball_dy, 100000);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/* no floor: the ball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can be lost */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(ball_y &gt;= PRG32_GAME_H) {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ball_x = 156;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ball_y = 120;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ball_dy = -2;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8229600" y="1463040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394192" y="162763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915400" y="1600200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paddle: four lines of C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229600" y="2702052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394192" y="286664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915400" y="2839212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&amp;ball_x: the variable's address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229600" y="3941064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94192" y="410565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915400" y="4078224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calls to the same routine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8229600" y="5180076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94192" y="534466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915400" y="5317236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rest of the game is C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50</a:t>
            </a:fld>
            <a:endParaRPr lang="en-US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Migrate and integrate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1234440" y="1463040"/>
            <a:ext cx="6537960" cy="470154"/>
          </a:xfrm>
          <a:prstGeom prst="roundRect">
            <a:avLst>
              <a:gd name="adj" fmla="val 15559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417320" y="1572768"/>
            <a:ext cx="61722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./run.sh 3 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7066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2688336"/>
            <a:ext cx="64465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part3/step1_c_calls_asm.c with part2/step4_collision.S: same game</a:t>
            </a:r>
            <a:endParaRPr lang="en-US" sz="21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931920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234440" y="3913632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 the lines of both files</a:t>
            </a:r>
            <a:endParaRPr lang="en-US" sz="21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515721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234440" y="5138928"/>
            <a:ext cx="64465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assembly module change 'neg t1, t1' to 'li t1, 0' at the first edge: what happens?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8092440" y="1463040"/>
            <a:ext cx="3550615" cy="731520"/>
          </a:xfrm>
          <a:prstGeom prst="roundRect">
            <a:avLst>
              <a:gd name="adj" fmla="val 100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321040" y="1463040"/>
            <a:ext cx="3093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8  |  about 10 min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8092440" y="2377440"/>
            <a:ext cx="3550615" cy="3840480"/>
          </a:xfrm>
          <a:prstGeom prst="roundRect">
            <a:avLst>
              <a:gd name="adj" fmla="val 2060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21040" y="2468880"/>
            <a:ext cx="3093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result</a:t>
            </a:r>
            <a:endParaRPr lang="en-US" sz="1400" dirty="0"/>
          </a:p>
        </p:txBody>
      </p:sp>
      <p:pic>
        <p:nvPicPr>
          <p:cNvPr id="16" name="Image 0" descr="The same Pong, now in C with physics in assembly. With li t1, 0 the ball stops moving sideways at the left wall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21040" y="2834640"/>
            <a:ext cx="3093415" cy="1933385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8321040" y="4859465"/>
            <a:ext cx="3093415" cy="12487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Pong, now in C with physics in assembly. With li t1, 0 the ball stops moving sideways at the left wall.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51</a:t>
            </a:fld>
            <a:endParaRPr lang="en-US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3.2: bricks, in C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708660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662940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/* in C a loop over an array is three lines */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(int i = 0; i &lt; BRICKS; i++) {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(bricks[i] &amp;&amp;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prg32_sprite_hitbox(ball_x, ball_y, BALL_SIZE,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BALL_SIZE,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brick_x(i), brick_y(i), 36, 10))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    {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bricks[i] = 0;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ball_dy = -ball_dy;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break;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7863840" y="1417320"/>
            <a:ext cx="3824935" cy="2424875"/>
          </a:xfrm>
          <a:prstGeom prst="rect">
            <a:avLst/>
          </a:prstGeom>
          <a:solidFill>
            <a:srgbClr val="2E4A62"/>
          </a:solidFill>
          <a:ln w="12700">
            <a:solidFill>
              <a:srgbClr val="2E4A62"/>
            </a:solidFill>
            <a:prstDash val="solid"/>
          </a:ln>
        </p:spPr>
      </p:sp>
      <p:pic>
        <p:nvPicPr>
          <p:cNvPr id="6" name="Image 0" descr="An array of 16 bytes and a loop: what takes thirty instructions in assembly is ten lines of C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09560" y="1463040"/>
            <a:ext cx="3733495" cy="2333435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909560" y="3887915"/>
            <a:ext cx="37334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Screenshot: this step, built and run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7909560" y="4207955"/>
            <a:ext cx="3733495" cy="2009965"/>
          </a:xfrm>
          <a:prstGeom prst="roundRect">
            <a:avLst>
              <a:gd name="adj" fmla="val 3639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092440" y="4317683"/>
            <a:ext cx="3367735" cy="17905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array of 16 bytes and a loop: what takes thirty instructions in assembly is ten lines of C.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52</a:t>
            </a:fld>
            <a:endParaRPr lang="en-US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 the complete cartridge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1234440" y="1463040"/>
            <a:ext cx="6537960" cy="470154"/>
          </a:xfrm>
          <a:prstGeom prst="roundRect">
            <a:avLst>
              <a:gd name="adj" fmla="val 15559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417320" y="1572768"/>
            <a:ext cx="61722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./run.sh 3 2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7066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1234440" y="2688336"/>
            <a:ext cx="6537960" cy="470154"/>
          </a:xfrm>
          <a:prstGeom prst="roundRect">
            <a:avLst>
              <a:gd name="adj" fmla="val 15559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417320" y="2798064"/>
            <a:ext cx="61722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./run.sh 3 3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931920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3913632"/>
            <a:ext cx="64465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code_size: how much did the cartridge grow since step 3.1?</a:t>
            </a:r>
            <a:endParaRPr lang="en-US" sz="21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15721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234440" y="5138928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 third row of bricks: BRICKS 24</a:t>
            </a:r>
            <a:endParaRPr lang="en-US" sz="2100" dirty="0"/>
          </a:p>
        </p:txBody>
      </p:sp>
      <p:sp>
        <p:nvSpPr>
          <p:cNvPr id="13" name="Shape 11"/>
          <p:cNvSpPr/>
          <p:nvPr/>
        </p:nvSpPr>
        <p:spPr>
          <a:xfrm>
            <a:off x="8092440" y="1463040"/>
            <a:ext cx="3550615" cy="731520"/>
          </a:xfrm>
          <a:prstGeom prst="roundRect">
            <a:avLst>
              <a:gd name="adj" fmla="val 100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321040" y="1463040"/>
            <a:ext cx="3093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9  |  about 10 min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8092440" y="2377440"/>
            <a:ext cx="3550615" cy="3840480"/>
          </a:xfrm>
          <a:prstGeom prst="roundRect">
            <a:avLst>
              <a:gd name="adj" fmla="val 2060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0" y="2468880"/>
            <a:ext cx="3093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result</a:t>
            </a:r>
            <a:endParaRPr lang="en-US" sz="1400" dirty="0"/>
          </a:p>
        </p:txBody>
      </p:sp>
      <p:pic>
        <p:nvPicPr>
          <p:cNvPr id="17" name="Image 0" descr="A complete Breakout: score, sound, win. About 3.3 KiB against 2.9 for step 3.1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21040" y="2834640"/>
            <a:ext cx="3093415" cy="1933385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8321040" y="4859465"/>
            <a:ext cx="3093415" cy="12487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complete Breakout: score, sound, win. About 3.3 KiB against 2.9 for step 3.1.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53</a:t>
            </a:fld>
            <a:endParaRPr lang="en-US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 and exchange games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1463040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Customise: colours, speeds, paddle width</a:t>
            </a:r>
            <a:endParaRPr lang="en-US" sz="2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066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2688336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cartridge is build/part3-step3.prg32</a:t>
            </a:r>
            <a:endParaRPr lang="en-US" sz="21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31920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3913632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 your neighbours' kit Wi-Fi</a:t>
            </a:r>
            <a:endParaRPr lang="en-US" sz="21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5721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1234440" y="5138928"/>
            <a:ext cx="6537960" cy="934974"/>
          </a:xfrm>
          <a:prstGeom prst="roundRect">
            <a:avLst>
              <a:gd name="adj" fmla="val 7824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417320" y="5248656"/>
            <a:ext cx="61722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esp32c6 upload-and-run build/part3-step3.prg32 --url http://192.168.4.1 --slot cart1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092440" y="1463040"/>
            <a:ext cx="3550615" cy="1143000"/>
          </a:xfrm>
          <a:prstGeom prst="roundRect">
            <a:avLst>
              <a:gd name="adj" fmla="val 64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321040" y="1600200"/>
            <a:ext cx="3093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10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8321040" y="2084832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10 min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8092440" y="2788920"/>
            <a:ext cx="3550615" cy="3429000"/>
          </a:xfrm>
          <a:prstGeom prst="roundRect">
            <a:avLst>
              <a:gd name="adj" fmla="val 213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0" y="2880360"/>
            <a:ext cx="3093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result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8321040" y="3246120"/>
            <a:ext cx="3093415" cy="2862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game runs on another pair's kit, in slot cart1, next to theirs.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54</a:t>
            </a:fld>
            <a:endParaRPr lang="en-US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6FCF9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07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to go from here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learning paths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55</a:t>
            </a:fld>
            <a:endParaRPr lang="en-US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paths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541004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9164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325880" y="1645920"/>
            <a:ext cx="44042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textbook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423160"/>
            <a:ext cx="486140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Playing with RISC-V: three tracks (assembly, C, blocks) with step-by-step labs.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6233008" y="1463040"/>
            <a:ext cx="541004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61608" y="169164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7010248" y="1645920"/>
            <a:ext cx="44042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debugger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6507328" y="2423160"/>
            <a:ext cx="486140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PRG32-QT stops the processor between two instructions and shows every register.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548640" y="3977640"/>
            <a:ext cx="541004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77240" y="420624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325880" y="4160520"/>
            <a:ext cx="44042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Publishing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4937760"/>
            <a:ext cx="486140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Cartridge Store: a reviewed catalogue, leaderboards, multiplayer.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6233008" y="3977640"/>
            <a:ext cx="541004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61608" y="420624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7010248" y="4160520"/>
            <a:ext cx="44042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Teaching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6507328" y="4937760"/>
            <a:ext cx="486140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Construction Kit brings the same game to children from age 7, with blocks.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56</a:t>
            </a:fld>
            <a:endParaRPr lang="en-US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you take home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wrote and modified real RISC-V programs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46522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446934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can read registers, branches, calls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449117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430829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connected code to screen, buttons and audio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433011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4414723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made C and assembly cooperate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41690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1280160" y="539861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built and exchanged a cartridge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57</a:t>
            </a:fld>
            <a:endParaRPr lang="en-US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Next steps and reading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9164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the next session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246888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step is in workshops/Maker_Faire of the textbook repository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Redo the steps at home in QEMU or PRG32-QT: no kit needed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your own PRG32: ESP32-C6, ILI9341 display, joystick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 PRG32 to your school or makerspace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6278728" y="146304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53048" y="169164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and sources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6598768" y="246888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PRG32: github.com/riscv-prg32/PRG32</a:t>
            </a:r>
            <a:endParaRPr lang="en-US" sz="18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Cartridge Store: store.prg32.uniparthenope.it</a:t>
            </a:r>
            <a:endParaRPr lang="en-US" sz="18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PRG32-QT, Construction Kit: github.com/riscv-prg32</a:t>
            </a:r>
            <a:endParaRPr lang="en-US" sz="18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Playing with RISC-V: github.com/riscv-prg32/Playing-with-RISC-V_PRG32_textbook</a:t>
            </a:r>
            <a:endParaRPr lang="en-US" sz="18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HPSC SmartLab, University of Naples "Parthenope"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58</Slides>
  <Notes>58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58</vt:i4>
      </vt:variant>
    </vt:vector>
  </HeadingPairs>
  <TitlesOfParts>
    <vt:vector size="6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One When Future Tech Is Tough: Mastering Retro Games with PRG32 - lab</dc:title>
  <dc:subject>PRG32 - Retro games on RISC-V  |  Maker Faire</dc:subject>
  <dc:creator>Playing with RISC-V (PRG32 textbook)</dc:creator>
  <cp:lastModifiedBy>Playing with RISC-V (PRG32 textbook)</cp:lastModifiedBy>
  <cp:revision>1</cp:revision>
  <dcterms:created xsi:type="dcterms:W3CDTF">2026-10-05T15:59:15Z</dcterms:created>
  <dcterms:modified xsi:type="dcterms:W3CDTF">2026-10-05T15:59:15Z</dcterms:modified>
</cp:coreProperties>
</file>