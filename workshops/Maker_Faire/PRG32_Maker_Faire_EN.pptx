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ee281e4-cd4f-89b1-ded9-d726df78e508}">
          <p14:sldIdLst>
            <p14:sldId id="256"/>
            <p14:sldId id="257"/>
            <p14:sldId id="258"/>
          </p14:sldIdLst>
        </p14:section>
        <p14:section name="Part 1: welcome to the PRG32 universe" id="{8186c178-e606-1739-8ef6-4985aadd4ef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Hands-on 1: your first cartridge" id="{baa8f345-d1e8-0fb1-8d80-075a55133d7a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art 2: programming games in assembly" id="{edf90e14-68b6-48c1-6d30-66173d182cba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Hands-on 2: a game in assembly" id="{13dc11c6-b174-9b0e-9bd7-79584386b401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Part 3: from assembly to C" id="{bedea58c-f4ce-d220-dc1e-86cc140bebe1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Hands-on 3: C and assembly together" id="{ec1d18da-643a-07d7-132f-6876dde659bd}">
          <p14:sldIdLst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Where to go from here" id="{0577385d-7f87-1117-65f2-5e850774c315}">
          <p14:sldIdLst>
            <p14:sldId id="310"/>
            <p14:sldId id="311"/>
            <p14:sldId id="312"/>
          </p14:sldIdLst>
        </p14:section>
        <p14:section name="Closing" id="{977dadec-1747-c1a3-0278-f338aefc5f09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for 15-30 participants in pairs: 30 PRG32 kits, 15 preconfigured laptops (PRG32 checkout, ESP-IDF active, PRG32_HOME set, this folder copied). Each kit runs its own Wi-Fi network; set PRG32_URL=http://192.168.4.1 on the laptop joined to it. Every step is a complete file started with ./run.sh PART STEP. All screenshots in the slides come from actually building and running that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150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of magnitude as cited in the textbook (HiPEAC 2026, EuroHPC JU). Keyword: digital sovereignty.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Compute, move, decide: there is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I-type: imm=1, rs1=x6, funct3=0, rd=x6, opcode=0x13.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workshops/Maker_Faire/part1/step2_text.S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workshops/Maker_Faire/part1/expected/step2_text.png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workshops/Maker_Faire/part1/expected/step3_two_lines.png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workshops/Maker_Faire/part1/step4_sprite_button.S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0x18 = 00011000, 0xff = 11111111: draw the rows on squared paper first.
Screenshot: this step, built and run: workshops/Maker_Faire/part1/expected/step4_sprite_button.png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in the lab material: removing the ra save makes the cartridge loop forever; PRG32-QT reports 'instruction budget exhausted'.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branch tests the opposite condition and jumps over the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andi isolates one bit; beqz skips when it is zero. Never compare with ==: several buttons may be held.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workshops/Maker_Faire/part2/step2_move.S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workshops/Maker_Faire/part2/expected/step2_move.png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workshops/Maker_Faire/part2/step3_ball.S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workshops/Maker_Faire/part2/step4_collision.S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workshops/Maker_Faire/part2/expected/step4_collision.png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workshops/Maker_Faire/part2/step5_score.S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workshops/Maker_Faire/part2/step6_sound.S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workshops/Maker_Faire/part2/expected/step6_sound.png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does not hide the machine: it describes it more comfortably.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 of the code emitted by prg32/cartridge/build_cartridge.py; the offset shown (104) is illustrative: 20 + index * 4.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workshops/Maker_Faire/part3/step1_c_calls_asm.c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cartridge builder takes one source file, so the assembly module is embedded as a top-level asm block in the C file.
Source: workshops/Maker_Faire/part3/step1_c_calls_asm.c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workshops/Maker_Faire/part3/expected/step1_c_calls_asm.png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workshops/Maker_Faire/part3/step2_bricks.c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workshops/Maker_Faire/part3/expected/step3_complete.png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command from the PRG32 folder with the full path to the cartridge, or copy the .prg32 file on a USB stick.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PRG32 - Retro games on RISC-V  |  Maker Faire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FAIRE  |  WORKSHOP  |  2.5 HOURS  |  THREE PARTS OF 20' + 30'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When Future Tech Is Tough: Mastering Retro Games with PRG32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retro game development platform for learning and mastering the European RISC-V processor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students, makers, electronics enthusiasts, hobbyist programmers, educators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Scientific Computing SmartLab - University of Naples "Parthenope"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of the RISC-V instruction set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simple assembly programs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software with graphics, controllers and audio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 and assembly cooperate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 complete retro game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27895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27895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1433535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44917" y="1737360"/>
            <a:ext cx="1433535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44917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424172" y="1737360"/>
            <a:ext cx="2173163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24172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welcome to the PRG32 universe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your first cartridge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programming games in assembly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a game in assembly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from assembly to 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C and assembly together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welcome to the PRG32 universe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20 minutes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retro video games have in common with Europe's future processors?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reward people who know what really happens inside the machine.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RISC-V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architectures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set belongs to a company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processor needs a licence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is decided elsewhere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standard, born at Berkeley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may design a processor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by design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microcontrollers to supercomputers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European open hardware ecosystem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006999"/>
                <a:gridCol w="40874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semiconductor market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700 billion USD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Europe's current share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one tenth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Chips Act target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fifth by 2030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 (EuroHPC): European processors on RISC-V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240 million EUR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PRG32 educational philosophy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making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theory lecture first: build it, then understand why it works.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produces something on screen. If it is wrong, you can see it.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challenges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at a time: every step is a complete program that works.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drives, one reads; swap at every step.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retro console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consoles were simple enough to understand completely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kilobytes, a few colours: constraints force understanding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contains everything: state, input, arithmetic, decisions, time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brings that simplicity back on a modern, open processor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PRG32 hardware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795458"/>
                <a:gridCol w="72989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 RV32IMAC at 160 MHz, 512 KB RAM, Wi-Fi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ILI9341 display (SPI)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x 240, RGB565; games use 320 x 200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and buttons (GPIO)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directions, A, B, Start/Select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(I2S)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MAX98357A; 8-voice mixer, 22,050 Hz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memory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KiB; our games use about 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Memory-mapped hardware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processor, a peripheral is a memory address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buttons = reading a register: each button is one bit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= writing numbers into an area of memory, the framebuffer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PRG32 runtime does those reads and writes for us, behind 139 functions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input arrives as a bit mask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64,000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of framebuffer: one byte per pixel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 or .c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toolchain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laptop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.prg32 file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kit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/ update / draw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runs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firmware stays on the console. Only the cartridge is rebuilt and uploaded: a few seconds per iteration.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cartridge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1022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463040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PRG2</a:t>
            </a:r>
            <a:endParaRPr lang="en-US" sz="1222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22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6304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signature</a:t>
            </a:r>
            <a:endParaRPr lang="en-US" sz="1222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5681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022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56816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 version</a:t>
            </a:r>
            <a:endParaRPr lang="en-US" sz="1222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5681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22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5681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function table it expects</a:t>
            </a:r>
            <a:endParaRPr lang="en-US" sz="1222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5059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022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50592"/>
            <a:ext cx="3291840" cy="429768"/>
          </a:xfrm>
          <a:prstGeom prst="rect">
            <a:avLst/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sizes, address</a:t>
            </a:r>
            <a:endParaRPr lang="en-US" sz="1222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5059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bytes</a:t>
            </a:r>
            <a:endParaRPr lang="en-US" sz="1022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5059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load it and how large it is</a:t>
            </a:r>
            <a:endParaRPr lang="en-US" sz="1222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44368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</a:t>
            </a:r>
            <a:endParaRPr lang="en-US" sz="102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944368"/>
            <a:ext cx="3291840" cy="429768"/>
          </a:xfrm>
          <a:prstGeom prst="rect">
            <a:avLst/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/ update / draw</a:t>
            </a:r>
            <a:endParaRPr lang="en-US" sz="1222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4436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bytes</a:t>
            </a:r>
            <a:endParaRPr lang="en-US" sz="1022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44368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game's entry points</a:t>
            </a:r>
            <a:endParaRPr lang="en-US" sz="1222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38144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+36</a:t>
            </a:r>
            <a:endParaRPr lang="en-US" sz="102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38144"/>
            <a:ext cx="3291840" cy="429768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CRC32</a:t>
            </a:r>
            <a:endParaRPr lang="en-US" sz="1222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3814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22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38144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22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1022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931920"/>
            <a:ext cx="3291840" cy="429768"/>
          </a:xfrm>
          <a:prstGeom prst="rect">
            <a:avLst/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22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93192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</a:t>
            </a:r>
            <a:endParaRPr lang="en-US" sz="1022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menu shows</a:t>
            </a:r>
            <a:endParaRPr lang="en-US" sz="1222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2569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+72</a:t>
            </a:r>
            <a:endParaRPr lang="en-US" sz="1022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425696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 hash, required features</a:t>
            </a:r>
            <a:endParaRPr lang="en-US" sz="1222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42569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bytes</a:t>
            </a:r>
            <a:endParaRPr lang="en-US" sz="1022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42569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incompatible cartridge is refused</a:t>
            </a:r>
            <a:endParaRPr lang="en-US" sz="1222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1947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22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919472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and data</a:t>
            </a:r>
            <a:endParaRPr lang="en-US" sz="1222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91947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KiB</a:t>
            </a:r>
            <a:endParaRPr lang="en-US" sz="1022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91947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instructions: ours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11094415" cy="758952"/>
          </a:xfrm>
          <a:prstGeom prst="roundRect">
            <a:avLst>
              <a:gd name="adj" fmla="val 9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532120"/>
            <a:ext cx="10545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100-byte header. Of those 3 KiB, about 2.5 are the 139 small stubs that reach the console's functions.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language fundamentals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 a0, 5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puts 5 in register a0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t0, x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puts the address of x in t0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t1, 0(t0)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a word from memory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t1, t1, 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t1 + 1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 t1, 0(t0)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 word to memory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 f / ret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f / returns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instruction is a 32-bit number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64792"/>
            <a:ext cx="33203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31..20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320301" cy="1051560"/>
          </a:xfrm>
          <a:prstGeom prst="rect">
            <a:avLst/>
          </a:prstGeom>
          <a:solidFill>
            <a:srgbClr val="2E4A6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32030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332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68941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19..15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68941" y="2148840"/>
            <a:ext cx="1943529" cy="105156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68941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 (t1)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68941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12469" y="1764792"/>
            <a:ext cx="15501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14..12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12469" y="2148840"/>
            <a:ext cx="1550165" cy="1051560"/>
          </a:xfrm>
          <a:prstGeom prst="rect">
            <a:avLst/>
          </a:prstGeom>
          <a:solidFill>
            <a:srgbClr val="6B4F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812469" y="3291840"/>
            <a:ext cx="155016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12469" y="3977640"/>
            <a:ext cx="1550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62635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11..7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62635" y="2148840"/>
            <a:ext cx="1943529" cy="105156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62635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 (t1)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2635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06163" y="1764792"/>
            <a:ext cx="2336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6..0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06163" y="2148840"/>
            <a:ext cx="2336892" cy="105156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06163" y="3291840"/>
            <a:ext cx="23368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0010011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6163" y="3977640"/>
            <a:ext cx="2336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90288"/>
            <a:ext cx="1054577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t1, t1, 1 in its 32-bit form is 0x00130313. RISC-V also has 16-bit compressed forms of the most common instructions.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1: your first cartridge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minutes, in pairs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environment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PRG32 kit and join the laptop to its Wi-Fi network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PRG32_URL=http://192.168.4.1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workshops/Maker_Faire &amp;&amp; ls part1 part2 part3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PRG32 folder run: python3 -m prg32 doctor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folders of steps. doctor reports OK for the ESP-IDF toolchain, the RISC-V compiler, and the partition table.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1.2: text on the screen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hello_world_draw: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function calls others: save 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32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foreground colour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background colour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ree exported labels; draw saves ra, clears the screen and writes a string with five arguments in a0..a4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exported labels; draw saves ra, clears the screen and writes a string with five arguments in a0..a4.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code_size printed by the script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text and its x, y; run again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 |  about 8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7" name="Image 0" descr="Step 1: a black screen. Step 2: HELLO WORLD in cyan. code_size about 2660 by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 black screen. Step 2: HELLO WORLD in cyan. code_size about 2660 bytes.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text and graphics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CYAN to 0xF800 (red) in its .equ line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 RGB565 colour yourself: 5 bits red, 6 green, 5 blue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line of text 24 pixels lower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 |  about 7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wo lines of text; then three, in your colou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of text; then three, in your colours.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1.4: a sprite and a button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 8x8 sprite: one byte per row, one bit per pixel.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152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ship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8 bytes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foreground: cyan...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buttons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BTN_A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...yellow while A is held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a4, BLACK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background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prg32_sprite_draw_8x8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Eight bytes, one bit per pixel. andi isolates the A button's bit: the sprite turns yellow while A is hel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bytes, one bit per pixel. andi isolates the A button's bit: the sprite turns yellow while A is held.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 and display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A: the sprite changes colour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BTN_A (0x10) to 0x20: which button responds now?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the sprite: edit the eight bytes after 'ship:'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 |  about 10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A cyan sprite, yellow while A is held (screenshot). 0x20 is button B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cyan sprite, yellow while A is held (screenshot). 0x20 is button 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programming games in assembly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20 minutes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RISC-V registers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11336"/>
                <a:gridCol w="5084940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a call?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a0 - a7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arguments; a0 also the result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t0 - t6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temporaries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s0 - s11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values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address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save it yourself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pointer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yes; 16-byte aligned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and the calling convention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sp, sp, -16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ra, 12(sp)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a0, a1, a2... in order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return address into ra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Epilogue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 ra, 12(sp)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sp, sp, 16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and loops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is a forward branch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t3, a0, 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beqz t3, 1f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t2, t2, -4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a backward branch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s0, 0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 ...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s0, s0, 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 s0, t0, loop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Sprites and rectangles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prg32_gfx_rect(x, y, w, h, color): five registers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prg32_sprite_draw_8x8(x, y, bits, foreground, background)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prg32_sprite_hitbox: eight arguments, answers whether two rectangles overlap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come from state; sizes are constants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is a bit mask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0000 1000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Timing: the game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state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 frames per second: 33 ms for update plus draw. A speed of 2 means 2 pixels per frame, 60 pixels per second.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Motion: position plus velocity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per axis: position and signed velocity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frame: x = x + dx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 edge: clamp to the edge and flip the sign (neg)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= screen size minus object size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320 - 8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312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2: a game in assembly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minutes: movement, collisions, scoring, sound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2.2: player movement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paddle: move with LEFT / RIGHT, clamp to the screen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paddle_x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1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-PADDLE_SPEED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2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PADDLE_SPEED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bgez t2, 3f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t3, PADDLE_MAX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t3, 4f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Load, modify, store. Two bit tests, then two checks keep the paddle between 0 and 25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modify, store. Two bit tests, then two checks keep the paddle between 0 and 256.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 movement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up to the edge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PADDLE_SPEED from 4 to 12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 |  about 5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7" name="Image 0" descr="The paddle follows the joystick and stops at x = 256 (screenshot: RIGHT for 30 frame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 follows the joystick and stops at x = 256 (screenshot: RIGHT for 30 frames).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2.3: the ball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ball x: add velocity, bounce off the side walls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x + dx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5f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 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the left edge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reverse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li   t5, BALL_MAX_X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t5, 6f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t5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the right edge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sw   t2, 0(t1)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x = x + dx; at each side wall the ball is clamped to the edge and dx is flipped with ne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x + dx; at each side wall the ball is clamped to the edge and dx is flipped with neg.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2.4: collision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paddle collision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a0..a3: the ball rectangle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BALL_SIZE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BALL_SIZE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paddle_x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a4..a7: the paddle rectangle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a5, PADDLE_Y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a6, PADDLE_W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a7, PADDLE_H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prg32_sprite_hitbox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non-zero if they overlap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a0, update_done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ball_dy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blez t1, update_done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guard: bounce only while moving down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t1,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Ball in a0-a3, paddle in a4-a7. blez: bounce only while moving down, so one hit counts on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in a0-a3, paddle in a4-a7. blez: bounce only while moving down, so one hit counts once.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ball and collision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ball alive for five bounces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blez line and hit the ball from the side; then restore it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 |  about 8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7" name="Image 0" descr="With step 4 the paddle returns the ball; without blez the ball can jitter inside the padd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step 4 the paddle returns the ball; without blez the ball can jitter inside the paddle.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2.5: scoring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score: a bar 4 pixels long per point, at most 312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a2, t1, 2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 = score *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312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a2, t2,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t2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New state (score), new rule (+1 inside the guard), new picture: a bar score x 4 wide, using sll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state (score), new rule (+1 inside the guard), new picture: a bar score x 4 wide, using slli.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2.6: sound effects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72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MIDI note 72 = C5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60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registers are dead after this call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rg32_audio_note(channel, instrument, MIDI note, volume, ms). After the call the t registers are dea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prg32_audio_note(channel, instrument, MIDI note, volume, ms). After the call the t registers are dead.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scoring and sound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note 72 to 84, then to 60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bar grow 8 pixels per point: which instruction changes?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 |  about 10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7" name="Image 0" descr="A growing green bar and a note at every bounce. slli a2, t1, 3 multiplies by 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green bar and a note at every bounce. slli a2, t1, 3 multiplies by 8.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3: from assembly to C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20 minutes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combine C and assembly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for structure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arrays, loops in a few lines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others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chooses registers and stack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the game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where it matters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control of what executes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critical routines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special instructions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the compiler does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rule, two languages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 = prg32_input_read();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 prg32_input_read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(input &amp; PRG32_BTN_LEFT)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t3, a0, 1 / beqz t3, 1f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paddle_x -= 4;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/ addi -4 / sw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prg32_gfx_rect(x, y, w, h, c);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a0..a4, call prg32_gfx_rect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they meet: the calling convention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function and an assembly routine are the same thing to the processor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in a0, a1, a2...; result in a0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pointer (&amp;ball_x) is an address in a register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callee preserves s0-s11 and sp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 declaration is enough: int ball_step_asm(int *, int *, int);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PRG32 runtime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cartridge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assembly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entries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table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input, audio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does not know the firmware's addresses: it calls entry number N of a table. That is why the same file runs on the board, in QEMU and in PRG32-QT.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stub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prg32_gfx_rect:                # one of 139 generated stubs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__prg32_abi       # where the table pointer was saved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t0, 0(t0)             # t0 = address of the ABI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104(t0)           # t1 = table entry for this function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t1                    # jump there; arguments untouched in a0..a7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prg32_entry_update:            # what the console really calls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__prg32_abi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   # the console passes the table in a0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pong_update           # your function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the cartridge builder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instructions per function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update is called through a trampoline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game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named variables: all the game remembers.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small functions, one responsibility each.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reads state, never changes it.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modules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routines behind a C declaration.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Cartridge packaging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python3 -m prg32 cartridge build SOURCE --portable --entry-prefix ...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summary: sizes, ABI, import model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esp32c6 upload-and-run --url ...: to the kit over Wi-Fi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icon, credits and publication on the Cartridge Store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3: C and assembly together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minutes: migrate, integrate, complete, exchange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3.1: the assembly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.text\n"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.globl ball_step_asm\n"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"ball_step_asm:\n"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lw   t0, 0(a0)\n"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t0 = *position      (a0 = 1st argument)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lw   t1, 0(a1)\n"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t1 = *velocity      (a1 = 2nd argument)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add  t0, t0, t1\n"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position += velocity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t2, 0\n" 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t2 = bounced? no    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bgez t0, 1f\n"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t0, 0\n" 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below 0: clamp...   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neg  t1, t1\n"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...and reverse      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t2, 1\n"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"1:  ble  t0, a2, 2f\n"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a2 = max            (3rd argument)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mv   t0, a2\n"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neg  t1, t1\n"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t2, 1\n"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"2:  sw   t0, 0(a0)\n"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sw   t1, 0(a1)\n"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mv   a0, t2\n"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return value goes back in a0            */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ball physics stays in assembly: a0 and a1 are two addresses, a2 the limit, the result returns in a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physics stays in assembly: a0 and a1 are two addresses, a2 the limit, the result returns in a0.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3.1: C calls assembly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mixed_update(void)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PRG32_BTN_LEFT)  { paddle_x -= 4;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PRG32_BTN_RIGHT) { paddle_x += 4;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&lt; 0) { paddle_x = 0;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&gt; PRG32_GAME_W - PADDLE_W) { paddle_x = PRG32_GAME_W - PADDLE_W;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 calls assembly: pass two addresses and a limit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ball_step_asm(&amp;ball_x, &amp;ball_dx, PRG32_GAME_W - BALL_SIZE);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ball_step_asm(&amp;ball_y, &amp;ball_dy, 100000);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no floor: the ball can be lost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 &gt;= PRG32_GAME_H)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ball_x = 156;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ball_y = 120;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paddle: four lines of 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&amp;ball_x: the variable's address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calls to the same routine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game is C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 and integrate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3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part3/step1_c_calls_asm.c with part2/step4_collision.S: same game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lines of both files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assembly module change 'neg t1, t1' to 'li t1, 0' at the first edge: what happens?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 |  about 10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he same Pong, now in C with physics in assembly. With li t1, 0 the ball stops moving sideways at the left w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Pong, now in C with physics in assembly. With li t1, 0 the ball stops moving sideways at the left wall.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3.2: bricks, in 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 C a loop over an array is three lines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BRICKS; i++)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(bricks[i] &amp;&amp;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prg32_sprite_hitbox(ball_x, ball_y, BALL_SIZE, BALL_SIZE,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brick_x(i), brick_y(i), 36, 10))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bricks[i]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ball_dy = -ball_dy;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An array of 16 bytes and a loop: what takes thirty instructions in assembly is ten lines of 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16 bytes and a loop: what takes thirty instructions in assembly is ten lines of C.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complete cartridge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3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3 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code_size: how much did the cartridge grow since step 3.1?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row of bricks: BRICKS 24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  |  about 10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7" name="Image 0" descr="A complete Breakout: score, sound, win. About 3.3 KiB against 2.9 for step 3.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Breakout: score, sound, win. About 3.3 KiB against 2.9 for step 3.1.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and exchange games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Customise: colours, speeds, paddle width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cartridge is build/part3-step3.prg32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your neighbours' kit Wi-Fi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5138928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build/part3-step3.prg32 --url http://192.168.4.1 --slot cart1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 runs on another pair's kit, in slot cart1, next to theirs.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from here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learning paths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three tracks (assembly, C, blocks) with step-by-step labs.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stops the processor between two instructions and shows every register.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Store: a reviewed catalogue, leaderboards, multiplayer.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Construction Kit brings the same game to children from age 7, with blocks.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take home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and modified real RISC-V programs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read registers, branches, calls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connected code to screen, buttons and audio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C and assembly cooperate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and exchanged a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in workshops/Maker_Faire of the textbook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the steps at home in QEMU or PRG32-QT: no kit needed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PRG32: ESP32-C6, ILI9341 display, joystick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PRG32 to your school or makerspace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PRG32: github.com/riscv-prg32/PRG32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Store: store.prg32.uniparthenope.it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PRG32-QT, Construction Kit: github.com/riscv-prg32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github.com/riscv-prg32/Playing-with-RISC-V_PRG32_textbook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HPSC SmartLab, University of Naples "Parthenope"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One When Future Tech Is Tough: Mastering Retro Games with PRG32 - lab</dc:title>
  <dc:subject>PRG32 - Retro games on RISC-V  |  Maker Faire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