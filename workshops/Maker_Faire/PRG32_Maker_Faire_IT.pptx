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notesMasterIdLst>
    <p:notesMasterId r:id="rId6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07cf8f7-7e6c-fe6f-3051-4d478a17c5d9}">
          <p14:sldIdLst>
            <p14:sldId id="256"/>
            <p14:sldId id="257"/>
            <p14:sldId id="258"/>
          </p14:sldIdLst>
        </p14:section>
        <p14:section name="Parte 1: benvenuti nell'universo PRG32" id="{92968b93-ac92-c9df-7f2f-490b21d832ef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Pratica 1: la prima cartuccia" id="{d456740d-e396-4a32-50d7-2912bdfe7118}">
          <p14:sldIdLst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Parte 2: programmare giochi in assembly" id="{b4025da5-f268-2b21-7d02-9b2446f0ebfc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Pratica 2: un gioco in assembly" id="{5449aeb9-b91a-9eaf-e175-7a139eae10d6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</p14:sldIdLst>
        </p14:section>
        <p14:section name="Parte 3: dall'assembly al C" id="{168c7b37-9ab3-f88b-a040-9efa16b10cf2}">
          <p14:sldIdLst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</p14:sldIdLst>
        </p14:section>
        <p14:section name="Pratica 3: C e assembly insieme" id="{767d72d3-5fd2-5998-6153-2e9062d31a25}">
          <p14:sldIdLst>
            <p14:sldId id="303"/>
            <p14:sldId id="304"/>
            <p14:sldId id="305"/>
            <p14:sldId id="306"/>
            <p14:sldId id="307"/>
            <p14:sldId id="308"/>
            <p14:sldId id="309"/>
          </p14:sldIdLst>
        </p14:section>
        <p14:section name="Dove andare da qui" id="{b14cee92-55fa-44a5-8331-a8e2b8edabe3}">
          <p14:sldIdLst>
            <p14:sldId id="310"/>
            <p14:sldId id="311"/>
            <p14:sldId id="312"/>
          </p14:sldIdLst>
        </p14:section>
        <p14:section name="Closing" id="{121dad27-a449-a24e-0eb2-e1d92aa80ddb}">
          <p14:sldIdLst>
            <p14:sldId id="3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for 15-30 participants in pairs: 30 PRG32 kits, 15 preconfigured laptops (PRG32 checkout, ESP-IDF active, PRG32_HOME set, this folder copied). Each kit runs its own Wi-Fi network; set PRG32_URL=http://192.168.4.1 on the laptop joined to it. Every step is a complete file started with ./run.sh PART STEP. All screenshots in the slides come from actually building and running that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150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Orders of magnitude as cited in the textbook (HiPEAC 2026, EuroHPC JU). Keyword: digital sovereignty.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Calcolare, spostare, decidere: non c'è altro.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I-type: imm=1, rs1=x6, funct3=0, rd=x6, opcode=0x13.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workshops/Maker_Faire/part1/step2_text.S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Schermata vera: questo passo, compilato ed eseguito: workshops/Maker_Faire/part1/expected/step2_text.png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Schermata vera: questo passo, compilato ed eseguito: workshops/Maker_Faire/part1/expected/step3_two_lines.png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workshops/Maker_Faire/part1/step4_sprite_button.S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0x18 = 00011000, 0xff = 11111111: draw the rows on squared paper first.
Schermata vera: questo passo, compilato ed eseguito: workshops/Maker_Faire/part1/expected/step4_sprite_button.png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 in the lab material: removing the ra save makes the cartridge loop forever; PRG32-QT reports 'instruction budget exhausted'.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salto verifica la condizione opposta e scavalca il corpo.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andi isola un bit; beqz salta se è zero. Mai confrontare con ==: possono essere premuti più pulsanti.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workshops/Maker_Faire/part2/step2_move.S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Schermata vera: questo passo, compilato ed eseguito: workshops/Maker_Faire/part2/expected/step2_move.png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workshops/Maker_Faire/part2/step3_ball.S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workshops/Maker_Faire/part2/step4_collision.S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Schermata vera: questo passo, compilato ed eseguito: workshops/Maker_Faire/part2/expected/step4_collision.png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workshops/Maker_Faire/part2/step5_score.S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workshops/Maker_Faire/part2/step6_sound.S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Schermata vera: questo passo, compilato ed eseguito: workshops/Maker_Faire/part2/expected/step6_sound.png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 non nasconde la macchina: la descrive in modo più comodo.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Shape of the code emitted by prg32/cartridge/build_cartridge.py; the offset shown (104) is illustrative: 20 + index * 4.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workshops/Maker_Faire/part3/step1_c_calls_asm.c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cartridge builder takes one source file, so the assembly module is embedded as a top-level asm block in the C file.
Source: workshops/Maker_Faire/part3/step1_c_calls_asm.c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Schermata vera: questo passo, compilato ed eseguito: workshops/Maker_Faire/part3/expected/step1_c_calls_asm.png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workshops/Maker_Faire/part3/step2_bricks.c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Schermata vera: questo passo, compilato ed eseguito: workshops/Maker_Faire/part3/expected/step3_complete.png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command from the PRG32 folder with the full path to the cartridge, or copy the .prg32 file on a USB stick.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PRG32 - Giochi retrò su RISC-V  |  Maker Faire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 FAIRE  |  WORKSHOP  |  2 ORE E 30  |  TRE PARTI DA 20' + 30'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la tecnologia del futuro si fa dura: padroneggiare i giochi retrò con PRG32</a:t>
            </a:r>
            <a:endParaRPr lang="en-US" sz="3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piattaforma di sviluppo di giochi retrò per imparare e padroneggiare il processore europeo RISC-V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chi: studenti, maker, appassionati di elettronica, programmatori per hobby, docenti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Performance Scientific Computing SmartLab - Università degli Studi di Napoli "Parthenope"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impareremo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Capire i fondamenti del set di istruzioni RISC-V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Scrivere semplici programmi in assembly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Collegare il software a grafica, controller e audio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Capire come C e assembly cooperano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Costruire ed eseguire una cartuccia di gioco completa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433535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1433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27895" y="1737360"/>
            <a:ext cx="2173163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27895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46778" y="1737360"/>
            <a:ext cx="1433535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46778" y="1737360"/>
            <a:ext cx="1433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726034" y="1737360"/>
            <a:ext cx="2173163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26034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944917" y="1737360"/>
            <a:ext cx="1433535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44917" y="1737360"/>
            <a:ext cx="1433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424172" y="1737360"/>
            <a:ext cx="2173163" cy="82296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24172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1: benvenuti nell'universo PRG32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435809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1868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618689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Pratica: la prima cartuccia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322978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05858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05858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2: programmare giochi in assembly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10148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93028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393028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Pratica: un gioco in assembly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097317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80197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280197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3: dall'assembly al C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984486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6736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23A48"/>
          </a:solidFill>
          <a:ln>
            <a:solidFill>
              <a:srgbClr val="B23A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167366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Pratica: C e assembly insieme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1: benvenuti nell'universo PRG32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Presentazione, 20 minuti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 cosa hanno in comune i videogiochi retrò e il futuro dei processori europei?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Entrambi premiano chi sa che cosa succede davvero dentro la macchina.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RISC-V conta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Architetture proprietarie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istruzioni appartengono a un'azienda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costruire un processore serve una licenza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scelte si fanno altrove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standard aperto, nato a Berkeley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Chiunque può progettare un processore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Estendibile per progetto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 microcontrollori ai supercomputer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L'ecosistema europeo dell'hardware aperto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7006999"/>
                <a:gridCol w="408741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Fatto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Mercato mondiale dei semiconduttori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700 miliardi di dollari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Quota attuale dell'Europa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un decimo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Obiettivo dello European Chips Act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quinto entro il 2030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DARE (EuroHPC): processori europei su RISC-V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240 milioni di euro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filosofia didattica di PRG32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Imparare facendo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Niente lezione di teoria prima: si costruisce, poi si capisce perché funziona.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Effetto immediato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istruzione produce qualcosa sullo schermo. Se è sbagliata, si vede.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Sfide incrementali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cosa alla volta: ogni passo è un programma completo che funziona.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coppia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guida, uno legge; ci si scambia a ogni passo.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una console retrò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console a 8 bit erano abbastanza semplici da capirle per intero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Pochi kilobyte, pochi colori: i vincoli obbligano a capire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gioco contiene tutto: stato, ingresso, calcoli, decisioni, tempo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ripropone quella semplicità su un processore moderno e aperto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L'hardware di PRG32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795458"/>
                <a:gridCol w="72989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Caratteristiche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ESP32-C6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RISC-V RV32IMAC a 160 MHz, 512 KB di RAM, Wi-Fi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ILI9341 (SPI)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 x 240, RGB565; il gioco usa 320 x 200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Joystick e pulsanti (GPIO)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direzioni, A, B, Start/Select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(I2S)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MAX98357A; mixer a 8 voci, 22.050 Hz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Memoria per la cartuccia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KiB; i nostri giochi ne usano circa 3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mappato in memoria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il processore, una periferica è un indirizzo di memoria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Leggere i pulsanti = leggere un registro: ogni pulsante è un bit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Disegnare = scrivere numeri in un'area di memoria, il framebuffer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runtime PRG32 fa queste letture e scritture per noi, dietro 139 funzioni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questo l'input arriva come maschera di bit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229600" y="1463040"/>
            <a:ext cx="3413455" cy="4754880"/>
          </a:xfrm>
          <a:prstGeom prst="roundRect">
            <a:avLst>
              <a:gd name="adj" fmla="val 2143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0" y="228600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64,000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429768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di framebuffer: un byte per pixel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flusso di lavoro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Sorgente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 o .c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474915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8963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68691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 RISC-V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968691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 portatile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85238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69286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9014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Cartuccia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279014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.prg32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095561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79609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337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589337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verso il kit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405884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89932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99660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/ update / draw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899660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gioco gira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42519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resta sulla console. Si ricompila e si ricarica solo la cartuccia: pochi secondi a giro.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cartuccia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</a:t>
            </a:r>
            <a:endParaRPr lang="en-US" sz="1022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1463040"/>
            <a:ext cx="3291840" cy="429768"/>
          </a:xfrm>
          <a:prstGeom prst="rect">
            <a:avLst/>
          </a:prstGeom>
          <a:solidFill>
            <a:srgbClr val="2E4A62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PRG2</a:t>
            </a:r>
            <a:endParaRPr lang="en-US" sz="1222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1463040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</a:t>
            </a:r>
            <a:endParaRPr lang="en-US" sz="1022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63040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del formato</a:t>
            </a:r>
            <a:endParaRPr lang="en-US" sz="1222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56816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</a:t>
            </a:r>
            <a:endParaRPr lang="en-US" sz="1022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956816"/>
            <a:ext cx="3291840" cy="429768"/>
          </a:xfrm>
          <a:prstGeom prst="rect">
            <a:avLst/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versione ABI</a:t>
            </a:r>
            <a:endParaRPr lang="en-US" sz="1222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56816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</a:t>
            </a:r>
            <a:endParaRPr lang="en-US" sz="1022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956816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quale tabella di funzioni si aspetta</a:t>
            </a:r>
            <a:endParaRPr lang="en-US" sz="1222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450592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+8</a:t>
            </a:r>
            <a:endParaRPr lang="en-US" sz="1022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450592"/>
            <a:ext cx="3291840" cy="429768"/>
          </a:xfrm>
          <a:prstGeom prst="rect">
            <a:avLst/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dimensioni, indirizzo</a:t>
            </a:r>
            <a:endParaRPr lang="en-US" sz="1222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450592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byte</a:t>
            </a:r>
            <a:endParaRPr lang="en-US" sz="1022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450592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caricare e quanto è grande</a:t>
            </a:r>
            <a:endParaRPr lang="en-US" sz="1222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944368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+24</a:t>
            </a:r>
            <a:endParaRPr lang="en-US" sz="1022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2944368"/>
            <a:ext cx="3291840" cy="429768"/>
          </a:xfrm>
          <a:prstGeom prst="rect">
            <a:avLst/>
          </a:prstGeom>
          <a:solidFill>
            <a:srgbClr val="C7791B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/ update / draw</a:t>
            </a:r>
            <a:endParaRPr lang="en-US" sz="1222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2944368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byte</a:t>
            </a:r>
            <a:endParaRPr lang="en-US" sz="1022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2944368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ingressi del gioco</a:t>
            </a:r>
            <a:endParaRPr lang="en-US" sz="1222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438144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+36</a:t>
            </a:r>
            <a:endParaRPr lang="en-US" sz="1022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3438144"/>
            <a:ext cx="3291840" cy="429768"/>
          </a:xfrm>
          <a:prstGeom prst="rect">
            <a:avLst/>
          </a:prstGeom>
          <a:solidFill>
            <a:srgbClr val="2F7D4F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CRC32</a:t>
            </a:r>
            <a:endParaRPr lang="en-US" sz="1222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3438144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</a:t>
            </a:r>
            <a:endParaRPr lang="en-US" sz="1022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3438144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integrità</a:t>
            </a:r>
            <a:endParaRPr lang="en-US" sz="1222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93192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+40</a:t>
            </a:r>
            <a:endParaRPr lang="en-US" sz="1022" dirty="0"/>
          </a:p>
        </p:txBody>
      </p:sp>
      <p:sp>
        <p:nvSpPr>
          <p:cNvPr id="24" name="Text 22"/>
          <p:cNvSpPr txBox="1"/>
          <p:nvPr/>
        </p:nvSpPr>
        <p:spPr>
          <a:xfrm>
            <a:off x="1508760" y="3931920"/>
            <a:ext cx="3291840" cy="429768"/>
          </a:xfrm>
          <a:prstGeom prst="rect">
            <a:avLst/>
          </a:prstGeom>
          <a:solidFill>
            <a:srgbClr val="B23A48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endParaRPr lang="en-US" sz="1222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3931920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byte</a:t>
            </a:r>
            <a:endParaRPr lang="en-US" sz="1022" dirty="0"/>
          </a:p>
        </p:txBody>
      </p:sp>
      <p:sp>
        <p:nvSpPr>
          <p:cNvPr id="26" name="Text 24"/>
          <p:cNvSpPr txBox="1"/>
          <p:nvPr/>
        </p:nvSpPr>
        <p:spPr>
          <a:xfrm>
            <a:off x="6126480" y="3931920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ciò che compare nel menu</a:t>
            </a:r>
            <a:endParaRPr lang="en-US" sz="1222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425696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+72</a:t>
            </a:r>
            <a:endParaRPr lang="en-US" sz="1022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4425696"/>
            <a:ext cx="3291840" cy="429768"/>
          </a:xfrm>
          <a:prstGeom prst="rect">
            <a:avLst/>
          </a:prstGeom>
          <a:solidFill>
            <a:srgbClr val="2E4A62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ABI, funzioni richieste</a:t>
            </a:r>
            <a:endParaRPr lang="en-US" sz="1222" dirty="0"/>
          </a:p>
        </p:txBody>
      </p:sp>
      <p:sp>
        <p:nvSpPr>
          <p:cNvPr id="29" name="Text 27"/>
          <p:cNvSpPr txBox="1"/>
          <p:nvPr/>
        </p:nvSpPr>
        <p:spPr>
          <a:xfrm>
            <a:off x="4937760" y="4425696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byte</a:t>
            </a:r>
            <a:endParaRPr lang="en-US" sz="1022" dirty="0"/>
          </a:p>
        </p:txBody>
      </p:sp>
      <p:sp>
        <p:nvSpPr>
          <p:cNvPr id="30" name="Text 28"/>
          <p:cNvSpPr txBox="1"/>
          <p:nvPr/>
        </p:nvSpPr>
        <p:spPr>
          <a:xfrm>
            <a:off x="6126480" y="4425696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cartuccia incompatibile è rifiutata</a:t>
            </a:r>
            <a:endParaRPr lang="en-US" sz="1222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919472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22" dirty="0"/>
          </a:p>
        </p:txBody>
      </p:sp>
      <p:sp>
        <p:nvSpPr>
          <p:cNvPr id="32" name="Text 30"/>
          <p:cNvSpPr txBox="1"/>
          <p:nvPr/>
        </p:nvSpPr>
        <p:spPr>
          <a:xfrm>
            <a:off x="1508760" y="4919472"/>
            <a:ext cx="3291840" cy="429768"/>
          </a:xfrm>
          <a:prstGeom prst="rect">
            <a:avLst/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codice e dati</a:t>
            </a:r>
            <a:endParaRPr lang="en-US" sz="1222" dirty="0"/>
          </a:p>
        </p:txBody>
      </p:sp>
      <p:sp>
        <p:nvSpPr>
          <p:cNvPr id="33" name="Text 31"/>
          <p:cNvSpPr txBox="1"/>
          <p:nvPr/>
        </p:nvSpPr>
        <p:spPr>
          <a:xfrm>
            <a:off x="4937760" y="4919472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KiB</a:t>
            </a:r>
            <a:endParaRPr lang="en-US" sz="1022" dirty="0"/>
          </a:p>
        </p:txBody>
      </p:sp>
      <p:sp>
        <p:nvSpPr>
          <p:cNvPr id="34" name="Text 32"/>
          <p:cNvSpPr txBox="1"/>
          <p:nvPr/>
        </p:nvSpPr>
        <p:spPr>
          <a:xfrm>
            <a:off x="6126480" y="4919472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istruzioni RISC-V: le nostre</a:t>
            </a:r>
            <a:endParaRPr lang="en-US" sz="1222" dirty="0"/>
          </a:p>
        </p:txBody>
      </p:sp>
      <p:sp>
        <p:nvSpPr>
          <p:cNvPr id="35" name="Shape 33"/>
          <p:cNvSpPr/>
          <p:nvPr/>
        </p:nvSpPr>
        <p:spPr>
          <a:xfrm>
            <a:off x="548640" y="5458968"/>
            <a:ext cx="11094415" cy="758952"/>
          </a:xfrm>
          <a:prstGeom prst="roundRect">
            <a:avLst>
              <a:gd name="adj" fmla="val 9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2960" y="5532120"/>
            <a:ext cx="1054577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Intestazione di 100 byte. Di questi 3 KiB, circa 2,5 sono i 139 piccoli "ponti" verso le funzioni della console.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Fondamenti di assembly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Istruzione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 cosa fa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 a0, 5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mette 5 nel registro a0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 t0, x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mette in t0 l'indirizzo di x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lw t1, 0(t0)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carica una parola dalla memoria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addi t1, t1, 1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= t1 + 1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sw t1, 0(t0)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memorizza una parola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call f / ret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chiama f / ritorna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Un'istruzione è un numero a 32 bit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64792"/>
            <a:ext cx="33203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31..20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3320301" cy="1051560"/>
          </a:xfrm>
          <a:prstGeom prst="rect">
            <a:avLst/>
          </a:prstGeom>
          <a:solidFill>
            <a:srgbClr val="2E4A6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332030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000000000001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3320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bit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868941" y="1764792"/>
            <a:ext cx="19435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19..15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868941" y="2148840"/>
            <a:ext cx="1943529" cy="1051560"/>
          </a:xfrm>
          <a:prstGeom prst="rect">
            <a:avLst/>
          </a:prstGeom>
          <a:solidFill>
            <a:srgbClr val="0E7C8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868941" y="3291840"/>
            <a:ext cx="194352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00110 (t1)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68941" y="3977640"/>
            <a:ext cx="19435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bit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12469" y="1764792"/>
            <a:ext cx="155016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14..12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812469" y="2148840"/>
            <a:ext cx="1550165" cy="1051560"/>
          </a:xfrm>
          <a:prstGeom prst="rect">
            <a:avLst/>
          </a:prstGeom>
          <a:solidFill>
            <a:srgbClr val="6B4FA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812469" y="3291840"/>
            <a:ext cx="155016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812469" y="3977640"/>
            <a:ext cx="15501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bit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62635" y="1764792"/>
            <a:ext cx="19435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11..7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362635" y="2148840"/>
            <a:ext cx="1943529" cy="1051560"/>
          </a:xfrm>
          <a:prstGeom prst="rect">
            <a:avLst/>
          </a:prstGeom>
          <a:solidFill>
            <a:srgbClr val="C7791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362635" y="3291840"/>
            <a:ext cx="194352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00110 (t1)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62635" y="3977640"/>
            <a:ext cx="19435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bit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306163" y="1764792"/>
            <a:ext cx="23368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6..0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306163" y="2148840"/>
            <a:ext cx="2336892" cy="1051560"/>
          </a:xfrm>
          <a:prstGeom prst="rect">
            <a:avLst/>
          </a:prstGeom>
          <a:solidFill>
            <a:srgbClr val="2F7D4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opcode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306163" y="3291840"/>
            <a:ext cx="23368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0010011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306163" y="3977640"/>
            <a:ext cx="2336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bit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480560"/>
            <a:ext cx="11094415" cy="1737360"/>
          </a:xfrm>
          <a:prstGeom prst="roundRect">
            <a:avLst>
              <a:gd name="adj" fmla="val 42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590288"/>
            <a:ext cx="10545775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 t1, t1, 1 nella forma a 32 bit è 0x00130313. RISC-V ha anche forme compresse a 16 bit per le istruzioni più comuni.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Pratica 1: la prima cartuccia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minuti, in coppia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Esplora l'ambiente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Accendi il kit PRG32 e collega il portatile alla sua rete Wi-Fi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34440" y="2688336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2798064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PRG32_URL=http://192.168.4.1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3913632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17320" y="4023360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workshops/Maker_Faire &amp;&amp; ls part1 part2 part3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5138928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 cartella PRG32 esegui: python3 -m prg32 doctor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1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circa 5 min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cartelle di passi. doctor segnala OK per toolchain ESP-IDF, compilatore RISC-V e tabella delle partizioni.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1.2: testo sullo schermo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hello_world_draw: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this function calls others: save 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BLACK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32  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40  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a2, title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address of the string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CYAN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foreground colour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BLACK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background colour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prg32_gfx_text8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Tre etichette esportate; draw salva ra, cancella lo schermo e scrive una stringa con cinque argomenti in a0..a4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Schermata vera: questo passo, compilato ed eseguito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etichette esportate; draw salva ra, cancella lo schermo e scrive una stringa con cinque argomenti in a0..a4.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Compila ed esegui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./run.sh 1 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688336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2798064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./run.sh 1 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 code_size stampato dallo script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il testo e le coordinate x, y; riesegui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2  |  circa 8 min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400" dirty="0"/>
          </a:p>
        </p:txBody>
      </p:sp>
      <p:pic>
        <p:nvPicPr>
          <p:cNvPr id="17" name="Image 0" descr="Passo 1: schermo nero. Passo 2: HELLO WORLD in ciano. code_size circa 2660 byt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1: schermo nero. Passo 2: HELLO WORLD in ciano. code_size circa 2660 byte.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 testo e grafica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./run.sh 1 3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CYAN in 0xF800 (rosso) nella riga .equ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Calcola tu un colore RGB565: 5 bit rosso, 6 verde, 5 blu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Aggiungi una terza riga di testo 24 pixel più in basso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3  |  circa 7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400" dirty="0"/>
          </a:p>
        </p:txBody>
      </p:sp>
      <p:pic>
        <p:nvPicPr>
          <p:cNvPr id="16" name="Image 0" descr="Due righe di testo; poi tre, con i vostri colori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righe di testo; poi tre, con i vostri colori.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1.4: uno sprite e un pulsante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 8x8 sprite: one byte per row, one bit per pixel.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152    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96     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a2, ship   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address of the 8 bytes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CYAN   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foreground: cyan...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buttons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t1, t1, BTN_A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t1, 1f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YELLOW 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...yellow while A is held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li   a4, BLACK  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background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prg32_sprite_draw_8x8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Otto byte, un bit per pixel. andi isola il bit del pulsante A: lo sprite diventa giallo mentre A è premut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Schermata vera: questo passo, compilato ed eseguito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Otto byte, un bit per pixel. andi isola il bit del pulsante A: lo sprite diventa giallo mentre A è premuto.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Pulsanti e display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./run.sh 1 4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Tieni premuto A: lo sprite cambia colore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BTN_A (0x10) in 0x20: quale pulsante risponde ora?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Ridisegna lo sprite: modifica gli otto byte dopo 'ship:'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4  |  circa 10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400" dirty="0"/>
          </a:p>
        </p:txBody>
      </p:sp>
      <p:pic>
        <p:nvPicPr>
          <p:cNvPr id="16" name="Image 0" descr="Sprite ciano, giallo con A premuto (schermata). 0x20 è il pulsante B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 ciano, giallo con A premuto (schermata). 0x20 è il pulsante B.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2: programmare giochi in assembly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Presentazione, 20 minuti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registri RISC-V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311336"/>
                <a:gridCol w="5084940"/>
                <a:gridCol w="36981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Ruolo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Sopravvive a una call?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a0 - a7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argomenti; a0 anche il risultato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t0 - t6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temporanei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s0 - s11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valori salvati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sì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indirizzo di ritorno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no: salvalo tu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puntatore allo stack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sì; allineato a 16 byte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Funzioni e convenzione di chiamata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06817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Prologo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 sp, sp, -16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ra, 12(sp)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077642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5114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3291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07994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Argomenti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607994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a0, a1, a2... nell'ordine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54116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1588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59765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84468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84468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 in ra l'indirizzo di ritorno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830589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78061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36238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360941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Epilogo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9360941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 ra, 12(sp)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 sp, sp, 16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Condizioni e cicli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condizione è un salto in avanti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 t3, a0, 1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beqz t3, 1f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 t2, t2, -4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ciclo è un salto all'indietro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s0, 0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loop:  ...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 s0, s0, 1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blt s0, t0, loop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Sprite e rettangoli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prg32_gfx_rect(x, y, w, h, colore): cinque registri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prg32_sprite_draw_8x8(x, y, bit, primo piano, sfondo)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prg32_sprite_hitbox: otto argomenti, risponde se due rettangoli si toccano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coordinate vengono dallo stato; le dimensioni sono costanti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L'input è una maschera di bit</a:t>
            </a:r>
            <a:endParaRPr lang="en-US" sz="3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698138"/>
                <a:gridCol w="3698138"/>
                <a:gridCol w="36981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Pulsante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Binario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SINISTRA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0000 0001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DESTRA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0000 0010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0000 0100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GIÙ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0x08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0000 1000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0x10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0001 0000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0x20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0010 0000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tempo: il ciclo di gioco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volta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52496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36544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46272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 input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546272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pulsanti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0400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34176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34176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lo stato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828303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12351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2079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322079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disegna lo stato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2519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Circa 30 fotogrammi al secondo: 33 ms per update più draw. Velocità 2 significa 2 pixel per fotogramma, cioè 60 pixel al secondo.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Movimento: posizione più velocità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numeri per asse: posizione e velocità (con segno)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ogni fotogramma: x = x + dx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bordo: rimetti sul bordo e inverti il segno (neg)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= dimensione dello schermo meno dimensione dell'oggetto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229600" y="1463040"/>
            <a:ext cx="3413455" cy="4754880"/>
          </a:xfrm>
          <a:prstGeom prst="roundRect">
            <a:avLst>
              <a:gd name="adj" fmla="val 2143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0" y="228600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320 - 8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429768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312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Pratica 2: un gioco in assembly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minuti: movimento, urti, punteggio, suono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2.2: muovere il giocatore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paddle: move with LEFT / RIGHT, clamp to the screen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t1, paddle_x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a0, 1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LEFT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1f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t2, -PADDLE_SPEED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andi t3, a0, 2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RIGHT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2f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t2, PADDLE_SPEED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bgez t2, 3f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 li   t3, PADDLE_MAX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ble  t2, t3, 4f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t2, t3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Carica, modifica, memorizza. Due test sui bit, poi due controlli tengono la racchetta tra 0 e 256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Schermata vera: questo passo, compilato ed eseguito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Carica, modifica, memorizza. Due test sui bit, poi due controlli tengono la racchetta tra 0 e 256.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il movimento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./run.sh 2 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688336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2798064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./run.sh 2 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Tieni premuto DESTRA fino al bordo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PADDLE_SPEED da 4 a 12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5  |  circa 5 min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400" dirty="0"/>
          </a:p>
        </p:txBody>
      </p:sp>
      <p:pic>
        <p:nvPicPr>
          <p:cNvPr id="17" name="Image 0" descr="La racchetta segue il joystick e si ferma a x = 256 (schermata: DESTRA per 30 fotogrammi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racchetta segue il joystick e si ferma a x = 256 (schermata: DESTRA per 30 fotogrammi).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2.3: la pallina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ball x: add velocity, bounce off the side walls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t1, ball_x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t3, ball_dx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t4, 0(t3)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t2, t2, t4 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= x + dx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bgez t2, 5f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0      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clamp to the left edge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neg  t4, t4     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and reverse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  li   t5, BALL_MAX_X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ble  t2, t5, 6f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t2, t5     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clamp to the right edge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neg  t4, t4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6:  sw   t2, 0(t1)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x = x + dx; ai due muri laterali si riporta la pallina sul bordo e si inverte dx con neg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Schermata vera: questo passo, compilato ed eseguito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x + dx; ai due muri laterali si riporta la pallina sul bordo e si inverte dx con neg.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2.4: l'urto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paddle collision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ball_x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a0, 0(t0)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a0..a3: the ball rectangle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ball_y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a1, 0(t0)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BALL_SIZE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BALL_SIZE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paddle_x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a4, 0(t0)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a4..a7: the paddle rectangle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a5, PADDLE_Y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a6, PADDLE_W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a7, PADDLE_H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prg32_sprite_hitbox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non-zero if they overlap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a0, update_done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ball_dy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blez t1, update_done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guard: bounce only while moving down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neg  t1, t1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Pallina in a0-a3, racchetta in a4-a7. blez: rimbalza solo se sta scendendo, così un urto conta una volt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Schermata vera: questo passo, compilato ed eseguito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Pallina in a0-a3, racchetta in a4-a7. blez: rimbalza solo se sta scendendo, così un urto conta una volta.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pallina e urto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./run.sh 2 3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688336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2798064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./run.sh 2 4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Tieni viva la pallina per cinque rimbalzi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5138928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 la riga blez e colpisci la pallina di lato; poi rimettila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6  |  circa 8 min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400" dirty="0"/>
          </a:p>
        </p:txBody>
      </p:sp>
      <p:pic>
        <p:nvPicPr>
          <p:cNvPr id="17" name="Image 0" descr="Con il passo 4 la racchetta rimanda la pallina; senza blez la pallina può tremare dentro la racchett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il passo 4 la racchetta rimanda la pallina; senza blez la pallina può tremare dentro la racchetta.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2.5: il punteggio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score: a bar 4 pixels long per point, at most 312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score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a2, t1, 2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width = score * 4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312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ble  a2, t2, 1f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a2, t2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li   a0, 4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4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6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GREEN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Stato nuovo (score), regola nuova (+1 dentro la guardia), disegno nuovo: una barra larga score x 4, con slli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Schermata vera: questo passo, compilato ed eseguito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nuovo (score), regola nuova (+1 dentro la guardia), disegno nuovo: una barra larga score x 4, con slli.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2.6: effetti sonori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   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channel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0   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instrument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72  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MIDI note 72 = C5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255 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volume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60  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milliseconds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prg32_audio_note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 registers are dead after this call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prg32_audio_note(canale, strumento, nota MIDI, volume, ms). Dopo la call i registri t non valgono più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Schermata vera: questo passo, compilato ed eseguito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prg32_audio_note(canale, strumento, nota MIDI, volume, ms). Dopo la call i registri t non valgono più.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punteggio e suono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./run.sh 2 5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688336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2798064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./run.sh 2 6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la nota 72 in 84, poi in 60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5138928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 crescere la barra di 8 pixel per punto: quale istruzione cambia?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7  |  circa 10 min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400" dirty="0"/>
          </a:p>
        </p:txBody>
      </p:sp>
      <p:pic>
        <p:nvPicPr>
          <p:cNvPr id="17" name="Image 0" descr="Una barra verde che cresce e una nota a ogni rimbalzo. slli a2, t1, 3 moltiplica per 8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barra verde che cresce e una nota a ogni rimbalzo. slli a2, t1, 3 moltiplica per 8.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3: dall'assembly al C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Presentazione, 20 minuti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combinare C e assembly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 per la struttura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Variabili, array, cicli in poche righe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Leggibile da altri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compilatore sceglie registri e stack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Quasi tutto il gioco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L'assembly dove serve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 esatto di ciò che viene eseguito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piccole e critiche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 a istruzioni speciali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Capire che cosa fa il compilatore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stessa regola, due linguaggi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Assembly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input = prg32_input_read();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call prg32_input_read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 (input &amp; PRG32_BTN_LEFT)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andi t3, a0, 1 / beqz t3, 1f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paddle_x -= 4;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lw / addi -4 / sw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prg32_gfx_rect(x, y, w, h, c);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a0..a4, call prg32_gfx_rect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Dove si incontrano: la convenzione di chiamata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funzione C e una routine assembly sono la stessa cosa per il processore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Argomenti in a0, a1, a2...; risultato in a0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puntatore C (&amp;ball_x) è un indirizzo in un registro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viene chiamato preserva s0-s11 e sp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 una dichiarazione in C: int ball_step_asm(int *, int *, int);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runtime PRG32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vostra cartuccia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+ assembly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474915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8963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68691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968691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 voci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85238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69286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9014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Tabella ABI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279014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 1.6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095561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79609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337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589337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display, input, audio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405884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89932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99660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ESP32-C6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899660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42519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non conosce gli indirizzi del firmware: chiama la voce numero N di una tabella. Per questo lo stesso file gira su scheda, QEMU e PRG32-QT.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Dentro un ponte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prg32_gfx_rect:                # one of 139 generated stubs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__prg32_abi       # where the table pointer was saved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t0, 0(t0)             # t0 = address of the ABI table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104(t0)           # t1 = table entry for this function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jr   t1                    # jump there; arguments untouched in a0..a7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prg32_entry_update:            # what the console really calls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__prg32_abi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a0, 0(t0)             # the console passes the table in a0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pong_update           # your function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 dal costruttore di cartucce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Poche istruzioni per funzione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vostro update è chiamato da un trampolino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Architettura modulare di un gioco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Poche variabili con un nome: è tutto ciò che il gioco ricorda.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 funzioni piccole, una responsabilità ciascuna.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Disegno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draw: legge lo stato, non lo cambia mai.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Moduli veloci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assembly dietro una dichiarazione C.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Impacchettare la cartuccia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python3 -m prg32 cartridge build SORGENTE --portable --entry-prefix ...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cartridge summary: dimensioni, ABI, modello di importazione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esp32c6 upload-and-run --url ...: sul kit via Wi-Fi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Opzionale: icona, crediti e pubblicazione sul Cartridge Store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Pratica 3: C e assembly insieme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minuti: migrare, integrare, completare, scambiare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3.1: il modulo assembly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__asm__(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.text\n"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.globl ball_step_asm\n"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"ball_step_asm:\n"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lw   t0, 0(a0)\n"        </a:t>
            </a:r>
            <a:pPr indent="0" marL="0">
              <a:buNone/>
            </a:pPr>
            <a:r>
              <a:rPr lang="en-US" sz="10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t0 = *position      (a0 = 1st argument) */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lw   t1, 0(a1)\n"        </a:t>
            </a:r>
            <a:pPr indent="0" marL="0">
              <a:buNone/>
            </a:pPr>
            <a:r>
              <a:rPr lang="en-US" sz="10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t1 = *velocity      (a1 = 2nd argument) */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add  t0, t0, t1\n"       </a:t>
            </a:r>
            <a:pPr indent="0" marL="0">
              <a:buNone/>
            </a:pPr>
            <a:r>
              <a:rPr lang="en-US" sz="10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position += velocity                    */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li   t2, 0\n"            </a:t>
            </a:r>
            <a:pPr indent="0" marL="0">
              <a:buNone/>
            </a:pPr>
            <a:r>
              <a:rPr lang="en-US" sz="10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t2 = bounced? no                        */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bgez t0, 1f\n"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li   t0, 0\n"            </a:t>
            </a:r>
            <a:pPr indent="0" marL="0">
              <a:buNone/>
            </a:pPr>
            <a:r>
              <a:rPr lang="en-US" sz="10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below 0: clamp...                       */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neg  t1, t1\n"           </a:t>
            </a:r>
            <a:pPr indent="0" marL="0">
              <a:buNone/>
            </a:pPr>
            <a:r>
              <a:rPr lang="en-US" sz="10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...and reverse                          */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li   t2, 1\n"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"1:  ble  t0, a2, 2f\n"       </a:t>
            </a:r>
            <a:pPr indent="0" marL="0">
              <a:buNone/>
            </a:pPr>
            <a:r>
              <a:rPr lang="en-US" sz="10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a2 = max            (3rd argument)      */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mv   t0, a2\n"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neg  t1, t1\n"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li   t2, 1\n"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"2:  sw   t0, 0(a0)\n"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sw   t1, 0(a1)\n"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mv   a0, t2\n"           </a:t>
            </a:r>
            <a:pPr indent="0" marL="0">
              <a:buNone/>
            </a:pPr>
            <a:r>
              <a:rPr lang="en-US" sz="10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return value goes back in a0            */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La fisica della pallina resta in assembly: a0 e a1 sono due indirizzi, a2 il limite, il risultato torna in a0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Schermata vera: questo passo, compilato ed eseguito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fisica della pallina resta in assembly: a0 e a1 sono due indirizzi, a2 il limite, il risultato torna in a0.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3.1: il C chiama l'assembly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mixed_update(void)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uint32_t input = prg32_input_read();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(input &amp; PRG32_BTN_LEFT)  { paddle_x -= 4;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(input &amp; PRG32_BTN_RIGHT) { paddle_x += 4;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(paddle_x &lt; 0) { paddle_x = 0;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(paddle_x &gt; PRG32_GAME_W - PADDLE_W) { paddle_x = PRG32_GAME_W - PADDLE_W;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 calls assembly: pass two addresses and a limit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ball_step_asm(&amp;ball_x, &amp;ball_dx, PRG32_GAME_W - BALL_SIZE);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ball_step_asm(&amp;ball_y, &amp;ball_dy, 100000); </a:t>
            </a:r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no floor: the ball can be lost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(ball_y &gt;= PRG32_GAME_H)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ball_x = 156;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ball_y = 120;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ball_dy = -2;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racchetta: quattro righe di C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&amp;ball_x: l'indirizzo della variabile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chiamate alla stessa routine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resto del gioco è C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 e integra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./run.sh 3 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Confronta part3/step1_c_calls_asm.c con part2/step4_collision.S: stesso gioco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le righe dei due file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modulo assembly cambia 'neg t1, t1' in 'li t1, 0' al primo bordo: che succede?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8  |  circa 10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400" dirty="0"/>
          </a:p>
        </p:txBody>
      </p:sp>
      <p:pic>
        <p:nvPicPr>
          <p:cNvPr id="16" name="Image 0" descr="Lo stesso Pong, ora in C con la fisica in assembly. Con li t1, 0 la pallina smette di muoversi di lato al muro sinistr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Pong, ora in C con la fisica in assembly. Con li t1, 0 la pallina smette di muoversi di lato al muro sinistro.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3.2: mattoncini, in 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in C a loop over an array is three lines */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BRICKS; i++)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(bricks[i] &amp;&amp;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prg32_sprite_hitbox(ball_x, ball_y, BALL_SIZE, BALL_SIZE,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brick_x(i), brick_y(i), 36, 10))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bricks[i] = 0;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ball_dy = -ball_dy;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Un array di 16 byte e un ciclo: ciò che in assembly richiede trenta istruzioni, in C sono dieci righ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Schermata vera: questo passo, compilato ed eseguito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array di 16 byte e un ciclo: ciò che in assembly richiede trenta istruzioni, in C sono dieci righe.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Completa la cartuccia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./run.sh 3 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688336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2798064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./run.sh 3 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 code_size: quanto è cresciuta la cartuccia dal passo 3.1?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Aggiungi una terza riga di mattoncini: BRICKS 24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9  |  circa 10 min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400" dirty="0"/>
          </a:p>
        </p:txBody>
      </p:sp>
      <p:pic>
        <p:nvPicPr>
          <p:cNvPr id="17" name="Image 0" descr="Breakout completo: punteggio, suoni, vittoria. Circa 3,3 KiB contro 2,9 del passo 3.1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completo: punteggio, suoni, vittoria. Circa 3,3 KiB contro 2,9 del passo 3.1.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e scambia i giochi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Personalizza: colori, velocità, larghezza della racchetta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in build/part3-step3.prg32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Collegati al Wi-Fi del kit dei vicini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5138928"/>
            <a:ext cx="6537960" cy="934974"/>
          </a:xfrm>
          <a:prstGeom prst="roundRect">
            <a:avLst>
              <a:gd name="adj" fmla="val 7824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17320" y="5248656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build/part3-step3.prg32 --url http://192.168.4.1 --slot cart1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10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circa 10 min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vostro gioco gira sul kit di un'altra coppia, nello slot cart1, accanto al loro.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Dove andare da qui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Percorsi futuri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Quattro strade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libro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tre percorsi (assembly, C, blocchi) con laboratori passo per passo.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debugger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ferma il processore tra due istruzioni e mostra tutti i registri.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Pubblicare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Cartridge Store: catalogo con revisione, classifiche, multiplayer.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Insegnare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Construction Kit porta lo stesso gioco ai bambini dai 7 anni, con i blocchi.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 cosa portate a casa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Avete scritto e modificato programmi RISC-V veri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Sapete leggere registri, salti, chiamate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Avete collegato codice a schermo, pulsanti e audio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Avete fatto cooperare C e assembly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Avete costruito e scambiato una cartuccia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adesso?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continuare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passi sono in workshops/Maker_Faire del repository del libro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Rifate i passi a casa in QEMU o PRG32-QT: non serve il kit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Costruite la vostra PRG32: ESP32-C6, schermo ILI9341, joystick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Portate PRG32 nella vostra scuola o nel vostro makerspace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trovare tutto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PRG32: github.com/riscv-prg32/PRG32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Cartridge Store: store.prg32.uniparthenope.it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PRG32-QT, Construction Kit: github.com/riscv-prg32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github.com/riscv-prg32/Playing-with-RISC-V_PRG32_textbook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HPSC SmartLab, University of Naples "Parthenope"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Quando la tecnologia del futuro si fa dura: padroneggiare i giochi retrò con PRG32 - lab</dc:title>
  <dc:subject>PRG32 - Giochi retrò su RISC-V  |  Maker Faire</dc:subject>
  <dc:creator>Playing with RISC-V (PRG32 textbook)</dc:creator>
  <cp:lastModifiedBy>Playing with RISC-V (PRG32 textbook)</cp:lastModifiedBy>
  <cp:revision>1</cp:revision>
  <dcterms:created xsi:type="dcterms:W3CDTF">2026-10-05T15:40:34Z</dcterms:created>
  <dcterms:modified xsi:type="dcterms:W3CDTF">2026-10-05T15:40:34Z</dcterms:modified>
</cp:coreProperties>
</file>