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</p:sldIdLst>
  <p:notesMasterIdLst>
    <p:notesMasterId r:id="rId6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3fbcafb1-0a21-6909-b711-9dea88f64ad4}">
          <p14:sldIdLst>
            <p14:sldId id="256"/>
            <p14:sldId id="257"/>
            <p14:sldId id="258"/>
            <p14:sldId id="259"/>
          </p14:sldIdLst>
        </p14:section>
        <p14:section name="L'idea" id="{fee6b7bc-a0de-d919-7793-b2e3cfe36f82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La piattaforma PRG32" id="{66f746b6-caee-1b71-c5e5-bd3081725d36}">
          <p14:sldIdLst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  <p14:section name="Il ciclo init, update, draw" id="{4e4b6f6d-b4eb-d4c1-d62b-8d85459e4c9f}">
          <p14:sldIdLst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</p14:sldIdLst>
        </p14:section>
        <p14:section name="Breakout in assembly" id="{2f36bf2a-e487-3c16-b478-c07660073cd5}">
          <p14:sldIdLst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</p14:sldIdLst>
        </p14:section>
        <p14:section name="Sfide finali" id="{d0885a56-b9de-6f15-9e71-183842d3f8fc}">
          <p14:sldIdLst>
            <p14:sldId id="310"/>
            <p14:sldId id="311"/>
            <p14:sldId id="312"/>
            <p14:sldId id="313"/>
          </p14:sldIdLst>
        </p14:section>
        <p14:section name="Closing" id="{f6eed2bb-c155-ccaf-8a8d-6d193ced5521}">
          <p14:sldIdLst>
            <p14:sldId id="31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notesMaster" Target="notesMasters/notesMaster1.xml"/><Relationship Id="rId62" Type="http://schemas.openxmlformats.org/officeDocument/2006/relationships/presProps" Target="presProps.xml"/><Relationship Id="rId63" Type="http://schemas.openxmlformats.org/officeDocument/2006/relationships/viewProps" Target="viewProps.xml"/><Relationship Id="rId64" Type="http://schemas.openxmlformats.org/officeDocument/2006/relationships/theme" Target="theme/theme1.xml"/><Relationship Id="rId6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Versione ASSEMBLY del laboratorio. Postazioni: repository PRG32 con ESP-IDF attivo, variabile PRG32_HOME impostata, cartella del laboratorio copiata. Ogni passo è un file completo in asm/ e si avvia con ./prova.sh asm N. Le schermate nelle slide sono state ottenute eseguendo davvero ogni passo.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objectives; return to this slide at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Total: 90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Ordini di grandezza citati nel libro (fonti: HiPEAC 2026, EuroHPC JU). La parola chiave è sovranità tecnologica.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B. L'apertura riguarda la specifica dell'ISA. I singoli chip possono essere aperti o proprietari. RISC-V nasce a Berkeley, in California.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B. Esecuzione nativa. In PRG32-QT, invece, un interprete esegue le stesse istruzioni una per una.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Tutto il gioco è la regola che trasforma lo stato di questo fotogramma in quello del successivo.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L'errore più comune: pensare che y cresca verso l'alto come nei grafici di matematica.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Giallo = rosso + verde = 0xFFE0. Bianco = tutti i bit a 1 = 0xFFFF. Ciano = verde + blu = 0x07FF.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console restituisce un solo numero con tutti i pulsanti. DESTRA + A premuti insieme danno 2 + 16 = 18. Per sapere se un pulsante è premuto si isola il suo bit con 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B. y cresce verso il basso.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Trentadue registri: piccoli cassetti velocissimi dentro il processore. Gli argomenti delle funzioni viaggiano in a0, a1, a2...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Codifica di tipo I. imm=4, rs1=x7, funct3=000, rd=x7, opcode=0x13.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workshops/EST-Napoli_Innovation_Festival/asm/passo1_scheletro.S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Schermata vera: questo passo, compilato ed eseguito: workshops/EST-Napoli_Innovation_Festival/asm/expected/passo1_scheletro.png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workshops/EST-Napoli_Innovation_Festival/asm/passo2_racchetta.S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workshops/EST-Napoli_Innovation_Festival/asm/passo2_racchetta.S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Schermata vera: questo passo, compilato ed eseguito: workshops/EST-Napoli_Innovation_Festival/asm/expected/passo2_racchetta.png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workshops/EST-Napoli_Innovation_Festival/asm/passo3_input.S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Schermata vera: questo passo, compilato ed eseguito: workshops/EST-Napoli_Innovation_Festival/asm/expected/passo3_input.png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B. 18 = 16 + 2: bit 4 (A) e bit 1 (DESTRA).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workshops/EST-Napoli_Innovation_Festival/asm/passo4_pallina.S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workshops/EST-Napoli_Innovation_Festival/asm/passo4_pallina.S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Schermata vera: questo passo, compilato ed eseguito: workshops/EST-Napoli_Innovation_Festival/asm/expected/passo4_pallina.png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workshops/EST-Napoli_Innovation_Festival/asm/passo5_rimbalzo.S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Schermata vera: questo passo, compilato ed eseguito: workshops/EST-Napoli_Innovation_Festival/asm/expected/passo5_rimbalzo.png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workshops/EST-Napoli_Innovation_Festival/asm/passo6_mattoncini.S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Schermata vera: questo passo, compilato ed eseguito: workshops/EST-Napoli_Innovation_Festival/asm/expected/passo6_mattoncini.png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workshops/EST-Napoli_Innovation_Festival/asm/passo7_punti.S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workshops/EST-Napoli_Innovation_Festival/asm/passo7_punti.S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Schermata vera: questo passo, compilato ed eseguito: workshops/EST-Napoli_Innovation_Festival/asm/expected/passo7_punti.png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workshops/EST-Napoli_Innovation_Festival/asm/passo8_vittoria.S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Schermata vera: questo passo, compilato ed eseguito: workshops/EST-Napoli_Innovation_Festival/asm/expected/passo8_vittoria.png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PRG32 - Breakout in assembly RISC-V  |  EST Napoli Innovation Festival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731520"/>
            <a:ext cx="218724" cy="218724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" y="731520"/>
            <a:ext cx="218724" cy="21872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" y="969264"/>
            <a:ext cx="218724" cy="218724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128" y="969264"/>
            <a:ext cx="218724" cy="21872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07008"/>
            <a:ext cx="218724" cy="218724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9202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 - NAPOLI INNOVATION FESTIVAL  |  22 OTTOBRE 2026  |  LABORATORIO  |  90 MINUTI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377440"/>
            <a:ext cx="110944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PRG32: videogiochi retrò per imparare il processore europeo RISC-V</a:t>
            </a:r>
            <a:endParaRPr lang="en-US" sz="4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2519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Costruiamo Breakout in assembly RISC-V, un passo alla volta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5778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chi: studenti delle scuole e cittadini curiosi; nessuna esperienza richiesta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9436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8F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Università degli Studi di Napoli "Parthenope" - Prof. Raffaele Montella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Cosa impareremo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Spiegare perché RISC-V è un processore "di tutti"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522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44693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Descrivere un gioco come init, update, draw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49117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430829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Leggere le istruzioni RISC-V fondamentali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33011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4414723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Muovere, far rimbalzare e far scontrare oggetti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41690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539861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Modificare un gioco vero e vederne subito l'effetto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Programma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1186993" cy="822960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737360"/>
            <a:ext cx="118699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10'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781353" y="1737360"/>
            <a:ext cx="1803349" cy="82296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781353" y="1737360"/>
            <a:ext cx="180334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15'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630422" y="1737360"/>
            <a:ext cx="1186993" cy="822960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30422" y="1737360"/>
            <a:ext cx="118699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10'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863135" y="1737360"/>
            <a:ext cx="5501488" cy="82296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63135" y="1737360"/>
            <a:ext cx="55014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45'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410342" y="1737360"/>
            <a:ext cx="1186993" cy="822960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410342" y="1737360"/>
            <a:ext cx="118699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10'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3017520"/>
            <a:ext cx="2036003" cy="3200400"/>
          </a:xfrm>
          <a:prstGeom prst="roundRect">
            <a:avLst>
              <a:gd name="adj" fmla="val 359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749040"/>
            <a:ext cx="167024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L'idea: perché un videogioco, perché RISC-V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813243" y="3017520"/>
            <a:ext cx="2036003" cy="3200400"/>
          </a:xfrm>
          <a:prstGeom prst="roundRect">
            <a:avLst>
              <a:gd name="adj" fmla="val 359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996123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2996123" y="3749040"/>
            <a:ext cx="167024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piattaforma PRG32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077846" y="3017520"/>
            <a:ext cx="2036003" cy="3200400"/>
          </a:xfrm>
          <a:prstGeom prst="roundRect">
            <a:avLst>
              <a:gd name="adj" fmla="val 359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260726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260726" y="3749040"/>
            <a:ext cx="167024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ciclo init, update, draw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342449" y="3017520"/>
            <a:ext cx="2036003" cy="3200400"/>
          </a:xfrm>
          <a:prstGeom prst="roundRect">
            <a:avLst>
              <a:gd name="adj" fmla="val 359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525329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525329" y="3749040"/>
            <a:ext cx="167024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Breakout, un passo alla volta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607052" y="3017520"/>
            <a:ext cx="2036003" cy="3200400"/>
          </a:xfrm>
          <a:prstGeom prst="roundRect">
            <a:avLst>
              <a:gd name="adj" fmla="val 359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789932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9789932" y="3749040"/>
            <a:ext cx="167024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Sfide finali e come continuare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168250" cy="168250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640080"/>
            <a:ext cx="168250" cy="16825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822960"/>
            <a:ext cx="168250" cy="168250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1109441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Oggi costruiamo un videogioco. Dentro c'è un processore progettato per essere di tutti.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Novanta minuti, un gioco vero, e alla fine saprete cosa succede davvero dentro un computer.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6FC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L'idea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Perché un videogioco, perché RISC-V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computer fa solo tre cose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Calcola con dei numeri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69290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Sposta numeri da e verso la memoria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922776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quale istruzione eseguire dopo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5152644"/>
            <a:ext cx="10362895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Tutto il resto, dai social ai videogiochi, è fatto di questi tre mattoni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Perché proprio un videogioco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6459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vede subito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 un numero e la racchetta si sposta: causa ed effetto nello stesso istante.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233008" y="14630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61608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010248" y="16459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È onesto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507328" y="24231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sbagli, la pallina attraversa il muro. Non serve un voto per saperlo.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42062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41605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È piccolo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9377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gioco retrò sta tutto nella testa di una persona. E in 3 KiB di memoria.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233008" y="39776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61608" y="42062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010248" y="41605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È completo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507328" y="49377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Stato, ingresso, calcoli, decisioni, un ciclo: c'è tutta l'informatica di base.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 cos'è un processore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È il componente che esegue le istruzioni, una alla volta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69290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famiglia di processori capisce un proprio elenco di istruzioni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922776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Quell'elenco si chiama ISA: Instruction Set Architecture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5152644"/>
            <a:ext cx="10362895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È il contratto tra chi scrive il software e chi costruisce l'hardware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 possiede le istruzioni?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Architetture proprietarie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L'elenco delle istruzioni appartiene a un'azienda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costruire un processore serve una licenza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decisioni si prendono altrove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Hanno dominato PC e telefoni per decenni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278728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53048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RISC-V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598768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 standard aperto, nato all'università di Berkeley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Chiunque può progettare un processore, senza pagare l'architettura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Governato come uno standard condiviso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pronuncia "risc-five"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Perché l'Europa ci punta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7006999"/>
                <a:gridCol w="408741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Fatto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Numero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Mercato mondiale dei semiconduttori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circa 700 miliardi di dollari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Quota attuale dell'Europa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circa un decimo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Obiettivo dello European Chips Act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quinto entro il 2030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Progetto DARE (EuroHPC): processori europei su RISC-V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circa 240 milioni di euro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168250" cy="168250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640080"/>
            <a:ext cx="168250" cy="16825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822960"/>
            <a:ext cx="168250" cy="168250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1109441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istruzioni che useremo oggi sono le stesse con cui l'Europa sta costruendo i suoi processori.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è un dialetto per la scuola: addi, lw, sw, beqz sono RISC-V vero.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 cosa rende RISC-V "aperto"?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suoi processori sono gratis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210148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93028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033108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L'elenco delle istruzioni è uno standard che chiunque può usare senza licenza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Funziona solo con software libero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210148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93028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033108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È stato inventato in Europa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6FC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piattaforma PRG32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console retrò con dentro un processore RISC-V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PRG32 in quattro righe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6459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 cos'è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piattaforma didattica open source: una piccola console per giochi scritti in assembly, in C o con i blocchi.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233008" y="14630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61608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010248" y="16459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processore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507328" y="24231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ESP32-C6: RISC-V a 32 bit, 160 MHz, 512 KB di RAM. Costa pochi euro.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42062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41605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codice gira davvero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9377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vostro programma è codice macchina RISC-V eseguito dal processore, non una simulazione.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233008" y="39776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61608" y="42062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010248" y="41605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la sviluppa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507328" y="49377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Università degli Studi di Napoli "Parthenope". Licenza MIT: potete leggerla, copiarla, migliorarla.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Cosa c'è sul tavolo</a:t>
            </a:r>
            <a:endParaRPr lang="en-US" sz="3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3503500"/>
                <a:gridCol w="759091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Caratteristiche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Scheda ESP32-C6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Processore RISC-V RV32IMAC, Wi-Fi, USB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Schermo ILI9341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320 x 240 pixel a colori; il gioco ne usa 320 x 200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Joystick e pulsanti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Quattro direzioni, A, B, Start/Select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Audio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Amplificatore digitale I2S, 8 voci a 22.050 Hz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Memoria per il gioco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 KiB: il nostro Breakout ne usa circa 3,5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 modi per far girare lo stesso gioco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3393338" cy="1737360"/>
          </a:xfrm>
          <a:prstGeom prst="roundRect">
            <a:avLst>
              <a:gd name="adj" fmla="val 4211"/>
            </a:avLst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8368" y="2103120"/>
            <a:ext cx="317388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Scheda PRG32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2834640"/>
            <a:ext cx="317388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processore vero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015130" y="2633472"/>
            <a:ext cx="310896" cy="310896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99178" y="1920240"/>
            <a:ext cx="3393338" cy="1737360"/>
          </a:xfrm>
          <a:prstGeom prst="roundRect">
            <a:avLst>
              <a:gd name="adj" fmla="val 4211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08906" y="2103120"/>
            <a:ext cx="317388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QEMU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4508906" y="2834640"/>
            <a:ext cx="317388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scheda emulata sul PC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865669" y="2633472"/>
            <a:ext cx="310896" cy="310896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9717" y="1920240"/>
            <a:ext cx="3393338" cy="1737360"/>
          </a:xfrm>
          <a:prstGeom prst="roundRect">
            <a:avLst>
              <a:gd name="adj" fmla="val 4211"/>
            </a:avLst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59445" y="2103120"/>
            <a:ext cx="317388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PRG32-QT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8359445" y="2834640"/>
            <a:ext cx="317388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per PC, tablet, telefono, TV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11094415" cy="2103120"/>
          </a:xfrm>
          <a:prstGeom prst="roundRect">
            <a:avLst>
              <a:gd name="adj" fmla="val 347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8680" y="4251960"/>
            <a:ext cx="104543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cartuccia è lo stesso file .prg32 in tutti e tre i casi. Oggi usiamo quello che c'è sulla vostra postazione.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L'ecosistema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6459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firmware della console e gli strumenti per costruire le cartucce.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233008" y="14630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61608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010248" y="16459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Cartridge Store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507328" y="24231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catalogo di giochi, con classifiche e multiplayer. Ogni gioco passa da un editor prima di essere pubblico.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42062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41605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Kit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9377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programma con i blocchi nel browser; il Kit mostra il C che ne risulta.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233008" y="39776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61608" y="42062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010248" y="41605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PRG32-QT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507328" y="49377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 girare le cartucce ovunque e ha un debugger: si può fermare il processore tra due istruzioni.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cartuccia: un file piccolissimo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6492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gioco è un file che finisce in .prg32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522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446934"/>
            <a:ext cx="6492240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Dentro: un'intestazione di 100 byte e il codice macchina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49117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430829"/>
            <a:ext cx="6492240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carica sulla console via Wi-Fi, senza riprogrammarla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33011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4414723"/>
            <a:ext cx="6492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console ha quattro "slot" per le cartucce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41690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5398618"/>
            <a:ext cx="6492240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cartuccia chiama la console attraverso una tabella di 139 funzioni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8229600" y="1463040"/>
            <a:ext cx="3413455" cy="4754880"/>
          </a:xfrm>
          <a:prstGeom prst="roundRect">
            <a:avLst>
              <a:gd name="adj" fmla="val 2143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12480" y="2286000"/>
            <a:ext cx="30449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~3,5 KiB</a:t>
            </a:r>
            <a:endParaRPr lang="en-US" sz="5900" dirty="0"/>
          </a:p>
        </p:txBody>
      </p:sp>
      <p:sp>
        <p:nvSpPr>
          <p:cNvPr id="15" name="Text 13"/>
          <p:cNvSpPr txBox="1"/>
          <p:nvPr/>
        </p:nvSpPr>
        <p:spPr>
          <a:xfrm>
            <a:off x="8503920" y="4297680"/>
            <a:ext cx="28620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tutto il nostro Breakout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Dentro una cartuccia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822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22" dirty="0">
                <a:solidFill>
                  <a:srgbClr val="5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</a:t>
            </a:r>
            <a:endParaRPr lang="en-US" sz="1022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1463040"/>
            <a:ext cx="3291840" cy="429768"/>
          </a:xfrm>
          <a:prstGeom prst="rect">
            <a:avLst/>
          </a:prstGeom>
          <a:solidFill>
            <a:srgbClr val="2E4A62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2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PRG2</a:t>
            </a:r>
            <a:endParaRPr lang="en-US" sz="1222" dirty="0"/>
          </a:p>
        </p:txBody>
      </p:sp>
      <p:sp>
        <p:nvSpPr>
          <p:cNvPr id="5" name="Text 3"/>
          <p:cNvSpPr txBox="1"/>
          <p:nvPr/>
        </p:nvSpPr>
        <p:spPr>
          <a:xfrm>
            <a:off x="4937760" y="1463040"/>
            <a:ext cx="1143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2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byte</a:t>
            </a:r>
            <a:endParaRPr lang="en-US" sz="1022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463040"/>
            <a:ext cx="5516575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2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firma: "sono una cartuccia PRG32"</a:t>
            </a:r>
            <a:endParaRPr lang="en-US" sz="1222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956816"/>
            <a:ext cx="822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22" dirty="0">
                <a:solidFill>
                  <a:srgbClr val="5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+4</a:t>
            </a:r>
            <a:endParaRPr lang="en-US" sz="1022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1956816"/>
            <a:ext cx="3291840" cy="429768"/>
          </a:xfrm>
          <a:prstGeom prst="rect">
            <a:avLst/>
          </a:prstGeom>
          <a:solidFill>
            <a:srgbClr val="0E7C86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2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versione ABI</a:t>
            </a:r>
            <a:endParaRPr lang="en-US" sz="1222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1956816"/>
            <a:ext cx="1143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2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byte</a:t>
            </a:r>
            <a:endParaRPr lang="en-US" sz="1022" dirty="0"/>
          </a:p>
        </p:txBody>
      </p:sp>
      <p:sp>
        <p:nvSpPr>
          <p:cNvPr id="10" name="Text 8"/>
          <p:cNvSpPr txBox="1"/>
          <p:nvPr/>
        </p:nvSpPr>
        <p:spPr>
          <a:xfrm>
            <a:off x="6126480" y="1956816"/>
            <a:ext cx="5516575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2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quale tabella di funzioni si aspetta</a:t>
            </a:r>
            <a:endParaRPr lang="en-US" sz="1222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450592"/>
            <a:ext cx="822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22" dirty="0">
                <a:solidFill>
                  <a:srgbClr val="5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+8</a:t>
            </a:r>
            <a:endParaRPr lang="en-US" sz="1022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2450592"/>
            <a:ext cx="3291840" cy="429768"/>
          </a:xfrm>
          <a:prstGeom prst="rect">
            <a:avLst/>
          </a:prstGeom>
          <a:solidFill>
            <a:srgbClr val="6B4FA0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2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dimensioni, indirizzo</a:t>
            </a:r>
            <a:endParaRPr lang="en-US" sz="1222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2450592"/>
            <a:ext cx="1143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2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byte</a:t>
            </a:r>
            <a:endParaRPr lang="en-US" sz="1022" dirty="0"/>
          </a:p>
        </p:txBody>
      </p:sp>
      <p:sp>
        <p:nvSpPr>
          <p:cNvPr id="14" name="Text 12"/>
          <p:cNvSpPr txBox="1"/>
          <p:nvPr/>
        </p:nvSpPr>
        <p:spPr>
          <a:xfrm>
            <a:off x="6126480" y="2450592"/>
            <a:ext cx="5516575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2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dove caricare il codice e quanto è grande</a:t>
            </a:r>
            <a:endParaRPr lang="en-US" sz="1222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2944368"/>
            <a:ext cx="822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22" dirty="0">
                <a:solidFill>
                  <a:srgbClr val="5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+24</a:t>
            </a:r>
            <a:endParaRPr lang="en-US" sz="1022" dirty="0"/>
          </a:p>
        </p:txBody>
      </p:sp>
      <p:sp>
        <p:nvSpPr>
          <p:cNvPr id="16" name="Text 14"/>
          <p:cNvSpPr txBox="1"/>
          <p:nvPr/>
        </p:nvSpPr>
        <p:spPr>
          <a:xfrm>
            <a:off x="1508760" y="2944368"/>
            <a:ext cx="3291840" cy="429768"/>
          </a:xfrm>
          <a:prstGeom prst="rect">
            <a:avLst/>
          </a:prstGeom>
          <a:solidFill>
            <a:srgbClr val="C7791B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2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 / update / draw</a:t>
            </a:r>
            <a:endParaRPr lang="en-US" sz="1222" dirty="0"/>
          </a:p>
        </p:txBody>
      </p:sp>
      <p:sp>
        <p:nvSpPr>
          <p:cNvPr id="17" name="Text 15"/>
          <p:cNvSpPr txBox="1"/>
          <p:nvPr/>
        </p:nvSpPr>
        <p:spPr>
          <a:xfrm>
            <a:off x="4937760" y="2944368"/>
            <a:ext cx="1143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2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byte</a:t>
            </a:r>
            <a:endParaRPr lang="en-US" sz="1022" dirty="0"/>
          </a:p>
        </p:txBody>
      </p:sp>
      <p:sp>
        <p:nvSpPr>
          <p:cNvPr id="18" name="Text 16"/>
          <p:cNvSpPr txBox="1"/>
          <p:nvPr/>
        </p:nvSpPr>
        <p:spPr>
          <a:xfrm>
            <a:off x="6126480" y="2944368"/>
            <a:ext cx="5516575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2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dove iniziano le tre funzioni del gioco</a:t>
            </a:r>
            <a:endParaRPr lang="en-US" sz="1222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438144"/>
            <a:ext cx="822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22" dirty="0">
                <a:solidFill>
                  <a:srgbClr val="5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+36</a:t>
            </a:r>
            <a:endParaRPr lang="en-US" sz="1022" dirty="0"/>
          </a:p>
        </p:txBody>
      </p:sp>
      <p:sp>
        <p:nvSpPr>
          <p:cNvPr id="20" name="Text 18"/>
          <p:cNvSpPr txBox="1"/>
          <p:nvPr/>
        </p:nvSpPr>
        <p:spPr>
          <a:xfrm>
            <a:off x="1508760" y="3438144"/>
            <a:ext cx="3291840" cy="429768"/>
          </a:xfrm>
          <a:prstGeom prst="rect">
            <a:avLst/>
          </a:prstGeom>
          <a:solidFill>
            <a:srgbClr val="2F7D4F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2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CRC32</a:t>
            </a:r>
            <a:endParaRPr lang="en-US" sz="1222" dirty="0"/>
          </a:p>
        </p:txBody>
      </p:sp>
      <p:sp>
        <p:nvSpPr>
          <p:cNvPr id="21" name="Text 19"/>
          <p:cNvSpPr txBox="1"/>
          <p:nvPr/>
        </p:nvSpPr>
        <p:spPr>
          <a:xfrm>
            <a:off x="4937760" y="3438144"/>
            <a:ext cx="1143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2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byte</a:t>
            </a:r>
            <a:endParaRPr lang="en-US" sz="1022" dirty="0"/>
          </a:p>
        </p:txBody>
      </p:sp>
      <p:sp>
        <p:nvSpPr>
          <p:cNvPr id="22" name="Text 20"/>
          <p:cNvSpPr txBox="1"/>
          <p:nvPr/>
        </p:nvSpPr>
        <p:spPr>
          <a:xfrm>
            <a:off x="6126480" y="3438144"/>
            <a:ext cx="5516575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2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controllo: il file è arrivato intatto?</a:t>
            </a:r>
            <a:endParaRPr lang="en-US" sz="1222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3931920"/>
            <a:ext cx="822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22" dirty="0">
                <a:solidFill>
                  <a:srgbClr val="5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+40</a:t>
            </a:r>
            <a:endParaRPr lang="en-US" sz="1022" dirty="0"/>
          </a:p>
        </p:txBody>
      </p:sp>
      <p:sp>
        <p:nvSpPr>
          <p:cNvPr id="24" name="Text 22"/>
          <p:cNvSpPr txBox="1"/>
          <p:nvPr/>
        </p:nvSpPr>
        <p:spPr>
          <a:xfrm>
            <a:off x="1508760" y="3931920"/>
            <a:ext cx="3291840" cy="429768"/>
          </a:xfrm>
          <a:prstGeom prst="rect">
            <a:avLst/>
          </a:prstGeom>
          <a:solidFill>
            <a:srgbClr val="B23A48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2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endParaRPr lang="en-US" sz="1222" dirty="0"/>
          </a:p>
        </p:txBody>
      </p:sp>
      <p:sp>
        <p:nvSpPr>
          <p:cNvPr id="25" name="Text 23"/>
          <p:cNvSpPr txBox="1"/>
          <p:nvPr/>
        </p:nvSpPr>
        <p:spPr>
          <a:xfrm>
            <a:off x="4937760" y="3931920"/>
            <a:ext cx="1143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2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byte</a:t>
            </a:r>
            <a:endParaRPr lang="en-US" sz="1022" dirty="0"/>
          </a:p>
        </p:txBody>
      </p:sp>
      <p:sp>
        <p:nvSpPr>
          <p:cNvPr id="26" name="Text 24"/>
          <p:cNvSpPr txBox="1"/>
          <p:nvPr/>
        </p:nvSpPr>
        <p:spPr>
          <a:xfrm>
            <a:off x="6126480" y="3931920"/>
            <a:ext cx="5516575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2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quello che si legge nel menu</a:t>
            </a:r>
            <a:endParaRPr lang="en-US" sz="1222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4425696"/>
            <a:ext cx="822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22" dirty="0">
                <a:solidFill>
                  <a:srgbClr val="5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+72</a:t>
            </a:r>
            <a:endParaRPr lang="en-US" sz="1022" dirty="0"/>
          </a:p>
        </p:txBody>
      </p:sp>
      <p:sp>
        <p:nvSpPr>
          <p:cNvPr id="28" name="Text 26"/>
          <p:cNvSpPr txBox="1"/>
          <p:nvPr/>
        </p:nvSpPr>
        <p:spPr>
          <a:xfrm>
            <a:off x="1508760" y="4425696"/>
            <a:ext cx="3291840" cy="429768"/>
          </a:xfrm>
          <a:prstGeom prst="rect">
            <a:avLst/>
          </a:prstGeom>
          <a:solidFill>
            <a:srgbClr val="2E4A62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2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 ABI, funzioni richieste</a:t>
            </a:r>
            <a:endParaRPr lang="en-US" sz="1222" dirty="0"/>
          </a:p>
        </p:txBody>
      </p:sp>
      <p:sp>
        <p:nvSpPr>
          <p:cNvPr id="29" name="Text 27"/>
          <p:cNvSpPr txBox="1"/>
          <p:nvPr/>
        </p:nvSpPr>
        <p:spPr>
          <a:xfrm>
            <a:off x="4937760" y="4425696"/>
            <a:ext cx="1143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2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byte</a:t>
            </a:r>
            <a:endParaRPr lang="en-US" sz="1022" dirty="0"/>
          </a:p>
        </p:txBody>
      </p:sp>
      <p:sp>
        <p:nvSpPr>
          <p:cNvPr id="30" name="Text 28"/>
          <p:cNvSpPr txBox="1"/>
          <p:nvPr/>
        </p:nvSpPr>
        <p:spPr>
          <a:xfrm>
            <a:off x="6126480" y="4425696"/>
            <a:ext cx="5516575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2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console rifiuta ciò che non può eseguire</a:t>
            </a:r>
            <a:endParaRPr lang="en-US" sz="1222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4919472"/>
            <a:ext cx="822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022" dirty="0"/>
          </a:p>
        </p:txBody>
      </p:sp>
      <p:sp>
        <p:nvSpPr>
          <p:cNvPr id="32" name="Text 30"/>
          <p:cNvSpPr txBox="1"/>
          <p:nvPr/>
        </p:nvSpPr>
        <p:spPr>
          <a:xfrm>
            <a:off x="1508760" y="4919472"/>
            <a:ext cx="3291840" cy="429768"/>
          </a:xfrm>
          <a:prstGeom prst="rect">
            <a:avLst/>
          </a:prstGeom>
          <a:solidFill>
            <a:srgbClr val="0E7C86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2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codice e dati del gioco</a:t>
            </a:r>
            <a:endParaRPr lang="en-US" sz="1222" dirty="0"/>
          </a:p>
        </p:txBody>
      </p:sp>
      <p:sp>
        <p:nvSpPr>
          <p:cNvPr id="33" name="Text 31"/>
          <p:cNvSpPr txBox="1"/>
          <p:nvPr/>
        </p:nvSpPr>
        <p:spPr>
          <a:xfrm>
            <a:off x="4937760" y="4919472"/>
            <a:ext cx="1143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2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~3,4 KiB</a:t>
            </a:r>
            <a:endParaRPr lang="en-US" sz="1022" dirty="0"/>
          </a:p>
        </p:txBody>
      </p:sp>
      <p:sp>
        <p:nvSpPr>
          <p:cNvPr id="34" name="Text 32"/>
          <p:cNvSpPr txBox="1"/>
          <p:nvPr/>
        </p:nvSpPr>
        <p:spPr>
          <a:xfrm>
            <a:off x="6126480" y="4919472"/>
            <a:ext cx="5516575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2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istruzioni RISC-V che scriviamo oggi</a:t>
            </a:r>
            <a:endParaRPr lang="en-US" sz="1222" dirty="0"/>
          </a:p>
        </p:txBody>
      </p:sp>
      <p:sp>
        <p:nvSpPr>
          <p:cNvPr id="35" name="Shape 33"/>
          <p:cNvSpPr/>
          <p:nvPr/>
        </p:nvSpPr>
        <p:spPr>
          <a:xfrm>
            <a:off x="548640" y="5458968"/>
            <a:ext cx="11094415" cy="758952"/>
          </a:xfrm>
          <a:prstGeom prst="roundRect">
            <a:avLst>
              <a:gd name="adj" fmla="val 9639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22960" y="5532120"/>
            <a:ext cx="10545775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Intestazione: 100 byte. Prima di eseguire, la console controlla firma, CRC e compatibilità: una cartuccia incompatibile viene rifiutata, non eseguita.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Dove "gira" il gioco quando usiamo la scheda PRG32?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un server in Internet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210148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93028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033108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 processore RISC-V della scheda, come codice macchina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un programma Python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210148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93028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033108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Nello schermo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6FC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ciclo init, update, draw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Tutti i giochi PRG32 hanno la stessa forma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gioco è un ciclo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2430704" cy="1737360"/>
          </a:xfrm>
          <a:prstGeom prst="roundRect">
            <a:avLst>
              <a:gd name="adj" fmla="val 4211"/>
            </a:avLst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8368" y="210312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283464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volta sola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052496" y="2633472"/>
            <a:ext cx="310896" cy="310896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36544" y="1920240"/>
            <a:ext cx="2430704" cy="1737360"/>
          </a:xfrm>
          <a:prstGeom prst="roundRect">
            <a:avLst>
              <a:gd name="adj" fmla="val 4211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46272" y="210312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leggi i pulsanti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3546272" y="283464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vuole il giocatore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0400" y="2633472"/>
            <a:ext cx="310896" cy="310896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24448" y="1920240"/>
            <a:ext cx="2430704" cy="1737360"/>
          </a:xfrm>
          <a:prstGeom prst="roundRect">
            <a:avLst>
              <a:gd name="adj" fmla="val 4211"/>
            </a:avLst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34176" y="210312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434176" y="283464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 i numeri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828303" y="2633472"/>
            <a:ext cx="310896" cy="310896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212351" y="1920240"/>
            <a:ext cx="2430704" cy="1737360"/>
          </a:xfrm>
          <a:prstGeom prst="roundRect">
            <a:avLst>
              <a:gd name="adj" fmla="val 4211"/>
            </a:avLst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322079" y="210312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9322079" y="283464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disegna i numeri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4114800"/>
            <a:ext cx="11094415" cy="2103120"/>
          </a:xfrm>
          <a:prstGeom prst="roundRect">
            <a:avLst>
              <a:gd name="adj" fmla="val 347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68680" y="4251960"/>
            <a:ext cx="104543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Dopo init, la console chiama update e draw circa 30 volte al secondo. Ogni giro è un fotogramma. Come un cartone animato: tante immagini, una dopo l'altra.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Due compiti, mai mescolati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update: cambia lo stato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Legge i pulsanti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Sposta racchetta e pallina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Controlla gli urti, conta i punti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disegna nulla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278728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53048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draw: mostra lo stato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598768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 lo schermo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Disegna ogni oggetto dove dicono i numeri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cambia le regole del gioco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ricorda il fotogramma prima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stato: i numeri che il gioco ricorda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paddle_x: dove si trova la racchetta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522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44693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ball_x, ball_y: dove si trova la pallina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49117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430829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ball_dx, ball_dy: di quanto si sposta a ogni fotogramma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33011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4414723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bricks: quali mattoncini ci sono ancora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41690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539861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quanti ne abbiamo distrutti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schermo è una griglia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75488" y="1938528"/>
            <a:ext cx="5998464" cy="3803904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2011680"/>
            <a:ext cx="5852160" cy="36576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0116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8F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(0,0)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035808" y="5449824"/>
            <a:ext cx="877824" cy="109728"/>
          </a:xfrm>
          <a:prstGeom prst="rect">
            <a:avLst/>
          </a:prstGeom>
          <a:solidFill>
            <a:srgbClr val="00FCF8"/>
          </a:solidFill>
          <a:ln w="12700">
            <a:solidFill>
              <a:srgbClr val="00FC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035808" y="515721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F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x=136 y=188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19856" y="4206240"/>
            <a:ext cx="109728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18304" y="54132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(319,199)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77900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 x 200 game viewport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85800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589520" y="1463040"/>
            <a:ext cx="4053535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 pixel in orizzontale: la x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589520" y="2692908"/>
            <a:ext cx="405353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in verticale: la y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7589520" y="3922776"/>
            <a:ext cx="4053535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L'origine è in alto a sinistra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7589520" y="5152644"/>
            <a:ext cx="405353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y cresce verso il BASSO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colore in 16 bit: RGB565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15258" cy="4754880"/>
          </a:xfrm>
          <a:prstGeom prst="roundRect">
            <a:avLst>
              <a:gd name="adj" fmla="val 208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645920"/>
            <a:ext cx="25094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bit di rosso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296661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bit più a sinistra. Rosso pieno: 0xF800.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338218" y="1463040"/>
            <a:ext cx="3515258" cy="4754880"/>
          </a:xfrm>
          <a:prstGeom prst="roundRect">
            <a:avLst>
              <a:gd name="adj" fmla="val 208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66818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115458" y="1645920"/>
            <a:ext cx="25094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bit di verde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612538" y="2423160"/>
            <a:ext cx="296661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L'occhio è più sensibile al verde. Verde pieno: 0x07E0.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127797" y="1463040"/>
            <a:ext cx="3515258" cy="4754880"/>
          </a:xfrm>
          <a:prstGeom prst="roundRect">
            <a:avLst>
              <a:gd name="adj" fmla="val 208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56397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05037" y="1645920"/>
            <a:ext cx="25094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bit di blu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402117" y="2423160"/>
            <a:ext cx="296661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bit più a destra. Blu pieno: 0x001F.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pulsanti sono bit</a:t>
            </a:r>
            <a:endParaRPr lang="en-US" sz="30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3698138"/>
                <a:gridCol w="3698138"/>
                <a:gridCol w="369813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Pulsante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binario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SINISTRA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0000 0001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DESTRA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0000 0010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0000 0100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GIÙ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0000 1000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0001 0000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0010 0000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pallina è a y = 50. Aggiungiamo 10 a y. La pallina...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210148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93028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033108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scende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 a destra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210148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93028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033108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 ferma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Come lavoriamo: assembly RISC-V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Otto file, uno per passo: ogni file è un gioco completo che funziona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692908"/>
            <a:ext cx="10362895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ogni passo: leggiamo il codice nuovo, lo compiliamo, lo proviamo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922776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 cambiamo UNA cosa e guardiamo che succede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515264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comando: ./prova.sh asm NUMERO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6FC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Breakout in assembly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Otto passi, dallo schermo nero al gioco completo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parole dell'assembly che ci servono</a:t>
            </a:r>
            <a:endParaRPr lang="en-US" sz="30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5547208"/>
                <a:gridCol w="554720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Istruzione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 cosa fa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 a0, 5</a:t>
                      </a:r>
                      <a:endParaRPr lang="en-US" sz="2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mette il numero 5 nel registro a0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la t0, paddle_x</a:t>
                      </a:r>
                      <a:endParaRPr lang="en-US" sz="2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mette in t0 l'INDIRIZZO della variabile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lw t2, 0(t0)</a:t>
                      </a:r>
                      <a:endParaRPr lang="en-US" sz="2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carica in t2 il valore che sta a quell'indirizzo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addi t2, t2, 4</a:t>
                      </a:r>
                      <a:endParaRPr lang="en-US" sz="2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 = t2 + 4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sw t2, 0(t0)</a:t>
                      </a:r>
                      <a:endParaRPr lang="en-US" sz="2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memorizza t2 a quell'indirizzo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beqz t3, 1f</a:t>
                      </a:r>
                      <a:endParaRPr lang="en-US" sz="2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t3 è zero salta avanti all'etichetta 1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call f / ret</a:t>
                      </a:r>
                      <a:endParaRPr lang="en-US" sz="2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chiama la funzione f / torna indietro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Un'istruzione è un numero a 32 bit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64792"/>
            <a:ext cx="332030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31..20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48840"/>
            <a:ext cx="3320301" cy="1051560"/>
          </a:xfrm>
          <a:prstGeom prst="rect">
            <a:avLst/>
          </a:prstGeom>
          <a:solidFill>
            <a:srgbClr val="2E4A62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immediato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91840"/>
            <a:ext cx="332030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000000000100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977640"/>
            <a:ext cx="332030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bit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868941" y="1764792"/>
            <a:ext cx="19435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19..15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868941" y="2148840"/>
            <a:ext cx="1943529" cy="1051560"/>
          </a:xfrm>
          <a:prstGeom prst="rect">
            <a:avLst/>
          </a:prstGeom>
          <a:solidFill>
            <a:srgbClr val="0E7C86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868941" y="3291840"/>
            <a:ext cx="194352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00111 (t2)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868941" y="3977640"/>
            <a:ext cx="19435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bit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812469" y="1764792"/>
            <a:ext cx="155016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14..12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812469" y="2148840"/>
            <a:ext cx="1550165" cy="1051560"/>
          </a:xfrm>
          <a:prstGeom prst="rect">
            <a:avLst/>
          </a:prstGeom>
          <a:solidFill>
            <a:srgbClr val="6B4FA0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812469" y="3291840"/>
            <a:ext cx="155016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000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812469" y="3977640"/>
            <a:ext cx="155016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bit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362635" y="1764792"/>
            <a:ext cx="19435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11..7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362635" y="2148840"/>
            <a:ext cx="1943529" cy="1051560"/>
          </a:xfrm>
          <a:prstGeom prst="rect">
            <a:avLst/>
          </a:prstGeom>
          <a:solidFill>
            <a:srgbClr val="C7791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7362635" y="3291840"/>
            <a:ext cx="194352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00111 (t2)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362635" y="3977640"/>
            <a:ext cx="19435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bit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9306163" y="1764792"/>
            <a:ext cx="23368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6..0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9306163" y="2148840"/>
            <a:ext cx="2336892" cy="1051560"/>
          </a:xfrm>
          <a:prstGeom prst="rect">
            <a:avLst/>
          </a:prstGeom>
          <a:solidFill>
            <a:srgbClr val="2F7D4F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opcode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9306163" y="3291840"/>
            <a:ext cx="23368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0010011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306163" y="3977640"/>
            <a:ext cx="23368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bit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480560"/>
            <a:ext cx="11094415" cy="1737360"/>
          </a:xfrm>
          <a:prstGeom prst="roundRect">
            <a:avLst>
              <a:gd name="adj" fmla="val 421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2960" y="4590288"/>
            <a:ext cx="10545775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 t2, t2, 4 nella forma a 32 bit è il numero 0x00438393 (ne esiste anche una forma compressa a 16 bit). L'assemblatore traduce le parole in numeri; il processore legge i campi e sa cosa fare.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 1: lo scheletro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08660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6294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breakout_draw: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-16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ra, 12(sp)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a0, BLACK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prg32_gfx_clear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prima si cancella, poi si disegna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ra, 12(sp)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16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863840" y="1417320"/>
            <a:ext cx="3824935" cy="2424875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pic>
        <p:nvPicPr>
          <p:cNvPr id="6" name="Image 0" descr="Tre funzioni. init e update tornano subito; draw cancella lo schermo. Salviamo ra perché facciamo una call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0" y="1463040"/>
            <a:ext cx="3733495" cy="233343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909560" y="3887915"/>
            <a:ext cx="37334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Schermata vera: questo passo, compilato ed eseguito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909560" y="4207955"/>
            <a:ext cx="3733495" cy="2009965"/>
          </a:xfrm>
          <a:prstGeom prst="roundRect">
            <a:avLst>
              <a:gd name="adj" fmla="val 3639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92440" y="4317683"/>
            <a:ext cx="3367735" cy="179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 funzioni. init e update tornano subito; draw cancella lo schermo. Salviamo ra perché facciamo una call.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 il passo 1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 asm/passo1_scheletro.S e trova le tre etichette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234440" y="2688336"/>
            <a:ext cx="6537960" cy="470154"/>
          </a:xfrm>
          <a:prstGeom prst="roundRect">
            <a:avLst>
              <a:gd name="adj" fmla="val 15559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417320" y="2798064"/>
            <a:ext cx="6172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./prova.sh asm 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3913632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 BLACK in 0x001F (blu) nella riga .equ e riprova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513892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Rimetti 0x0000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092440" y="1463040"/>
            <a:ext cx="3550615" cy="731520"/>
          </a:xfrm>
          <a:prstGeom prst="roundRect">
            <a:avLst>
              <a:gd name="adj" fmla="val 100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1463040"/>
            <a:ext cx="3093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 1  |  circa 4 min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092440" y="2377440"/>
            <a:ext cx="3550615" cy="3840480"/>
          </a:xfrm>
          <a:prstGeom prst="roundRect">
            <a:avLst>
              <a:gd name="adj" fmla="val 2060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46888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Risultato atteso</a:t>
            </a:r>
            <a:endParaRPr lang="en-US" sz="1400" dirty="0"/>
          </a:p>
        </p:txBody>
      </p:sp>
      <p:pic>
        <p:nvPicPr>
          <p:cNvPr id="16" name="Image 0" descr="Uno schermo nero; poi blu. Il gioco non fa ancora nulla, ma la console sta già chiamando le nostre tre funzioni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2834640"/>
            <a:ext cx="3093415" cy="1933385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8321040" y="4859465"/>
            <a:ext cx="3093415" cy="12487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 schermo nero; poi blu. Il gioco non fa ancora nulla, ma la console sta già chiamando le nostre tre funzioni.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 2: la racchetta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08660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6294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--- racchetta: prg32_gfx_rect(x, y, w, h, colore)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paddle_x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a0, 0(t0)              </a:t>
            </a:r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a0 = x, letta dalla memoria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a1, PADDLE_Y           </a:t>
            </a:r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a1 = 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a2, PADDLE_W           </a:t>
            </a:r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a2 = larghezza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a3, PADDLE_H           </a:t>
            </a:r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a3 = altezza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a4, CYAN               </a:t>
            </a:r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a4 = colore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prg32_gfx_rect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863840" y="1417320"/>
            <a:ext cx="3824935" cy="2424875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pic>
        <p:nvPicPr>
          <p:cNvPr id="6" name="Image 0" descr="Cinque argomenti in cinque registri: x, y, larghezza, altezza, colore. La x arriva dalla memoria: è stato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0" y="1463040"/>
            <a:ext cx="3733495" cy="233343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909560" y="3887915"/>
            <a:ext cx="37334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Schermata vera: questo passo, compilato ed eseguito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909560" y="4207955"/>
            <a:ext cx="3733495" cy="2009965"/>
          </a:xfrm>
          <a:prstGeom prst="roundRect">
            <a:avLst>
              <a:gd name="adj" fmla="val 3639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92440" y="4317683"/>
            <a:ext cx="3367735" cy="179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Cinque argomenti in cinque registri: x, y, larghezza, altezza, colore. La x arriva dalla memoria: è stato.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stato vive in memoria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.section .data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paddle_x: .word 136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0" y="1463040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6276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600200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parola di 32 bit con un nome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0" y="3115056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32796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3252216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 iniziale: 136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229600" y="4767072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493166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4904232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136 + 48/2 = 160: la racchetta è al centro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 il passo 2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34440" y="1463040"/>
            <a:ext cx="6537960" cy="470154"/>
          </a:xfrm>
          <a:prstGeom prst="roundRect">
            <a:avLst>
              <a:gd name="adj" fmla="val 15559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17320" y="1572768"/>
            <a:ext cx="6172200" cy="1304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./prova.sh asm 2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11505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3096768"/>
            <a:ext cx="6446520" cy="1487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 il valore iniziale di paddle_x in 0, poi in 272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74878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473049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 PADDLE_W in 96: che succede con x = 272?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8092440" y="1463040"/>
            <a:ext cx="3550615" cy="731520"/>
          </a:xfrm>
          <a:prstGeom prst="roundRect">
            <a:avLst>
              <a:gd name="adj" fmla="val 100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21040" y="1463040"/>
            <a:ext cx="3093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 2  |  circa 4 min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092440" y="2377440"/>
            <a:ext cx="3550615" cy="3840480"/>
          </a:xfrm>
          <a:prstGeom prst="roundRect">
            <a:avLst>
              <a:gd name="adj" fmla="val 2060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246888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Risultato atteso</a:t>
            </a:r>
            <a:endParaRPr lang="en-US" sz="1400" dirty="0"/>
          </a:p>
        </p:txBody>
      </p:sp>
      <p:pic>
        <p:nvPicPr>
          <p:cNvPr id="14" name="Image 0" descr="Una racchetta ciano in basso. Con x = 272 e larghezza 96 esce dallo schermo: nessuno glielo impedisce, per ora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2834640"/>
            <a:ext cx="3093415" cy="1933385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8321040" y="4859465"/>
            <a:ext cx="3093415" cy="12487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racchetta ciano in basso. Con x = 272 e larghezza 96 esce dallo schermo: nessuno glielo impedisce, per ora.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 3: i pulsanti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08660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6294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--- racchetta: leggi i pulsanti, muovi, resta nello schermo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prg32_input_read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a0 = maschera dei pulsanti premuti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t1, paddle_x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t2, 0(t1)   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t2 = paddle_x (carica)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andi t3, a0, BTN_LEFT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isola il bit SINISTRA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beqz t3, 1f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t2, t2, -PADDLE_SPEED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  andi t3, a0, BTN_RIGHT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isola il bit DESTRA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beqz t3, 2f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t2, t2, PADDLE_SPEED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  bgez t2, 3f      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x &lt; 0 ?  allora x = 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t2, 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3:  li   t3, PADDLE_MAX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ble  t2, t3, 4f  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x &gt; 272 ?  allora x = 272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mv   t2, t3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863840" y="1417320"/>
            <a:ext cx="3824935" cy="2424875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pic>
        <p:nvPicPr>
          <p:cNvPr id="6" name="Image 0" descr="Carica, calcola, memorizza. andi isola un bit, beqz salta se è zero. Poi due controlli tengono x tra 0 e 272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0" y="1463040"/>
            <a:ext cx="3733495" cy="233343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909560" y="3887915"/>
            <a:ext cx="37334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Schermata vera: questo passo, compilato ed eseguito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909560" y="4207955"/>
            <a:ext cx="3733495" cy="2009965"/>
          </a:xfrm>
          <a:prstGeom prst="roundRect">
            <a:avLst>
              <a:gd name="adj" fmla="val 3639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92440" y="4317683"/>
            <a:ext cx="3367735" cy="179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Carica, calcola, memorizza. andi isola un bit, beqz salta se è zero. Poi due controlli tengono x tra 0 e 272.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 il passo 3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34440" y="1463040"/>
            <a:ext cx="6537960" cy="470154"/>
          </a:xfrm>
          <a:prstGeom prst="roundRect">
            <a:avLst>
              <a:gd name="adj" fmla="val 15559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17320" y="1572768"/>
            <a:ext cx="6172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./prova.sh asm 3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688336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Tieni premuto DESTRA finché la racchetta si ferma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3913632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 PADDLE_SPEED da 4 a 12 e riprova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513892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Togli le due righe dopo l'etichetta 2: e ora?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092440" y="1463040"/>
            <a:ext cx="3550615" cy="731520"/>
          </a:xfrm>
          <a:prstGeom prst="roundRect">
            <a:avLst>
              <a:gd name="adj" fmla="val 100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1463040"/>
            <a:ext cx="3093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 3  |  circa 5 min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092440" y="2377440"/>
            <a:ext cx="3550615" cy="3840480"/>
          </a:xfrm>
          <a:prstGeom prst="roundRect">
            <a:avLst>
              <a:gd name="adj" fmla="val 2060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46888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Risultato atteso</a:t>
            </a:r>
            <a:endParaRPr lang="en-US" sz="1400" dirty="0"/>
          </a:p>
        </p:txBody>
      </p:sp>
      <p:pic>
        <p:nvPicPr>
          <p:cNvPr id="16" name="Image 0" descr="La racchetta segue i tasti e si ferma al bordo (schermata: DESTRA tenuto per 40 fotogrammi). Senza il controllo esce a sinistra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2834640"/>
            <a:ext cx="3093415" cy="1933385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8321040" y="4859465"/>
            <a:ext cx="3093415" cy="12487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racchetta segue i tasti e si ferma al bordo (schermata: DESTRA tenuto per 40 fotogrammi). Senza il controllo esce a sinistra.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a0 vale 18 (binario 0001 0010). Quali pulsanti sono premuti?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SINISTRA e DESTRA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210148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93028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033108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DESTRA e A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e B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210148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93028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033108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A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 4: la pallina si muove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08660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6294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--- pallina: x = x + dx, rimbalzo sui muri laterali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t1, ball_x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t2, 0(t1)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t3, ball_dx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t4, 0(t3)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  t2, t2, t4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bgez t2, 5f                 </a:t>
            </a:r>
            <a:pPr indent="0" marL="0">
              <a:buNone/>
            </a:pPr>
            <a:r>
              <a:rPr lang="en-US" sz="14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muro sinistro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t2, 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neg  t4, t4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5:  li   t5, BALL_MAX_X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ble  t2, t5, 6f             </a:t>
            </a:r>
            <a:pPr indent="0" marL="0">
              <a:buNone/>
            </a:pPr>
            <a:r>
              <a:rPr lang="en-US" sz="14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muro destro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mv   t2, t5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neg  t4, t4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6:  sw   t2, 0(t1)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863840" y="1417320"/>
            <a:ext cx="3824935" cy="2424875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pic>
        <p:nvPicPr>
          <p:cNvPr id="6" name="Image 0" descr="Posizione più velocità. Ai muri: rimetti la pallina sul bordo e cambia segno alla velocità con neg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0" y="1463040"/>
            <a:ext cx="3733495" cy="233343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909560" y="3887915"/>
            <a:ext cx="37334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Schermata vera: questo passo, compilato ed eseguito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909560" y="4207955"/>
            <a:ext cx="3733495" cy="2009965"/>
          </a:xfrm>
          <a:prstGeom prst="roundRect">
            <a:avLst>
              <a:gd name="adj" fmla="val 3639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92440" y="4317683"/>
            <a:ext cx="3367735" cy="179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Posizione più velocità. Ai muri: rimetti la pallina sul bordo e cambia segno alla velocità con neg.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 4: il soffitto e il fondo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--- pallina: y = y + dy, rimbalzo sul soffitto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t1, ball_y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t2, 0(t1)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t3, ball_dy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t4, 0(t3)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  t2, t2, t4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bgez t2, 7f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t2, 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neg  t4, t4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7:  sw   t2, 0(t1)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t4, 0(t3)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t5, SCREEN_H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blt  t2, t5, 8f             </a:t>
            </a:r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pallina ancora in campo?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reset_ball             </a:t>
            </a:r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persa: si ricomincia dal centro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0" y="1463040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6276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600200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soffitto fa rimbalzare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0" y="3115056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32796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3252216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Sotto y = 200 la pallina è persa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229600" y="4767072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493166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4904232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reset_ball la rimette al centro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 il passo 4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34440" y="1463040"/>
            <a:ext cx="6537960" cy="470154"/>
          </a:xfrm>
          <a:prstGeom prst="roundRect">
            <a:avLst>
              <a:gd name="adj" fmla="val 15559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17320" y="1572768"/>
            <a:ext cx="6172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./prova.sh asm 4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68833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dove rimbalza e dove no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3913632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reset_ball cambia la velocità: dx = 3, dy = -1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513892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 dx = 0: che traiettoria fa?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092440" y="1463040"/>
            <a:ext cx="3550615" cy="731520"/>
          </a:xfrm>
          <a:prstGeom prst="roundRect">
            <a:avLst>
              <a:gd name="adj" fmla="val 100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1463040"/>
            <a:ext cx="3093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 4  |  circa 5 min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092440" y="2377440"/>
            <a:ext cx="3550615" cy="3840480"/>
          </a:xfrm>
          <a:prstGeom prst="roundRect">
            <a:avLst>
              <a:gd name="adj" fmla="val 2060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46888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Risultato atteso</a:t>
            </a:r>
            <a:endParaRPr lang="en-US" sz="1400" dirty="0"/>
          </a:p>
        </p:txBody>
      </p:sp>
      <p:pic>
        <p:nvPicPr>
          <p:cNvPr id="16" name="Image 0" descr="La pallina rimbalza su tre lati, attraversa la racchetta e ricomincia dal centro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2834640"/>
            <a:ext cx="3093415" cy="1933385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8321040" y="4859465"/>
            <a:ext cx="3093415" cy="12487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pallina rimbalza su tre lati, attraversa la racchetta e ricomincia dal centro.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 5: l'urto con la racchetta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08660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6294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--- la pallina tocca la racchetta?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ball_x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a0, 0(t0)              </a:t>
            </a:r>
            <a:pPr indent="0" marL="0">
              <a:buNone/>
            </a:pPr>
            <a:r>
              <a:rPr lang="en-US" sz="11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a0..a3 = rettangolo della pallina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ball_y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a1, 0(t0)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a2, BALL_SIZE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a3, BALL_SIZE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paddle_x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a4, 0(t0)              </a:t>
            </a:r>
            <a:pPr indent="0" marL="0">
              <a:buNone/>
            </a:pPr>
            <a:r>
              <a:rPr lang="en-US" sz="11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a4..a7 = rettangolo della racchetta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a5, PADDLE_Y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a6, PADDLE_W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a7, PADDLE_H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prg32_sprite_hitbox    </a:t>
            </a:r>
            <a:pPr indent="0" marL="0">
              <a:buNone/>
            </a:pPr>
            <a:r>
              <a:rPr lang="en-US" sz="11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a0 != 0 se i due rettangoli si toccano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beqz a0, no_paddle_hit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ball_dy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t1, 0(t0)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blez t1, no_paddle_hit      </a:t>
            </a:r>
            <a:pPr indent="0" marL="0">
              <a:buNone/>
            </a:pPr>
            <a:r>
              <a:rPr lang="en-US" sz="11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rimbalza solo se sta scendendo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neg  t1, t1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t1, 0(t0)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863840" y="1417320"/>
            <a:ext cx="3824935" cy="2424875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pic>
        <p:nvPicPr>
          <p:cNvPr id="6" name="Image 0" descr="Otto argomenti: il rettangolo della pallina in a0-a3, quello della racchetta in a4-a7. La risposta torna in a0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0" y="1463040"/>
            <a:ext cx="3733495" cy="233343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909560" y="3887915"/>
            <a:ext cx="37334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Schermata vera: questo passo, compilato ed eseguito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909560" y="4207955"/>
            <a:ext cx="3733495" cy="2009965"/>
          </a:xfrm>
          <a:prstGeom prst="roundRect">
            <a:avLst>
              <a:gd name="adj" fmla="val 3639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92440" y="4317683"/>
            <a:ext cx="3367735" cy="179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Otto argomenti: il rettangolo della pallina in a0-a3, quello della racchetta in a4-a7. La risposta torna in a0.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Perché "solo se sta scendendo"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pallina può restare sovrapposta alla racchetta per più fotogrammi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69290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invertissimo la velocità ogni volta, tremerebbe sul posto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922776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blez t1 salta l'inversione se dy è già negativa (sta salendo)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515264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urto, un rimbalzo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 il passo 5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34440" y="1463040"/>
            <a:ext cx="6537960" cy="470154"/>
          </a:xfrm>
          <a:prstGeom prst="roundRect">
            <a:avLst>
              <a:gd name="adj" fmla="val 15559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17320" y="1572768"/>
            <a:ext cx="6172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./prova.sh asm 5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68833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Tieni viva la pallina per cinque rimbalzi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3913632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 la riga con blez e colpisci la pallina di lato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513892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Rimetti la riga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092440" y="1463040"/>
            <a:ext cx="3550615" cy="731520"/>
          </a:xfrm>
          <a:prstGeom prst="roundRect">
            <a:avLst>
              <a:gd name="adj" fmla="val 100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1463040"/>
            <a:ext cx="3093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 5  |  circa 5 min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092440" y="2377440"/>
            <a:ext cx="3550615" cy="3840480"/>
          </a:xfrm>
          <a:prstGeom prst="roundRect">
            <a:avLst>
              <a:gd name="adj" fmla="val 2060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46888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Risultato atteso</a:t>
            </a:r>
            <a:endParaRPr lang="en-US" sz="1400" dirty="0"/>
          </a:p>
        </p:txBody>
      </p:sp>
      <p:pic>
        <p:nvPicPr>
          <p:cNvPr id="16" name="Image 0" descr="Ora si gioca: la racchetta rimanda la pallina verso l'alto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2834640"/>
            <a:ext cx="3093415" cy="1933385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8321040" y="4859465"/>
            <a:ext cx="3093415" cy="12487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 si gioca: la racchetta rimanda la pallina verso l'alto.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 6: sedici mattoncini, un ciclo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08660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6294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--- mattoncini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s0, 0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draw_brick_loop: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bricks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  t0, t0, s0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lbu  t1, 0(t0)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beqz t1, draw_brick_next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distrutto: non si disegna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andi t2, s0, 7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t3, BRICK_PITCH_X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mul  a0, t2, t3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a0, a0, 2     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a0 = x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srli t2, s0, 3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t3, BRICK_PITCH_Y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mul  a1, t2, t3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a1, a1, BRICK_TOP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a1 = y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a2, BRICK_W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a3, BRICK_H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a4, RED       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riga 0 rossa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beqz t2, 1f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a4, YELLOW    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riga 1 gialla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  call prg32_gfx_rect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863840" y="1417320"/>
            <a:ext cx="3824935" cy="2424875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pic>
        <p:nvPicPr>
          <p:cNvPr id="6" name="Image 0" descr="s0 conta da 0 a 15. Colonna = indice AND 7, riga = indice diviso 8. s0 sopravvive alle call: per questo lo salviamo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0" y="1463040"/>
            <a:ext cx="3733495" cy="233343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909560" y="3887915"/>
            <a:ext cx="37334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Schermata vera: questo passo, compilato ed eseguito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909560" y="4207955"/>
            <a:ext cx="3733495" cy="2009965"/>
          </a:xfrm>
          <a:prstGeom prst="roundRect">
            <a:avLst>
              <a:gd name="adj" fmla="val 3639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92440" y="4317683"/>
            <a:ext cx="3367735" cy="179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 conta da 0 a 15. Colonna = indice AND 7, riga = indice diviso 8. s0 sopravvive alle call: per questo lo salviamo.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indice, due coordinate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6492240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mattoncini in fila nella memoria: un byte ciascuno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522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446934"/>
            <a:ext cx="6492240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colonna = indice AND 7: gli ultimi tre bit (0..7)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49117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430829"/>
            <a:ext cx="6492240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riga = indice spostato a destra di 3 bit (0..1)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33011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4414723"/>
            <a:ext cx="6492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2 + colonna x 40, y = 24 + riga x 14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41690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5398618"/>
            <a:ext cx="6492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potenze di due, dividere è spostare bit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8229600" y="1463040"/>
            <a:ext cx="3413455" cy="4754880"/>
          </a:xfrm>
          <a:prstGeom prst="roundRect">
            <a:avLst>
              <a:gd name="adj" fmla="val 2143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12480" y="2286000"/>
            <a:ext cx="30449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 = 1101</a:t>
            </a:r>
            <a:endParaRPr lang="en-US" sz="5900" dirty="0"/>
          </a:p>
        </p:txBody>
      </p:sp>
      <p:sp>
        <p:nvSpPr>
          <p:cNvPr id="15" name="Text 13"/>
          <p:cNvSpPr txBox="1"/>
          <p:nvPr/>
        </p:nvSpPr>
        <p:spPr>
          <a:xfrm>
            <a:off x="8503920" y="4297680"/>
            <a:ext cx="28620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riga 1, colonna 5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 il passo 6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34440" y="1463040"/>
            <a:ext cx="6537960" cy="470154"/>
          </a:xfrm>
          <a:prstGeom prst="roundRect">
            <a:avLst>
              <a:gd name="adj" fmla="val 15559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17320" y="1572768"/>
            <a:ext cx="6172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./prova.sh asm 6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68833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 YELLOW con CYAN nel ciclo di disegno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3913632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 BRICK_PITCH_Y in 20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513892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pallina li attraversa: perché?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092440" y="1463040"/>
            <a:ext cx="3550615" cy="731520"/>
          </a:xfrm>
          <a:prstGeom prst="roundRect">
            <a:avLst>
              <a:gd name="adj" fmla="val 100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1463040"/>
            <a:ext cx="3093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 6  |  circa 4 min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092440" y="2377440"/>
            <a:ext cx="3550615" cy="3840480"/>
          </a:xfrm>
          <a:prstGeom prst="roundRect">
            <a:avLst>
              <a:gd name="adj" fmla="val 2060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46888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Risultato atteso</a:t>
            </a:r>
            <a:endParaRPr lang="en-US" sz="1400" dirty="0"/>
          </a:p>
        </p:txBody>
      </p:sp>
      <p:pic>
        <p:nvPicPr>
          <p:cNvPr id="16" name="Image 0" descr="Due righe di mattoncini, rossa e gialla. Sono solo disegnati: manca ancora la regola dell'urto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2834640"/>
            <a:ext cx="3093415" cy="1933385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8321040" y="4859465"/>
            <a:ext cx="3093415" cy="12487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righe di mattoncini, rossa e gialla. Sono solo disegnati: manca ancora la regola dell'urto.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 7: colpire i mattoncini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08660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6294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--- la pallina tocca un mattoncino?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s0, 0       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s0 = indice del mattoncino (0..15)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brick_loop: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bricks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  t0, t0, s0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lbu  t1, 0(t0)   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 = presente, 0 = distrutto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beqz t1, brick_next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ball_x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a0, 0(t0)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ball_y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a1, 0(t0)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a2, BALL_SIZE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a3, BALL_SIZE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andi t2, s0, 7   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colonna = indice AND 7   (0..7)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t3, BRICK_PITCH_X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mul  a4, t2, t3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a4, a4, 2   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x = 2 + colonna * 40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srli t2, s0, 3   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riga = indice / 8        (0..1)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t3, BRICK_PITCH_Y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mul  a5, t2, t3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a5, a5, BRICK_TOP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y = 24 + riga * 14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a6, BRICK_W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863840" y="1417320"/>
            <a:ext cx="3824935" cy="2424875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pic>
        <p:nvPicPr>
          <p:cNvPr id="6" name="Image 0" descr="Lo stesso ciclo, ma con prg32_sprite_hitbox: per ogni mattoncino presente, la pallina lo tocca?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0" y="1463040"/>
            <a:ext cx="3733495" cy="233343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909560" y="3887915"/>
            <a:ext cx="37334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Schermata vera: questo passo, compilato ed eseguito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909560" y="4207955"/>
            <a:ext cx="3733495" cy="2009965"/>
          </a:xfrm>
          <a:prstGeom prst="roundRect">
            <a:avLst>
              <a:gd name="adj" fmla="val 3639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92440" y="4317683"/>
            <a:ext cx="3367735" cy="179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stesso ciclo, ma con prg32_sprite_hitbox: per ogni mattoncino presente, la pallina lo tocca?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 7: quando lo colpisce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sb   zero, 0(t0)            </a:t>
            </a:r>
            <a:pPr indent="0" marL="0">
              <a:buNone/>
            </a:pPr>
            <a:r>
              <a:rPr lang="en-US" sz="11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il mattoncino sparisce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ball_dy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t1, 0(t0)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neg  t1, t1                 </a:t>
            </a:r>
            <a:pPr indent="0" marL="0">
              <a:buNone/>
            </a:pPr>
            <a:r>
              <a:rPr lang="en-US" sz="11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la pallina torna indietro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t1, 0(t0)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score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t1, 0(t0)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t1, t1, 1              </a:t>
            </a:r>
            <a:pPr indent="0" marL="0">
              <a:buNone/>
            </a:pPr>
            <a:r>
              <a:rPr lang="en-US" sz="11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un punto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t1, 0(t0)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a0, 0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a1, 0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a2, 76                 </a:t>
            </a:r>
            <a:pPr indent="0" marL="0">
              <a:buNone/>
            </a:pPr>
            <a:r>
              <a:rPr lang="en-US" sz="11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nota MIDI 76 = Mi acuto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a3, 255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a4, 40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prg32_audio_note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    bricks_done            </a:t>
            </a:r>
            <a:pPr indent="0" marL="0">
              <a:buNone/>
            </a:pPr>
            <a:r>
              <a:rPr lang="en-US" sz="11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al massimo un mattoncino per fotogramma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229600" y="1463040"/>
            <a:ext cx="3413455" cy="790042"/>
          </a:xfrm>
          <a:prstGeom prst="roundRect">
            <a:avLst>
              <a:gd name="adj" fmla="val 9259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6276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600200"/>
            <a:ext cx="2544775" cy="515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 scrive un byte: 0 = distrutto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0" y="2454250"/>
            <a:ext cx="3413455" cy="790042"/>
          </a:xfrm>
          <a:prstGeom prst="roundRect">
            <a:avLst>
              <a:gd name="adj" fmla="val 9259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261884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2591410"/>
            <a:ext cx="2544775" cy="515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pallina inverte dy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29600" y="3445459"/>
            <a:ext cx="3413455" cy="790042"/>
          </a:xfrm>
          <a:prstGeom prst="roundRect">
            <a:avLst>
              <a:gd name="adj" fmla="val 9259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3610051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3582619"/>
            <a:ext cx="2544775" cy="515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cresce di 1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29600" y="4436669"/>
            <a:ext cx="3413455" cy="790042"/>
          </a:xfrm>
          <a:prstGeom prst="roundRect">
            <a:avLst>
              <a:gd name="adj" fmla="val 9259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94192" y="4601261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915400" y="4573829"/>
            <a:ext cx="2544775" cy="515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nota: cinque argomenti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229600" y="5427878"/>
            <a:ext cx="3413455" cy="790042"/>
          </a:xfrm>
          <a:prstGeom prst="roundRect">
            <a:avLst>
              <a:gd name="adj" fmla="val 9259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94192" y="559247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915400" y="5565038"/>
            <a:ext cx="2544775" cy="515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 esce dal ciclo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 il passo 7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34440" y="1463040"/>
            <a:ext cx="6537960" cy="470154"/>
          </a:xfrm>
          <a:prstGeom prst="roundRect">
            <a:avLst>
              <a:gd name="adj" fmla="val 15559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17320" y="1572768"/>
            <a:ext cx="6172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./prova.sh asm 7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688336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Distruggi quattro mattoncini e guarda la barra verde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3913632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 la nota 76 in 84: più acuta o più grave?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513892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 slli a2, t1, 3 in slli a2, t1, 4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092440" y="1463040"/>
            <a:ext cx="3550615" cy="731520"/>
          </a:xfrm>
          <a:prstGeom prst="roundRect">
            <a:avLst>
              <a:gd name="adj" fmla="val 100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1463040"/>
            <a:ext cx="3093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 7  |  circa 5 min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092440" y="2377440"/>
            <a:ext cx="3550615" cy="3840480"/>
          </a:xfrm>
          <a:prstGeom prst="roundRect">
            <a:avLst>
              <a:gd name="adj" fmla="val 2060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46888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Risultato atteso</a:t>
            </a:r>
            <a:endParaRPr lang="en-US" sz="1400" dirty="0"/>
          </a:p>
        </p:txBody>
      </p:sp>
      <p:pic>
        <p:nvPicPr>
          <p:cNvPr id="16" name="Image 0" descr="I mattoncini spariscono, la barra verde cresce di 8 pixel per punto, ogni urto suona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2834640"/>
            <a:ext cx="3093415" cy="1933385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8321040" y="4859465"/>
            <a:ext cx="3093415" cy="12487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mattoncini spariscono, la barra verde cresce di 8 pixel per punto, ogni urto suona.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 8: vittoria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08660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6294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--- vittoria: tutti i mattoncini distrutti -&gt; nuova partita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score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t1, 0(t0)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t2, BRICK_COUNT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blt  t1, t2, update_end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breakout_init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update_end: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863840" y="1417320"/>
            <a:ext cx="3824935" cy="2424875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pic>
        <p:nvPicPr>
          <p:cNvPr id="6" name="Image 0" descr="Se score è arrivato a 16 richiamiamo init: mattoncini, pallina e punteggio tornano come all'inizio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0" y="1463040"/>
            <a:ext cx="3733495" cy="233343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909560" y="3887915"/>
            <a:ext cx="37334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Schermata vera: questo passo, compilato ed eseguito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909560" y="4207955"/>
            <a:ext cx="3733495" cy="2009965"/>
          </a:xfrm>
          <a:prstGeom prst="roundRect">
            <a:avLst>
              <a:gd name="adj" fmla="val 3639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92440" y="4317683"/>
            <a:ext cx="3367735" cy="179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score è arrivato a 16 richiamiamo init: mattoncini, pallina e punteggio tornano come all'inizio.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 il passo 8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34440" y="1463040"/>
            <a:ext cx="6537960" cy="470154"/>
          </a:xfrm>
          <a:prstGeom prst="roundRect">
            <a:avLst>
              <a:gd name="adj" fmla="val 15559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17320" y="1572768"/>
            <a:ext cx="6172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./prova.sh asm 8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688336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vincere in fretta: nel blocco vittoria cambia li t2, BRICK_COUNT in li t2, 3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3913632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Distruggi tre mattoncini: il muro ricompare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513892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Rimetti BRICK_COUNT e gioca una partita vera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092440" y="1463040"/>
            <a:ext cx="3550615" cy="731520"/>
          </a:xfrm>
          <a:prstGeom prst="roundRect">
            <a:avLst>
              <a:gd name="adj" fmla="val 100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1463040"/>
            <a:ext cx="3093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 8  |  circa 5 min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092440" y="2377440"/>
            <a:ext cx="3550615" cy="3840480"/>
          </a:xfrm>
          <a:prstGeom prst="roundRect">
            <a:avLst>
              <a:gd name="adj" fmla="val 2060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46888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Risultato atteso</a:t>
            </a:r>
            <a:endParaRPr lang="en-US" sz="1400" dirty="0"/>
          </a:p>
        </p:txBody>
      </p:sp>
      <p:pic>
        <p:nvPicPr>
          <p:cNvPr id="16" name="Image 0" descr="Il gioco completo: 307 righe di assembly, circa 3,5 KiB di cartuccia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2834640"/>
            <a:ext cx="3093415" cy="1933385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8321040" y="4859465"/>
            <a:ext cx="3093415" cy="12487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gioco completo: 307 righe di assembly, circa 3,5 KiB di cartuccia.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6FC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Sfide finali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Adesso il gioco è vostro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Scegline una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6459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Più difficile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Racchetta più stretta, pallina più veloce. Attenzione: la larghezza compare in più punti.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233008" y="14630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61608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010248" y="16459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Più colorato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507328" y="24231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 i colori usando RGB565: prova 0xF81F e 0xFD20.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42062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41605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 vite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9377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variabile lives: si perde una vita quando la pallina cade. A zero si ricomincia.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233008" y="39776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61608" y="42062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010248" y="41605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Più mattoncini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507328" y="49377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terza riga: cambia BRICK_COUNT e controlla dove si usa il numero 16.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 cosa abbiamo imparato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gioco è stato + regole + disegno, ripetuti a ogni fotogramma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522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44693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schermo è una griglia, i colori e i pulsanti sono bit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49117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430829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urto è un confronto tra rettangoli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33011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4414723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assembly ogni cosa è: carica, calcola, memorizza, salta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41690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539861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processore che lo esegue è aperto: RISC-V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stesso gioco, a tre altezze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2430704" cy="1737360"/>
          </a:xfrm>
          <a:prstGeom prst="roundRect">
            <a:avLst>
              <a:gd name="adj" fmla="val 4211"/>
            </a:avLst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8368" y="210312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Blocchi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283464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button LEFT pressed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052496" y="2633472"/>
            <a:ext cx="310896" cy="310896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36544" y="1920240"/>
            <a:ext cx="2430704" cy="1737360"/>
          </a:xfrm>
          <a:prstGeom prst="roundRect">
            <a:avLst>
              <a:gd name="adj" fmla="val 4211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46272" y="210312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3546272" y="283464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(input &amp; PRG32_BTN_LEFT)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0400" y="2633472"/>
            <a:ext cx="310896" cy="310896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24448" y="1920240"/>
            <a:ext cx="2430704" cy="1737360"/>
          </a:xfrm>
          <a:prstGeom prst="roundRect">
            <a:avLst>
              <a:gd name="adj" fmla="val 4211"/>
            </a:avLst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34176" y="210312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434176" y="283464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andi t3, a0, 1 / beqz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828303" y="2633472"/>
            <a:ext cx="310896" cy="310896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212351" y="1920240"/>
            <a:ext cx="2430704" cy="1737360"/>
          </a:xfrm>
          <a:prstGeom prst="roundRect">
            <a:avLst>
              <a:gd name="adj" fmla="val 4211"/>
            </a:avLst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322079" y="210312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Codice macchina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9322079" y="283464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bit per istruzione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4114800"/>
            <a:ext cx="11094415" cy="2103120"/>
          </a:xfrm>
          <a:prstGeom prst="roundRect">
            <a:avLst>
              <a:gd name="adj" fmla="val 347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68680" y="4251960"/>
            <a:ext cx="104543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Nella cartella del laboratorio ci sono tutte e tre le versioni, passo per passo. Sono lo stesso gioco: provate a confrontarle.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adesso?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continuare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Gioca e modifica: tutti i passi sono nella cartella del laboratorio</a:t>
            </a:r>
            <a:endParaRPr lang="en-US" sz="20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 le altre due versioni dello stesso gioco: assembly, C, blocchi</a:t>
            </a:r>
            <a:endParaRPr lang="en-US" sz="20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Pubblica il tuo gioco sul Cartridge Store (con un docente come editor)</a:t>
            </a:r>
            <a:endParaRPr lang="en-US" sz="20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Costruisci la tua PRG32: una scheda ESP32-C6, uno schermo, un joystick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278728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53048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Dove trovare tutto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598768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PRG32: github.com/riscv-prg32/PRG32</a:t>
            </a:r>
            <a:endParaRPr lang="en-US" sz="18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Cartridge Store: store.prg32.uniparthenope.it</a:t>
            </a:r>
            <a:endParaRPr lang="en-US" sz="18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Kit e PRG32-QT: github.com/riscv-prg32</a:t>
            </a:r>
            <a:endParaRPr lang="en-US" sz="18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Libro: Playing with RISC-V (github.com/riscv-prg32/Playing-with-RISC-V_PRG32_textbook)</a:t>
            </a:r>
            <a:endParaRPr lang="en-US" sz="18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Università degli Studi di Napoli "Parthenope"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59</Slides>
  <Notes>59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PRG32: videogiochi retrò per imparare il processore europeo RISC-V - lab</dc:title>
  <dc:subject>PRG32 - Breakout in assembly RISC-V  |  EST Napoli Innovation Festival</dc:subject>
  <dc:creator>Playing with RISC-V (PRG32 textbook)</dc:creator>
  <cp:lastModifiedBy>Playing with RISC-V (PRG32 textbook)</cp:lastModifiedBy>
  <cp:revision>1</cp:revision>
  <dcterms:created xsi:type="dcterms:W3CDTF">2026-10-05T15:40:34Z</dcterms:created>
  <dcterms:modified xsi:type="dcterms:W3CDTF">2026-10-05T15:40:34Z</dcterms:modified>
</cp:coreProperties>
</file>